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509760" y="-548640"/>
            <a:ext cx="3291840" cy="3291840"/>
          </a:xfrm>
          <a:prstGeom prst="rect">
            <a:avLst/>
          </a:prstGeom>
          <a:solidFill>
            <a:srgbClr val="113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15600" y="-548640"/>
            <a:ext cx="2286000" cy="22860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0" y="-548640"/>
            <a:ext cx="1554480" cy="1554480"/>
          </a:xfrm>
          <a:prstGeom prst="rect">
            <a:avLst/>
          </a:prstGeom>
          <a:solidFill>
            <a:srgbClr val="2E9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4206240" cy="50800"/>
          </a:xfrm>
          <a:prstGeom prst="rect">
            <a:avLst/>
          </a:prstGeom>
          <a:solidFill>
            <a:srgbClr val="D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9601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 i="0">
                <a:solidFill>
                  <a:srgbClr val="8FD7E8"/>
                </a:solidFill>
                <a:latin typeface="Segoe UI"/>
                <a:cs typeface="Segoe UI"/>
                <a:ea typeface="Segoe UI"/>
              </a:rPr>
              <a:t>VSP</a:t>
            </a:r>
          </a:p>
          <a:p>
            <a:pPr algn="l">
              <a:spcAft>
                <a:spcPts val="200"/>
              </a:spcAft>
            </a:pPr>
            <a:r>
              <a:rPr sz="2500" b="1" i="0">
                <a:solidFill>
                  <a:srgbClr val="DDE7ED"/>
                </a:solidFill>
                <a:latin typeface="Segoe UI"/>
                <a:cs typeface="Segoe UI"/>
                <a:ea typeface="Segoe UI"/>
              </a:rPr>
              <a:t>Nền tảng Quản lý &amp; Truyền thông Thể thao Việt Nam</a:t>
            </a:r>
          </a:p>
          <a:p>
            <a:pPr algn="l">
              <a:spcAft>
                <a:spcPts val="1400"/>
              </a:spcAft>
            </a:pPr>
            <a:r>
              <a:rPr sz="1800" b="1" i="0">
                <a:solidFill>
                  <a:srgbClr val="9CB3BF"/>
                </a:solidFill>
                <a:latin typeface="Malgun Gothic"/>
                <a:cs typeface="Malgun Gothic"/>
                <a:ea typeface="Malgun Gothic"/>
              </a:rPr>
              <a:t>베트남 체육 행정·미디어 통합 플랫폼</a:t>
            </a:r>
          </a:p>
          <a:p>
            <a:pPr algn="l"/>
            <a:r>
              <a:rPr sz="1800" b="1" i="0">
                <a:solidFill>
                  <a:srgbClr val="8FD7E8"/>
                </a:solidFill>
                <a:latin typeface="Segoe UI"/>
                <a:cs typeface="Segoe UI"/>
                <a:ea typeface="Segoe UI"/>
              </a:rPr>
              <a:t>KẾ HOẠCH KINH DOANH</a:t>
            </a:r>
            <a:r>
              <a:rPr sz="1600" b="1" i="0">
                <a:solidFill>
                  <a:srgbClr val="9CB3BF"/>
                </a:solidFill>
                <a:latin typeface="Malgun Gothic"/>
                <a:cs typeface="Malgun Gothic"/>
                <a:ea typeface="Malgun Gothic"/>
              </a:rPr>
              <a:t>   ·   사업계획서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CB3BF"/>
                </a:solidFill>
                <a:latin typeface="Segoe UI"/>
                <a:cs typeface="Segoe UI"/>
                <a:ea typeface="Segoe UI"/>
              </a:rPr>
              <a:t>Tài liệu họp Bộ VHTTDL / Cục TDTT</a:t>
            </a:r>
            <a:r>
              <a:rPr sz="12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 ·   문화체육관광부(MCST) 미팅 자료   ·   2026-09 · 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01 · TÓM TẮT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Tóm tắt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요약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835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Hành chính thể thao + truyền thông đại chúng trên CÙNG MỘT dữ liệu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체육 행정 + 대중 미디어를 하나의 데이터 위에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Một dữ liệu, ba diện: cổng công khai · hội viên · nghiệp vụ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하나의 데이터, 세 얼굴: 대외웹 · 회원 · 업무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Phần mềm đã hoàn thiện và được kiểm chứng tự động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소프트웨어 완성 · 자동 검증 완료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Nút thắt vận hành = thể chế · dữ liệu · hạ tầng, không phải phát triển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운영 병목 = 제도 · 데이터 · 인프라, 개발 아님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02 · BỐI CẢNH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Bối cảnh &amp; sự cần thiết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배경·필요성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835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Hành chính thể thao phân mảnh, nhiều quy trình thủ công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체육 행정 분절 · 수기 다수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Thiếu hệ thống thống nhất nối Bộ – Liên đoàn – tỉnh/thành – CLB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부처–연맹–성/시–클럽 통합 시스템 부재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Nhu cầu truyền thông thể thao đại chúng tăng nhanh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대중 스포츠 미디어 수요 급증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VSP lấp khoảng trống: vừa hệ thống hành chính, vừa cổng công khai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VSP가 공백을 메움: 행정 시스템 + 공개 포털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03 · TỔNG QUAN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Một dữ liệu, ba diện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하나의 데이터, 세 얼굴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339852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339852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288645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Cổng công khai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대외 공개웹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Công chúng, không đăng nhập. Chỉ dữ liệu công khai (kiểu Naver Sports).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대중·로그인 없음. 공개 데이터만(네이버 스포츠형).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4360" y="2057400"/>
            <a:ext cx="339852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4360" y="2057400"/>
            <a:ext cx="339852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0392" y="2350008"/>
            <a:ext cx="288645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Dịch vụ hội viên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회원 서비스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VĐV·HLV·phụ huynh. Hồ sơ, đăng ký, theo dõi, tài trợ của tôi.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선수·지도자·학부모. 내 이력·등록·구독·후원.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2920" y="2057400"/>
            <a:ext cx="339852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22920" y="2057400"/>
            <a:ext cx="339852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8952" y="2350008"/>
            <a:ext cx="288645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Khu nghiệp vụ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업무 화면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Liên đoàn·tỉnh·Bộ. Cần vai trò nghiệp vụ. Toàn bộ hành chính.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협회·성시·문체부. 업무 역할 필수. 전 행정.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04 · KHÁC BIỆT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Giá trị cốt lõi &amp; khác biệt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핵심 가치·차별점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835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Hành chính + truyền thông trên một dữ liệu — duyệt xong tự lên web công khai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행정+미디어 한 데이터 — 확정 즉시 공개웹 반영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Biểu mẫu động: đổi biểu mẫu chính thức mà không sửa mã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동적 서식: 공식 서식 변경 시 코드 수정 불필요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AI chỉ tạo bản nháp; con người xác nhận thì mới phê duyệt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AI는 초안만; 사람이 확정해야 결재 시작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Nhật ký kiểm toán bất biến cho mọi thay đổi — sẵn sàng thanh tra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모든 변경의 불변 감사기록 — 감사 대비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Đa ngôn ngữ (Việt·Anh·Hàn) toàn hệ thống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전 시스템 3개 언어(베·영·한)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05 · HIỆN TRẠNG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Hiện trạng triển khai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구현 현황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835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Xác thực (OTP/Zalo) · tổ chức/nhân sự CRUD · nhập Excel · mùa giải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인증(OTP/Zalo)·조직/인물 CRUD·엑셀·시즌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Đăng ký · phê duyệt điện tử 2 bước · giấy chứng nhận (cấp/thu hồi/xác thực)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등록·2단계 결재·증명서(발급/취소/진위확인)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Giải đấu·kết quả · trợ cấp · thu phí·khung VNPay · văn bản · kiểm toán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대회·결과·보조금·수납·VNPay 골격·공문·감사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Cổng công khai đầy đủ + hàng đợi thông báo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대외 공개웹 + 알림 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06 · KIỂM CHỨNG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Đã kiểm chứng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검증됨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196230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96896"/>
            <a:ext cx="196230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19</a:t>
            </a:r>
          </a:p>
          <a:p>
            <a:pPr algn="ctr">
              <a:spcAft>
                <a:spcPts val="100"/>
              </a:spcAft>
            </a:pPr>
            <a:r>
              <a:rPr sz="115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Bộ kiểm thử</a:t>
            </a:r>
          </a:p>
          <a:p>
            <a:pPr algn="ctr"/>
            <a:r>
              <a:rPr sz="1050" b="0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테스트 스위트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04134" y="2286000"/>
            <a:ext cx="196230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04134" y="2596896"/>
            <a:ext cx="196230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547×3</a:t>
            </a:r>
          </a:p>
          <a:p>
            <a:pPr algn="ctr">
              <a:spcAft>
                <a:spcPts val="100"/>
              </a:spcAft>
            </a:pPr>
            <a:r>
              <a:rPr sz="115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Khóa đa ngữ</a:t>
            </a:r>
          </a:p>
          <a:p>
            <a:pPr algn="ctr"/>
            <a:r>
              <a:rPr sz="1050" b="0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다국어 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2468" y="2286000"/>
            <a:ext cx="196230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2468" y="2596896"/>
            <a:ext cx="196230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39·100</a:t>
            </a:r>
          </a:p>
          <a:p>
            <a:pPr algn="ctr">
              <a:spcAft>
                <a:spcPts val="100"/>
              </a:spcAft>
            </a:pPr>
            <a:r>
              <a:rPr sz="115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Màn hình·thao tác</a:t>
            </a:r>
          </a:p>
          <a:p>
            <a:pPr algn="ctr"/>
            <a:r>
              <a:rPr sz="1050" b="0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화면·액션 권한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40802" y="2286000"/>
            <a:ext cx="196230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40802" y="2596896"/>
            <a:ext cx="196230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16</a:t>
            </a:r>
          </a:p>
          <a:p>
            <a:pPr algn="ctr">
              <a:spcAft>
                <a:spcPts val="100"/>
              </a:spcAft>
            </a:pPr>
            <a:r>
              <a:rPr sz="115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Migration CSDL</a:t>
            </a:r>
          </a:p>
          <a:p>
            <a:pPr algn="ctr"/>
            <a:r>
              <a:rPr sz="1050" b="0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DB 마이그레이션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59136" y="2286000"/>
            <a:ext cx="196230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9136" y="2596896"/>
            <a:ext cx="196230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0</a:t>
            </a:r>
          </a:p>
          <a:p>
            <a:pPr algn="ctr">
              <a:spcAft>
                <a:spcPts val="100"/>
              </a:spcAft>
            </a:pPr>
            <a:r>
              <a:rPr sz="115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Lỗi tồn đọng</a:t>
            </a:r>
          </a:p>
          <a:p>
            <a:pPr algn="ctr"/>
            <a:r>
              <a:rPr sz="1050" b="0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미해결 결함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029200"/>
            <a:ext cx="10835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2885A"/>
                </a:solidFill>
                <a:latin typeface="Segoe UI"/>
                <a:cs typeface="Segoe UI"/>
                <a:ea typeface="Segoe UI"/>
              </a:rPr>
              <a:t>✔  </a:t>
            </a: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Kiểm thử tự động chạy trên PostgreSQL thật, xuyên suốt quy trình (đăng nhập → đăng ký → phê duyệt) — tất cả PASS.</a:t>
            </a:r>
          </a:p>
          <a:p>
            <a:pPr algn="l"/>
            <a:r>
              <a:rPr sz="120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실 DB에서 전 흐름(로그인→등록→결재)을 도는 자동 테스트 — 전부 통과.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07 · MÀN HÌNH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Màn hình thực tế — Cổng công khai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실제 화면 — 대외 공개웹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0284" y="1953260"/>
            <a:ext cx="1765991" cy="363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984" y="1965960"/>
            <a:ext cx="1740591" cy="3611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064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Trang chủ</a:t>
            </a:r>
          </a:p>
          <a:p>
            <a:pPr algn="ctr"/>
            <a:r>
              <a:rPr sz="110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홈</a:t>
            </a:r>
          </a:p>
        </p:txBody>
      </p:sp>
      <p:sp>
        <p:nvSpPr>
          <p:cNvPr id="8" name="Rectangle 7"/>
          <p:cNvSpPr/>
          <p:nvPr/>
        </p:nvSpPr>
        <p:spPr>
          <a:xfrm>
            <a:off x="6388100" y="1953260"/>
            <a:ext cx="5420360" cy="339725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3-match-rec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8064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Chi tiết trận đấu</a:t>
            </a:r>
          </a:p>
          <a:p>
            <a:pPr algn="ctr"/>
            <a:r>
              <a:rPr sz="110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경기 상세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07 · MÀN HÌNH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Cổng công khai (tiếp)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대외 공개웹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3100" y="1953260"/>
            <a:ext cx="5420360" cy="339725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-rank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6596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064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Bảng xếp hạng</a:t>
            </a:r>
          </a:p>
          <a:p>
            <a:pPr algn="ctr"/>
            <a:r>
              <a:rPr sz="110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순위판</a:t>
            </a:r>
          </a:p>
        </p:txBody>
      </p:sp>
      <p:sp>
        <p:nvSpPr>
          <p:cNvPr id="8" name="Rectangle 7"/>
          <p:cNvSpPr/>
          <p:nvPr/>
        </p:nvSpPr>
        <p:spPr>
          <a:xfrm>
            <a:off x="6388100" y="1953260"/>
            <a:ext cx="5420360" cy="339725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-sponso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8064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Tài trợ</a:t>
            </a:r>
          </a:p>
          <a:p>
            <a:pPr algn="ctr"/>
            <a:r>
              <a:rPr sz="110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후원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07 · MÀN HÌNH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Màn hình thực tế — Khu nghiệp vụ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실제 화면 — 업무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69183" y="1953260"/>
            <a:ext cx="4628193" cy="363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883" y="1965960"/>
            <a:ext cx="4602793" cy="3611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064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Bảng điều khiển</a:t>
            </a:r>
          </a:p>
          <a:p>
            <a:pPr algn="ctr"/>
            <a:r>
              <a:rPr sz="110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대시보드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6388100" y="1953260"/>
            <a:ext cx="5420360" cy="339725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0-admin-ingest-re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8064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AI duyệt hồ sơ</a:t>
            </a:r>
          </a:p>
          <a:p>
            <a:pPr algn="ctr"/>
            <a:r>
              <a:rPr sz="110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AI 서류 검토·확정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07 · MÀN HÌNH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Khu nghiệp vụ (tiếp)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업무 (계속)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3100" y="1953260"/>
            <a:ext cx="5420360" cy="339725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1-admin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65960"/>
            <a:ext cx="5394960" cy="33718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064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Nội dung·bài viết</a:t>
            </a:r>
          </a:p>
          <a:p>
            <a:pPr algn="ctr"/>
            <a:r>
              <a:rPr sz="110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콘텐츠·기사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6388100" y="1953260"/>
            <a:ext cx="5420360" cy="339725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13-admin-a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965960"/>
            <a:ext cx="5394960" cy="33718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80644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Quảng cáo</a:t>
            </a:r>
          </a:p>
          <a:p>
            <a:pPr algn="ctr"/>
            <a:r>
              <a:rPr sz="110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광고 지면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08 · TUÂN THỦ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Kiến trúc, bảo mật &amp; tuân thủ pháp luật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시스템·보안·법규 준수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835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Tách dữ liệu công khai/nghiệp vụ (schema pub + vai trò chỉ-đọc)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대외/업무 데이터 분리(pub 스키마+읽기전용 롤)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Bảo vệ dữ liệu cá nhân (NĐ 13/2023): năm sinh · bảo vệ trẻ vị thành niên · băm giấy tờ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개인정보(13/2023): 출생연도·미성년 보호·신분증 해시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Nội địa hóa dữ liệu (NĐ 53/2022): CSDL·tệp·sao lưu trong nước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데이터 현지화(53/2022): DB·첨부·백업 국내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Thanh toán (NĐ 52/2024): tiền đi thẳng người nộp → PG → tài khoản tổ chức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결제(52/2024): 자금 납부자→PG→협회 계좌 직접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Xác nhận căn cứ hiệu lực chữ ký điện tử của phê duyệt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전자결재 법적 효력 근거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09 · ĐIỀU KIỆN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Bốn cửa vận hành thực tế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실사용 4관문 (소프트웨어 밖)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46888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246888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195681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C9D8E0"/>
                </a:solidFill>
                <a:latin typeface="Segoe UI"/>
                <a:cs typeface="Segoe UI"/>
                <a:ea typeface="Segoe UI"/>
              </a:rPr>
              <a:t>1</a:t>
            </a:r>
          </a:p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Pháp lý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법·제도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Căn cứ hợp tác · chữ ký điện tử · PDPD · nội địa hóa · giấy phép thanh toán.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협력근거·전자서명·개인정보·현지화·결제 라이선스.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57400"/>
            <a:ext cx="246888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2057400"/>
            <a:ext cx="246888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0752" y="2350008"/>
            <a:ext cx="195681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C9D8E0"/>
                </a:solidFill>
                <a:latin typeface="Segoe UI"/>
                <a:cs typeface="Segoe UI"/>
                <a:ea typeface="Segoe UI"/>
              </a:rPr>
              <a:t>2</a:t>
            </a:r>
          </a:p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Dữ liệu·biểu mẫu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데이터·서식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Biểu mẫu chính thức · 34 mã tỉnh/thành · di trú dữ liệu.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공식 서식·34 성/시 코드·데이터 이관.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57400"/>
            <a:ext cx="246888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57400"/>
            <a:ext cx="246888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350008"/>
            <a:ext cx="195681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C9D8E0"/>
                </a:solidFill>
                <a:latin typeface="Segoe UI"/>
                <a:cs typeface="Segoe UI"/>
                <a:ea typeface="Segoe UI"/>
              </a:rPr>
              <a:t>3</a:t>
            </a:r>
          </a:p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Hạ tầng·khóa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인프라·키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CSDL·S3 tại VN · token OTP Zalo · gian hàng VNPay · tên miền.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VN DB·S3·Zalo OTP·VNPay·도메인.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057400"/>
            <a:ext cx="246888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52560" y="2057400"/>
            <a:ext cx="246888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08592" y="2350008"/>
            <a:ext cx="195681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C9D8E0"/>
                </a:solidFill>
                <a:latin typeface="Segoe UI"/>
                <a:cs typeface="Segoe UI"/>
                <a:ea typeface="Segoe UI"/>
              </a:rPr>
              <a:t>4</a:t>
            </a:r>
          </a:p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Vận hành·nhân sự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운영·인력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Gán vai trò · đào tạo · chốt luồng phê duyệt · lưu trữ.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역할 배치·교육·결재선·보존정책.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10 · LỘ TRÌNH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Lộ trình theo giai đoạn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단계별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246888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057400"/>
            <a:ext cx="246888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2350008"/>
            <a:ext cx="195681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C9D8E0"/>
                </a:solidFill>
                <a:latin typeface="Segoe UI"/>
                <a:cs typeface="Segoe UI"/>
                <a:ea typeface="Segoe UI"/>
              </a:rPr>
              <a:t>P0</a:t>
            </a:r>
          </a:p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Họp (nay)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미팅 (지금)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Demo · câu hỏi quyết định.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데모·확인 질문.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057400"/>
            <a:ext cx="246888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0" y="2057400"/>
            <a:ext cx="246888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30752" y="2350008"/>
            <a:ext cx="195681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C9D8E0"/>
                </a:solidFill>
                <a:latin typeface="Segoe UI"/>
                <a:cs typeface="Segoe UI"/>
                <a:ea typeface="Segoe UI"/>
              </a:rPr>
              <a:t>P1</a:t>
            </a:r>
          </a:p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1–2 tuần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1–2주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Phản ánh biểu mẫu · nạp khóa · staging VN · diễn tập.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서식반영·키·VN 스테이징·리허설.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057400"/>
            <a:ext cx="246888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057400"/>
            <a:ext cx="246888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2350008"/>
            <a:ext cx="195681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C9D8E0"/>
                </a:solidFill>
                <a:latin typeface="Segoe UI"/>
                <a:cs typeface="Segoe UI"/>
                <a:ea typeface="Segoe UI"/>
              </a:rPr>
              <a:t>P2</a:t>
            </a:r>
          </a:p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4–8 tuần · Pilot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4–8주 · 파일럿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1 môn · 1 địa phương → qua cổng pháp lý.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1종목·1지역 → 법률 게이트 통과.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057400"/>
            <a:ext cx="246888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5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52560" y="2057400"/>
            <a:ext cx="2468880" cy="5080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08592" y="2350008"/>
            <a:ext cx="1956816" cy="3291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C9D8E0"/>
                </a:solidFill>
                <a:latin typeface="Segoe UI"/>
                <a:cs typeface="Segoe UI"/>
                <a:ea typeface="Segoe UI"/>
              </a:rPr>
              <a:t>P3</a:t>
            </a:r>
          </a:p>
          <a:p>
            <a:pPr algn="l">
              <a:spcAft>
                <a:spcPts val="100"/>
              </a:spcAft>
            </a:pPr>
            <a:r>
              <a:rPr sz="16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Mở rộng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5607A"/>
                </a:solidFill>
                <a:latin typeface="Malgun Gothic"/>
                <a:cs typeface="Malgun Gothic"/>
                <a:ea typeface="Malgun Gothic"/>
              </a:rPr>
              <a:t>확대</a:t>
            </a:r>
          </a:p>
          <a:p>
            <a:pPr algn="l">
              <a:lnSpc>
                <a:spcPct val="102000"/>
              </a:lnSpc>
              <a:spcAft>
                <a:spcPts val="200"/>
              </a:spcAft>
            </a:pPr>
            <a:r>
              <a:rPr sz="1300" b="0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Toàn quốc · toàn môn · mở cổng công khai.</a:t>
            </a:r>
          </a:p>
          <a:p>
            <a:pPr algn="l">
              <a:lnSpc>
                <a:spcPct val="102000"/>
              </a:lnSpc>
            </a:pPr>
            <a:r>
              <a:rPr sz="11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전국·전종목·공개 확대.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4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43200"/>
            <a:ext cx="822960" cy="38100"/>
          </a:xfrm>
          <a:prstGeom prst="rect">
            <a:avLst/>
          </a:prstGeom>
          <a:solidFill>
            <a:srgbClr val="D8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260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11 · ĐỀ NGHỊ</a:t>
            </a:r>
          </a:p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DDE7ED"/>
                </a:solidFill>
                <a:latin typeface="Segoe UI"/>
                <a:cs typeface="Segoe UI"/>
                <a:ea typeface="Segoe UI"/>
              </a:rPr>
              <a:t>Đề nghị với Bộ VHTTDL / Cục TDTT</a:t>
            </a:r>
          </a:p>
          <a:p>
            <a:pPr algn="l"/>
            <a:r>
              <a:rPr sz="2000" b="1" i="0">
                <a:solidFill>
                  <a:srgbClr val="9CB3BF"/>
                </a:solidFill>
                <a:latin typeface="Malgun Gothic"/>
                <a:cs typeface="Malgun Gothic"/>
                <a:ea typeface="Malgun Gothic"/>
              </a:rPr>
              <a:t>문체부·체육회 요청 — 미팅의 핵심 산출물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2E9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B3BF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9CB3BF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9CB3BF"/>
                </a:solidFill>
                <a:latin typeface="Segoe UI"/>
                <a:cs typeface="Segoe UI"/>
                <a:ea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11 · ĐỀ NGHỊ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Những gì cần nhận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받아야 할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835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Biểu mẫu chính thức (bản gốc Word/Excel) — NÚT THẮT LỚN NHẤT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공식 서식(원본 Word/Excel) — 최대 병목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34 mã tỉnh/thành hành chính chính thức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공식 34개 성/시 행정구역 코드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Luồng phê duyệt &amp; thời hạn pháp định theo từng thủ tục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절차별 결재선·법정기한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Phạm vi kết nối hệ thống QG (DVC · VNeID · văn bản/chữ ký điện tử)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국가시스템 연동 범위(공공서비스포털·VNeID·전자문서)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Căn cứ pháp lý: hiệu lực chữ ký điện tử · xử lý dữ liệu · giấy phép thanh toán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법적 근거: 전자서명 효력·개인정보·결제 라이선스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12 · CÂU HỎI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Chương trình họp &amp; câu hỏi quyết định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미팅 안건·확인 질문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835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Kết nối hệ thống quốc gia đến đâu?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국가 시스템 연동 범위?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Chốt luồng phê duyệt · báo cáo nội bộ thế nào?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내부 결재·보고 체계 확정?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Ai đăng ký VĐV — bản thân hay tổ chức/CLB?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경기인 등록 주체 — 본인 vs 소속 단체?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Căn cứ hiệu lực pháp lý của chữ ký điện tử?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전자서명의 법적 효력 근거?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Phạm vi pilot ban đầu (môn · địa phương)?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초기 파일럿 범위(종목·지역)?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13 · DOANH THU &amp; RỦI 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Mô hình doanh thu &amp; ứng phó rủi ro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수익 구조·리스크 대응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835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Doanh thu: phí hệ thống · quảng cáo/tài trợ · dịch vụ giá trị gia tăng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수익: 시스템 이용료·광고/후원·부가서비스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KHÔNG trung gian dòng tiền (không thu hộ) — tuân thủ NĐ 52/2024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자금 미경유(수납 대행 아님) — 시행령 52/2024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Biểu mẫu chậm → đề nghị ngay tại họp, chuẩn bị song song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서식 지연 → 미팅서 즉시 요청·병렬 준비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Pháp lý/nội địa hóa → cổng rà soát trước pilot · hạ tầng tại VN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법률/현지화 → 파일럿 전 검토·VN 리전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Rủi ro chấp nhận → kiểm chứng bằng pilot 1 môn · 1 địa phương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채택 리스크 → 1종목·1지역 파일럿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881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92B0"/>
                </a:solidFill>
                <a:latin typeface="Segoe UI"/>
                <a:cs typeface="Segoe UI"/>
                <a:ea typeface="Segoe UI"/>
              </a:rPr>
              <a:t>14 · HIỆU QUẢ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2700" b="1" i="0">
                <a:solidFill>
                  <a:srgbClr val="14222B"/>
                </a:solidFill>
                <a:latin typeface="Segoe UI"/>
                <a:cs typeface="Segoe UI"/>
                <a:ea typeface="Segoe UI"/>
              </a:rPr>
              <a:t>Hiệu quả kỳ vọng</a:t>
            </a:r>
          </a:p>
          <a:p>
            <a:pPr algn="l"/>
            <a:r>
              <a:rPr sz="1600" b="1" i="0">
                <a:solidFill>
                  <a:srgbClr val="647585"/>
                </a:solidFill>
                <a:latin typeface="Malgun Gothic"/>
                <a:cs typeface="Malgun Gothic"/>
                <a:ea typeface="Malgun Gothic"/>
              </a:rPr>
              <a:t>기대효과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64208"/>
            <a:ext cx="1371600" cy="30480"/>
          </a:xfrm>
          <a:prstGeom prst="rect">
            <a:avLst/>
          </a:prstGeom>
          <a:solidFill>
            <a:srgbClr val="1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835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Chuẩn hóa &amp; minh bạch hóa hành chính thể thao trên một hệ thống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체육 행정을 한 시스템에서 표준화·투명화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Rút ngắn thời gian xử lý (phê duyệt điện tử · biểu mẫu số · nhập hàng loạt)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처리시간 단축(전자결재·디지털서식·일괄등록)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Nâng tiếp cận của công chúng với thể thao (cổng công khai)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공개 포털로 대중의 체육 접근성 향상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00" b="0" i="0">
                <a:solidFill>
                  <a:srgbClr val="15607A"/>
                </a:solidFill>
                <a:latin typeface="Segoe UI"/>
                <a:cs typeface="Segoe UI"/>
                <a:ea typeface="Segoe UI"/>
              </a:rPr>
              <a:t>■  </a:t>
            </a:r>
            <a:r>
              <a:rPr sz="1650" b="1" i="0">
                <a:solidFill>
                  <a:srgbClr val="33414B"/>
                </a:solidFill>
                <a:latin typeface="Segoe UI"/>
                <a:cs typeface="Segoe UI"/>
                <a:ea typeface="Segoe UI"/>
              </a:rPr>
              <a:t>Có thể mở rộng sang lĩnh vực hành chính khác sau khi kiểm chứng ở thể thao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</a:pPr>
            <a:r>
              <a:rPr sz="1350" b="0" i="0">
                <a:solidFill>
                  <a:srgbClr val="536470"/>
                </a:solidFill>
                <a:latin typeface="Malgun Gothic"/>
                <a:cs typeface="Malgun Gothic"/>
                <a:ea typeface="Malgun Gothic"/>
              </a:rPr>
              <a:t>      체육에서 검증 후 타 행정 분야로 확장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19088"/>
            <a:ext cx="10908792" cy="9525"/>
          </a:xfrm>
          <a:prstGeom prst="rect">
            <a:avLst/>
          </a:prstGeom>
          <a:solidFill>
            <a:srgbClr val="DDE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9A6"/>
                </a:solidFill>
                <a:latin typeface="Segoe UI"/>
                <a:cs typeface="Segoe UI"/>
                <a:ea typeface="Segoe UI"/>
              </a:rPr>
              <a:t>VSP · Kế hoạch kinh doanh</a:t>
            </a:r>
            <a:r>
              <a:rPr sz="900" b="0" i="0">
                <a:solidFill>
                  <a:srgbClr val="8A99A6"/>
                </a:solidFill>
                <a:latin typeface="Malgun Gothic"/>
                <a:cs typeface="Malgun Gothic"/>
                <a:ea typeface="Malgun Gothic"/>
              </a:rPr>
              <a:t>  ·  사업계획서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7395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647585"/>
                </a:solidFill>
                <a:latin typeface="Segoe UI"/>
                <a:cs typeface="Segoe UI"/>
                <a:ea typeface="Segoe U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