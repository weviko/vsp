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7FD3E6"/>
                </a:solidFill>
              </a:rPr>
              <a:t>VSP</a:t>
            </a:r>
          </a:p>
          <a:p>
            <a:pPr>
              <a:spcBef>
                <a:spcPts val="1000"/>
              </a:spcBef>
            </a:pPr>
            <a:r>
              <a:rPr sz="2600" b="1">
                <a:solidFill>
                  <a:srgbClr val="FFFFFF"/>
                </a:solidFill>
              </a:rPr>
              <a:t>Nền tảng Quản lý &amp; Truyền thông Thể thao Việt Nam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B9C6D0"/>
                </a:solidFill>
              </a:rPr>
              <a:t>베트남 체육 행정·미디어 통합 플랫폼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7FD3E6"/>
                </a:solidFill>
              </a:rPr>
              <a:t>KẾ HOẠCH KINH DOANH · 사업계획서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9DB0BC"/>
                </a:solidFill>
              </a:rPr>
              <a:t>Tài liệu họp Bộ VHTTDL · 문화체육관광부 미팅 자료  · 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Tóm tắt</a:t>
            </a:r>
          </a:p>
          <a:p>
            <a:r>
              <a:rPr sz="1700" b="1">
                <a:solidFill>
                  <a:srgbClr val="6A7C8A"/>
                </a:solidFill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Hành chính thể thao + truyền thông đại chúng trên CÙNG MỘT dữ liệu</a:t>
            </a:r>
            <a:r>
              <a:rPr sz="1500">
                <a:solidFill>
                  <a:srgbClr val="455562"/>
                </a:solidFill>
              </a:rPr>
              <a:t>   /  체육 행정 + 대중 미디어를 하나의 데이터 위에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Một dữ liệu, ba diện: cổng công khai · hội viên · nghiệp vụ</a:t>
            </a:r>
            <a:r>
              <a:rPr sz="1500">
                <a:solidFill>
                  <a:srgbClr val="455562"/>
                </a:solidFill>
              </a:rPr>
              <a:t>   /  하나의 데이터, 세 얼굴: 대외웹·회원·업무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Phần mềm đã hoàn thiện &amp; kiểm chứng tự động</a:t>
            </a:r>
            <a:r>
              <a:rPr sz="1500">
                <a:solidFill>
                  <a:srgbClr val="455562"/>
                </a:solidFill>
              </a:rPr>
              <a:t>   /  소프트웨어 완성·자동검증 완료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Nút thắt vận hành = thể chế·dữ liệu·hạ tầng, không phải phát triển</a:t>
            </a:r>
            <a:r>
              <a:rPr sz="1500">
                <a:solidFill>
                  <a:srgbClr val="455562"/>
                </a:solidFill>
              </a:rPr>
              <a:t>   /  운영 병목 = 제도·데이터·인프라, 개발 아님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Bối cảnh &amp; sự cần thiết</a:t>
            </a:r>
          </a:p>
          <a:p>
            <a:r>
              <a:rPr sz="1700" b="1">
                <a:solidFill>
                  <a:srgbClr val="6A7C8A"/>
                </a:solidFill>
              </a:rPr>
              <a:t>배경·필요성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Hành chính thể thao phân mảnh, nhiều quy trình thủ công</a:t>
            </a:r>
            <a:r>
              <a:rPr sz="1500">
                <a:solidFill>
                  <a:srgbClr val="455562"/>
                </a:solidFill>
              </a:rPr>
              <a:t>   /  체육 행정 분절·수기 다수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Thiếu hệ thống nối Bộ–Liên đoàn–tỉnh/thành–CLB</a:t>
            </a:r>
            <a:r>
              <a:rPr sz="1500">
                <a:solidFill>
                  <a:srgbClr val="455562"/>
                </a:solidFill>
              </a:rPr>
              <a:t>   /  부처–연맹–성/시–클럽 통합 시스템 부재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Nhu cầu truyền thông thể thao đại chúng tăng nhanh</a:t>
            </a:r>
            <a:r>
              <a:rPr sz="1500">
                <a:solidFill>
                  <a:srgbClr val="455562"/>
                </a:solidFill>
              </a:rPr>
              <a:t>   /  대중 스포츠 미디어 수요 급증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VSP: vừa hệ thống hành chính, vừa cổng công khai</a:t>
            </a:r>
            <a:r>
              <a:rPr sz="1500">
                <a:solidFill>
                  <a:srgbClr val="455562"/>
                </a:solidFill>
              </a:rPr>
              <a:t>   /  VSP: 행정 시스템 + 공개 포털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Tổng quan — Một dữ liệu, ba diện</a:t>
            </a:r>
          </a:p>
          <a:p>
            <a:r>
              <a:rPr sz="1700" b="1">
                <a:solidFill>
                  <a:srgbClr val="6A7C8A"/>
                </a:solidFill>
              </a:rPr>
              <a:t>개요 — 하나의 데이터, 세 얼굴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Cổng công khai: công chúng · chỉ dữ liệu công khai (kiểu Naver Sports)</a:t>
            </a:r>
            <a:r>
              <a:rPr sz="1500">
                <a:solidFill>
                  <a:srgbClr val="455562"/>
                </a:solidFill>
              </a:rPr>
              <a:t>   /  대외웹: 대중·공개 데이터만(네이버 스포츠형)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Dịch vụ hội viên: VĐV·HLV·phụ huynh · hồ sơ của tôi</a:t>
            </a:r>
            <a:r>
              <a:rPr sz="1500">
                <a:solidFill>
                  <a:srgbClr val="455562"/>
                </a:solidFill>
              </a:rPr>
              <a:t>   /  회원 서비스: 선수·지도자·학부모·내 이력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Khu nghiệp vụ: Liên đoàn·tỉnh·Bộ · cần vai trò nghiệp vụ</a:t>
            </a:r>
            <a:r>
              <a:rPr sz="1500">
                <a:solidFill>
                  <a:srgbClr val="455562"/>
                </a:solidFill>
              </a:rPr>
              <a:t>   /  업무 화면: 협회·성시·문체부·업무 역할 필수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Ranh giới an toàn cưỡng chế bằng mã (chỉ đọc lớp pub)</a:t>
            </a:r>
            <a:r>
              <a:rPr sz="1500">
                <a:solidFill>
                  <a:srgbClr val="455562"/>
                </a:solidFill>
              </a:rPr>
              <a:t>   /  보안 경계 코드로 강제(pub 읽기전용)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Giá trị cốt lõi &amp; khác biệt</a:t>
            </a:r>
          </a:p>
          <a:p>
            <a:r>
              <a:rPr sz="1700" b="1">
                <a:solidFill>
                  <a:srgbClr val="6A7C8A"/>
                </a:solidFill>
              </a:rPr>
              <a:t>핵심 가치·차별점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Hành chính + truyền thông trên một dữ liệu</a:t>
            </a:r>
            <a:r>
              <a:rPr sz="1500">
                <a:solidFill>
                  <a:srgbClr val="455562"/>
                </a:solidFill>
              </a:rPr>
              <a:t>   /  행정+미디어가 한 데이터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Biểu mẫu động: đổi biểu mẫu không sửa mã</a:t>
            </a:r>
            <a:r>
              <a:rPr sz="1500">
                <a:solidFill>
                  <a:srgbClr val="455562"/>
                </a:solidFill>
              </a:rPr>
              <a:t>   /  동적 서식: 서식 변경 시 코드 수정 불필요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AI chỉ tạo bản nháp, con người xác nhận</a:t>
            </a:r>
            <a:r>
              <a:rPr sz="1500">
                <a:solidFill>
                  <a:srgbClr val="455562"/>
                </a:solidFill>
              </a:rPr>
              <a:t>   /  AI는 초안만, 사람이 확정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Nhật ký kiểm toán bất biến — sẵn sàng thanh tra</a:t>
            </a:r>
            <a:r>
              <a:rPr sz="1500">
                <a:solidFill>
                  <a:srgbClr val="455562"/>
                </a:solidFill>
              </a:rPr>
              <a:t>   /  불변 감사기록 — 감사 대비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Đa ngôn ngữ (Việt·Anh·Hàn) toàn hệ thống</a:t>
            </a:r>
            <a:r>
              <a:rPr sz="1500">
                <a:solidFill>
                  <a:srgbClr val="455562"/>
                </a:solidFill>
              </a:rPr>
              <a:t>   /  전 시스템 3개 언어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Hiện trạng triển khai (đã kiểm chứng)</a:t>
            </a:r>
          </a:p>
          <a:p>
            <a:r>
              <a:rPr sz="1700" b="1">
                <a:solidFill>
                  <a:srgbClr val="6A7C8A"/>
                </a:solidFill>
              </a:rPr>
              <a:t>구현 현황 (검증됨)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Xác thực(OTP/Zalo)·tổ chức/nhân sự CRUD·nhập Excel·mùa giải</a:t>
            </a:r>
            <a:r>
              <a:rPr sz="1500">
                <a:solidFill>
                  <a:srgbClr val="455562"/>
                </a:solidFill>
              </a:rPr>
              <a:t>   /  인증(OTP/Zalo)·조직/인물 CRUD·엑셀·시즌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Đăng ký·phê duyệt 2 bước·giấy chứng nhận(cấp/thu hồi/xác thực)</a:t>
            </a:r>
            <a:r>
              <a:rPr sz="1500">
                <a:solidFill>
                  <a:srgbClr val="455562"/>
                </a:solidFill>
              </a:rPr>
              <a:t>   /  등록·2단계 결재·증명서(발급/취소/진위)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Giải đấu·kết quả·trợ cấp·thu phí·VNPay(khung)·văn bản·kiểm toán</a:t>
            </a:r>
            <a:r>
              <a:rPr sz="1500">
                <a:solidFill>
                  <a:srgbClr val="455562"/>
                </a:solidFill>
              </a:rPr>
              <a:t>   /  대회·결과·보조금·수납·VNPay골격·공문·감사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Cổng công khai đầy đủ + hàng đợi thông báo</a:t>
            </a:r>
            <a:r>
              <a:rPr sz="1500">
                <a:solidFill>
                  <a:srgbClr val="455562"/>
                </a:solidFill>
              </a:rPr>
              <a:t>   /  대외 공개웹 + 알림 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72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A7C8A"/>
                </a:solidFill>
              </a:rPr>
              <a:t>Kiểm chứng · 검증: 19 bộ kiểm thử tự động PASS · i18n 547×3 · ranh giới 39 màn hình/100 thao tác · 2 app typecheck sạch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Kiến trúc, bảo mật &amp; tuân thủ pháp luật</a:t>
            </a:r>
          </a:p>
          <a:p>
            <a:r>
              <a:rPr sz="1700" b="1">
                <a:solidFill>
                  <a:srgbClr val="6A7C8A"/>
                </a:solidFill>
              </a:rPr>
              <a:t>시스템·보안·법규 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Tách dữ liệu công khai/nghiệp vụ (pub + vai trò chỉ-đọc)</a:t>
            </a:r>
            <a:r>
              <a:rPr sz="1500">
                <a:solidFill>
                  <a:srgbClr val="455562"/>
                </a:solidFill>
              </a:rPr>
              <a:t>   /  대외/업무 데이터 분리(pub+읽기전용 롤)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Bảo vệ dữ liệu cá nhân (NĐ 13/2023): năm sinh·trẻ vị thành niên·băm giấy tờ</a:t>
            </a:r>
            <a:r>
              <a:rPr sz="1500">
                <a:solidFill>
                  <a:srgbClr val="455562"/>
                </a:solidFill>
              </a:rPr>
              <a:t>   /  개인정보(13/2023): 출생연도·미성년·신분증 해시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Nội địa hóa dữ liệu (NĐ 53/2022): máy chủ trong nước</a:t>
            </a:r>
            <a:r>
              <a:rPr sz="1500">
                <a:solidFill>
                  <a:srgbClr val="455562"/>
                </a:solidFill>
              </a:rPr>
              <a:t>   /  데이터 현지화(53/2022): 국내 서버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Thanh toán (NĐ 52/2024): tiền không qua tài khoản chúng tôi</a:t>
            </a:r>
            <a:r>
              <a:rPr sz="1500">
                <a:solidFill>
                  <a:srgbClr val="455562"/>
                </a:solidFill>
              </a:rPr>
              <a:t>   /  결제(52/2024): 자금 우리 계좌 미경유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Xác nhận hiệu lực chữ ký điện tử của phê duyệt</a:t>
            </a:r>
            <a:r>
              <a:rPr sz="1500">
                <a:solidFill>
                  <a:srgbClr val="455562"/>
                </a:solidFill>
              </a:rPr>
              <a:t>   /  전자결재 법적 효력 근거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Điều kiện vận hành: 4 cửa &amp; lộ trình</a:t>
            </a:r>
          </a:p>
          <a:p>
            <a:r>
              <a:rPr sz="1700" b="1">
                <a:solidFill>
                  <a:srgbClr val="6A7C8A"/>
                </a:solidFill>
              </a:rPr>
              <a:t>실사용: 4관문 &amp;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Cửa 1 Pháp lý · Cửa 2 Dữ liệu/biểu mẫu · Cửa 3 Hạ tầng/khóa · Cửa 4 Vận hành</a:t>
            </a:r>
            <a:r>
              <a:rPr sz="1500">
                <a:solidFill>
                  <a:srgbClr val="455562"/>
                </a:solidFill>
              </a:rPr>
              <a:t>   /  관문1 법·2 데이터/서식·3 인프라/키·4 운영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P0 Họp(nay): demo·câu hỏi quyết định</a:t>
            </a:r>
            <a:r>
              <a:rPr sz="1500">
                <a:solidFill>
                  <a:srgbClr val="455562"/>
                </a:solidFill>
              </a:rPr>
              <a:t>   /  P0 미팅(지금): 데모·확인질문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P1 (1–2 tuần): phản ánh biểu mẫu·nạp khóa·staging VN·diễn tập</a:t>
            </a:r>
            <a:r>
              <a:rPr sz="1500">
                <a:solidFill>
                  <a:srgbClr val="455562"/>
                </a:solidFill>
              </a:rPr>
              <a:t>   /  P1(1–2주): 서식반영·키·VN 스테이징·리허설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P2 (4–8 tuần): pilot 1 môn·1 địa phương → qua cổng pháp lý</a:t>
            </a:r>
            <a:r>
              <a:rPr sz="1500">
                <a:solidFill>
                  <a:srgbClr val="455562"/>
                </a:solidFill>
              </a:rPr>
              <a:t>   /  P2(4–8주): 1종목·1지역 파일럿 → 법률 게이트 통과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P3: mở rộng toàn quốc·toàn môn·mở cổng công khai</a:t>
            </a:r>
            <a:r>
              <a:rPr sz="1500">
                <a:solidFill>
                  <a:srgbClr val="455562"/>
                </a:solidFill>
              </a:rPr>
              <a:t>   /  P3: 전국·전종목·공개 확대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Đề nghị với Bộ VHTTDL / Cục TDTT</a:t>
            </a:r>
          </a:p>
          <a:p>
            <a:r>
              <a:rPr sz="1700" b="1">
                <a:solidFill>
                  <a:srgbClr val="6A7C8A"/>
                </a:solidFill>
              </a:rPr>
              <a:t>문체부·체육회 요청 (미팅 핵심)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Biểu mẫu chính thức (Word/Excel) — nút thắt LỚN NHẤT</a:t>
            </a:r>
            <a:r>
              <a:rPr sz="1500">
                <a:solidFill>
                  <a:srgbClr val="455562"/>
                </a:solidFill>
              </a:rPr>
              <a:t>   /  공식 서식(Word/Excel) — 최대 병목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34 mã tỉnh/thành hành chính chính thức</a:t>
            </a:r>
            <a:r>
              <a:rPr sz="1500">
                <a:solidFill>
                  <a:srgbClr val="455562"/>
                </a:solidFill>
              </a:rPr>
              <a:t>   /  공식 34개 성/시 코드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Luồng phê duyệt &amp; thời hạn pháp định theo thủ tục</a:t>
            </a:r>
            <a:r>
              <a:rPr sz="1500">
                <a:solidFill>
                  <a:srgbClr val="455562"/>
                </a:solidFill>
              </a:rPr>
              <a:t>   /  절차별 결재선·법정기한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Phạm vi kết nối hệ thống QG (DVC·VNeID·văn bản/chữ ký)</a:t>
            </a:r>
            <a:r>
              <a:rPr sz="1500">
                <a:solidFill>
                  <a:srgbClr val="455562"/>
                </a:solidFill>
              </a:rPr>
              <a:t>   /  국가시스템 연동 범위(포털·VNeID·전자문서)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Căn cứ pháp lý: chữ ký điện tử·dữ liệu·thanh toán</a:t>
            </a:r>
            <a:r>
              <a:rPr sz="1500">
                <a:solidFill>
                  <a:srgbClr val="455562"/>
                </a:solidFill>
              </a:rPr>
              <a:t>   /  법적 근거: 전자서명·개인정보·결제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Chương trình họp &amp; câu hỏi quyết định</a:t>
            </a:r>
          </a:p>
          <a:p>
            <a:r>
              <a:rPr sz="1700" b="1">
                <a:solidFill>
                  <a:srgbClr val="6A7C8A"/>
                </a:solidFill>
              </a:rPr>
              <a:t>미팅 안건·확인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Kết nối hệ thống quốc gia đến đâu?</a:t>
            </a:r>
            <a:r>
              <a:rPr sz="1500">
                <a:solidFill>
                  <a:srgbClr val="455562"/>
                </a:solidFill>
              </a:rPr>
              <a:t>   /  국가 시스템 연동 범위?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Chốt luồng phê duyệt·báo cáo nội bộ?</a:t>
            </a:r>
            <a:r>
              <a:rPr sz="1500">
                <a:solidFill>
                  <a:srgbClr val="455562"/>
                </a:solidFill>
              </a:rPr>
              <a:t>   /  내부 결재·보고 체계 확정?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Ai đăng ký VĐV — bản thân hay tổ chức?</a:t>
            </a:r>
            <a:r>
              <a:rPr sz="1500">
                <a:solidFill>
                  <a:srgbClr val="455562"/>
                </a:solidFill>
              </a:rPr>
              <a:t>   /  경기인 등록 주체 — 본인 vs 단체?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Căn cứ hiệu lực chữ ký điện tử?</a:t>
            </a:r>
            <a:r>
              <a:rPr sz="1500">
                <a:solidFill>
                  <a:srgbClr val="455562"/>
                </a:solidFill>
              </a:rPr>
              <a:t>   /  전자서명 효력 근거?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Phạm vi pilot ban đầu (môn·địa phương)?</a:t>
            </a:r>
            <a:r>
              <a:rPr sz="1500">
                <a:solidFill>
                  <a:srgbClr val="455562"/>
                </a:solidFill>
              </a:rPr>
              <a:t>   /  초기 파일럿 범위(종목·지역)?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Doanh thu · Rủi ro &amp; ứng phó</a:t>
            </a:r>
          </a:p>
          <a:p>
            <a:r>
              <a:rPr sz="1700" b="1">
                <a:solidFill>
                  <a:srgbClr val="6A7C8A"/>
                </a:solidFill>
              </a:rPr>
              <a:t>수익 구조 · 리스크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Doanh thu: phí hệ thống·quảng cáo/tài trợ·dịch vụ giá trị gia tăng (không trung gian dòng tiền)</a:t>
            </a:r>
            <a:r>
              <a:rPr sz="1500">
                <a:solidFill>
                  <a:srgbClr val="455562"/>
                </a:solidFill>
              </a:rPr>
              <a:t>   /  수익: 시스템 이용료·광고/후원·부가서비스(자금 미경유)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Rủi ro biểu mẫu chậm → đề nghị ngay·chuẩn bị song song</a:t>
            </a:r>
            <a:r>
              <a:rPr sz="1500">
                <a:solidFill>
                  <a:srgbClr val="455562"/>
                </a:solidFill>
              </a:rPr>
              <a:t>   /  서식 지연 → 즉시 요청·병렬 준비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Rủi ro pháp lý → cổng rà soát trước pilot</a:t>
            </a:r>
            <a:r>
              <a:rPr sz="1500">
                <a:solidFill>
                  <a:srgbClr val="455562"/>
                </a:solidFill>
              </a:rPr>
              <a:t>   /  법률 리스크 → 파일럿 전 검토 게이트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Rủi ro chấp nhận → kiểm chứng bằng pilot</a:t>
            </a:r>
            <a:r>
              <a:rPr sz="1500">
                <a:solidFill>
                  <a:srgbClr val="455562"/>
                </a:solidFill>
              </a:rPr>
              <a:t>   /  채택 리스크 → 파일럿으로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07A"/>
                </a:solidFill>
              </a:rPr>
              <a:t>Hiệu quả kỳ vọng &amp; lộ trình</a:t>
            </a:r>
          </a:p>
          <a:p>
            <a:r>
              <a:rPr sz="1700" b="1">
                <a:solidFill>
                  <a:srgbClr val="6A7C8A"/>
                </a:solidFill>
              </a:rPr>
              <a:t>기대효과·로드맵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Chuẩn hóa·minh bạch hóa hành chính thể thao</a:t>
            </a:r>
            <a:r>
              <a:rPr sz="1500">
                <a:solidFill>
                  <a:srgbClr val="455562"/>
                </a:solidFill>
              </a:rPr>
              <a:t>   /  체육 행정 표준화·투명화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Rút ngắn thời gian xử lý</a:t>
            </a:r>
            <a:r>
              <a:rPr sz="1500">
                <a:solidFill>
                  <a:srgbClr val="455562"/>
                </a:solidFill>
              </a:rPr>
              <a:t>   /  처리시간 단축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Nâng tiếp cận của công chúng với thể thao</a:t>
            </a:r>
            <a:r>
              <a:rPr sz="1500">
                <a:solidFill>
                  <a:srgbClr val="455562"/>
                </a:solidFill>
              </a:rPr>
              <a:t>   /  대중의 체육 접근성 향상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F2933"/>
                </a:solidFill>
              </a:rPr>
              <a:t>▪ Mở rộng sang lĩnh vực hành chính khác sau kiểm chứng</a:t>
            </a:r>
            <a:r>
              <a:rPr sz="1500">
                <a:solidFill>
                  <a:srgbClr val="455562"/>
                </a:solidFill>
              </a:rPr>
              <a:t>   /  검증 후 타 행정 분야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