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A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2103120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CC9988"/>
                </a:solidFill>
                <a:latin typeface="Consolas"/>
              </a:rPr>
              <a:t>VIETNAM SPORTS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514600"/>
            <a:ext cx="1063721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4000" b="1">
                <a:solidFill>
                  <a:srgbClr val="FFFFFF"/>
                </a:solidFill>
                <a:latin typeface="Be Vietnam Pro"/>
              </a:rPr>
              <a:t>베트남 스포츠 통합 플랫폼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4114800"/>
            <a:ext cx="7772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0">
                <a:solidFill>
                  <a:srgbClr val="CCBBBB"/>
                </a:solidFill>
                <a:latin typeface="Be Vietnam Pro"/>
              </a:rPr>
              <a:t>행정 전산망(내부)과 스마트폰 스포츠 웹(외부)을 하나의 데이터로 묶은 베트남 체육 공식 인프라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5623560"/>
            <a:ext cx="2926080" cy="25400"/>
          </a:xfrm>
          <a:prstGeom prst="rect">
            <a:avLst/>
          </a:prstGeom>
          <a:solidFill>
            <a:srgbClr val="B53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5760720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AA9999"/>
                </a:solidFill>
                <a:latin typeface="Consolas"/>
              </a:rPr>
              <a:t>사업계획서 v1.1 · 완성본 검증 완료 · 2026년 9월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355080"/>
            <a:ext cx="1063721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847C70"/>
                </a:solidFill>
                <a:latin typeface="Consolas"/>
              </a:rPr>
              <a:t>Vietnam Sports Platform · 사업계획서 v1.1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00055" y="6355080"/>
            <a:ext cx="914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47C70"/>
                </a:solidFill>
                <a:latin typeface="Consola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57200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B5341F"/>
                </a:solidFill>
                <a:latin typeface="Consolas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31520"/>
            <a:ext cx="1063721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700" b="1">
                <a:solidFill>
                  <a:srgbClr val="1B1A17"/>
                </a:solidFill>
                <a:latin typeface="Be Vietnam Pro"/>
              </a:rPr>
              <a:t>한 장 요약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417320"/>
            <a:ext cx="10637215" cy="19050"/>
          </a:xfrm>
          <a:prstGeom prst="rect">
            <a:avLst/>
          </a:prstGeom>
          <a:solidFill>
            <a:srgbClr val="B53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536192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4C4842"/>
                </a:solidFill>
                <a:latin typeface="Be Vietnam Pro"/>
              </a:rPr>
              <a:t>두 얼굴, 하나의 데이터 — 문체부 협의 전 100% 구현 완료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965960"/>
            <a:ext cx="1063721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1B1A17"/>
                </a:solidFill>
                <a:latin typeface="Be Vietnam Pro"/>
              </a:rPr>
              <a:t>베트남 체육 행정(등록·결재·수납·보조금)과 대중 스포츠 미디어를 하나의 데이터 위에 내부 행정 전산망 + 외부 스마트폰 웹 두 얼굴로 올렸다. 내부에 입력하면 외부에 자동 노출되고, 서류가 올라오면 AI가 공식 폼 초안을 채워 전자결재로 넘긴다. 파일럿이 아니라 완성본으로 만들고 미팅에서 조정한다.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3200400"/>
            <a:ext cx="2577007" cy="1097280"/>
          </a:xfrm>
          <a:prstGeom prst="rect">
            <a:avLst/>
          </a:prstGeom>
          <a:solidFill>
            <a:srgbClr val="EEE8DD"/>
          </a:solidFill>
          <a:ln w="12700">
            <a:solidFill>
              <a:srgbClr val="D9D1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3544" y="3346704"/>
            <a:ext cx="228439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>
                <a:solidFill>
                  <a:srgbClr val="B5341F"/>
                </a:solidFill>
                <a:latin typeface="Consolas"/>
              </a:rPr>
              <a:t>0 →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" y="3858768"/>
            <a:ext cx="228439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4C4842"/>
                </a:solidFill>
                <a:latin typeface="Be Vietnam Pro"/>
              </a:rPr>
              <a:t>베트남 체육단체 통합 등록 시스템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63975" y="3200400"/>
            <a:ext cx="2577007" cy="1097280"/>
          </a:xfrm>
          <a:prstGeom prst="rect">
            <a:avLst/>
          </a:prstGeom>
          <a:solidFill>
            <a:srgbClr val="EEE8DD"/>
          </a:solidFill>
          <a:ln w="12700">
            <a:solidFill>
              <a:srgbClr val="D9D1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10279" y="3346704"/>
            <a:ext cx="228439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>
                <a:solidFill>
                  <a:srgbClr val="B5341F"/>
                </a:solidFill>
                <a:latin typeface="Consolas"/>
              </a:rPr>
              <a:t>43종목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0279" y="3858768"/>
            <a:ext cx="228439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4C4842"/>
                </a:solidFill>
                <a:latin typeface="Be Vietnam Pro"/>
              </a:rPr>
              <a:t>전 종목 + 성/시 지부 1,471개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50711" y="3200400"/>
            <a:ext cx="2577007" cy="1097280"/>
          </a:xfrm>
          <a:prstGeom prst="rect">
            <a:avLst/>
          </a:prstGeom>
          <a:solidFill>
            <a:srgbClr val="EEE8DD"/>
          </a:solidFill>
          <a:ln w="12700">
            <a:solidFill>
              <a:srgbClr val="D9D1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97015" y="3346704"/>
            <a:ext cx="228439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>
                <a:solidFill>
                  <a:srgbClr val="B5341F"/>
                </a:solidFill>
                <a:latin typeface="Consolas"/>
              </a:rPr>
              <a:t>2얼굴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97015" y="3858768"/>
            <a:ext cx="228439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4C4842"/>
                </a:solidFill>
                <a:latin typeface="Be Vietnam Pro"/>
              </a:rPr>
              <a:t>내부 행정 · 외부 웹 · 공통 데이터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837447" y="3200400"/>
            <a:ext cx="2577007" cy="1097280"/>
          </a:xfrm>
          <a:prstGeom prst="rect">
            <a:avLst/>
          </a:prstGeom>
          <a:solidFill>
            <a:srgbClr val="EEE8DD"/>
          </a:solidFill>
          <a:ln w="12700">
            <a:solidFill>
              <a:srgbClr val="D9D1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83751" y="3346704"/>
            <a:ext cx="228439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>
                <a:solidFill>
                  <a:srgbClr val="B5341F"/>
                </a:solidFill>
                <a:latin typeface="Consolas"/>
              </a:rPr>
              <a:t>완성·검증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83751" y="3858768"/>
            <a:ext cx="228439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4C4842"/>
                </a:solidFill>
                <a:latin typeface="Be Vietnam Pro"/>
              </a:rPr>
              <a:t>테스트 12종·경계·프로덕션 빌드 통과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4526280"/>
            <a:ext cx="10637215" cy="1554480"/>
          </a:xfrm>
          <a:prstGeom prst="rect">
            <a:avLst/>
          </a:prstGeom>
          <a:solidFill>
            <a:srgbClr val="D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77240" y="4526280"/>
            <a:ext cx="45720" cy="1554480"/>
          </a:xfrm>
          <a:prstGeom prst="rect">
            <a:avLst/>
          </a:prstGeom>
          <a:solidFill>
            <a:srgbClr val="1E6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78408" y="4645152"/>
            <a:ext cx="1023487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1">
                <a:solidFill>
                  <a:srgbClr val="1E6E5C"/>
                </a:solidFill>
                <a:latin typeface="Consolas"/>
              </a:rPr>
              <a:t>지금 상태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8408" y="4892040"/>
            <a:ext cx="10234879" cy="10789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1B1A17"/>
                </a:solidFill>
                <a:latin typeface="Be Vietnam Pro"/>
              </a:rPr>
              <a:t>기능·데이터·다국어(vi/en/ko)·테스트·대규모 성능·프로덕션 빌드까지 검증된 완성본. 남은 것은 대부분 개발이 아니라 문체부 협의·데이터 단계(공식 서식·성/시 코드·법률)다.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6355080"/>
            <a:ext cx="1063721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847C70"/>
                </a:solidFill>
                <a:latin typeface="Consolas"/>
              </a:rPr>
              <a:t>Vietnam Sports Platform · 사업계획서 v1.1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00055" y="6355080"/>
            <a:ext cx="914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47C70"/>
                </a:solidFill>
                <a:latin typeface="Consola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57200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B5341F"/>
                </a:solidFill>
                <a:latin typeface="Consolas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31520"/>
            <a:ext cx="1063721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700" b="1">
                <a:solidFill>
                  <a:srgbClr val="1B1A17"/>
                </a:solidFill>
                <a:latin typeface="Be Vietnam Pro"/>
              </a:rPr>
              <a:t>배경과 기회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417320"/>
            <a:ext cx="10637215" cy="19050"/>
          </a:xfrm>
          <a:prstGeom prst="rect">
            <a:avLst/>
          </a:prstGeom>
          <a:solidFill>
            <a:srgbClr val="B53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536192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4C4842"/>
                </a:solidFill>
                <a:latin typeface="Be Vietnam Pro"/>
              </a:rPr>
              <a:t>한국은 흩어져 시스템화 · 베트남은 공백 — 후발주자 통합 설계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77240" y="1965960"/>
          <a:ext cx="10637212" cy="3182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5675"/>
                <a:gridCol w="2552931"/>
                <a:gridCol w="2765675"/>
                <a:gridCol w="2552931"/>
              </a:tblGrid>
              <a:tr h="36576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4C4842"/>
                          </a:solidFill>
                          <a:latin typeface="Be Vietnam Pro"/>
                        </a:rPr>
                        <a:t>기능</a:t>
                      </a:r>
                    </a:p>
                  </a:txBody>
                  <a:tcPr marL="82296" marR="82296" marT="27432" marB="27432" anchor="ctr">
                    <a:solidFill>
                      <a:srgbClr val="EEE8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4C4842"/>
                          </a:solidFill>
                          <a:latin typeface="Be Vietnam Pro"/>
                        </a:rPr>
                        <a:t>한국</a:t>
                      </a:r>
                    </a:p>
                  </a:txBody>
                  <a:tcPr marL="82296" marR="82296" marT="27432" marB="27432" anchor="ctr">
                    <a:solidFill>
                      <a:srgbClr val="EEE8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4C4842"/>
                          </a:solidFill>
                          <a:latin typeface="Be Vietnam Pro"/>
                        </a:rPr>
                        <a:t>베트남 (현재)</a:t>
                      </a:r>
                    </a:p>
                  </a:txBody>
                  <a:tcPr marL="82296" marR="82296" marT="27432" marB="27432" anchor="ctr">
                    <a:solidFill>
                      <a:srgbClr val="EEE8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4C4842"/>
                          </a:solidFill>
                          <a:latin typeface="Be Vietnam Pro"/>
                        </a:rPr>
                        <a:t>VSP</a:t>
                      </a:r>
                    </a:p>
                  </a:txBody>
                  <a:tcPr marL="82296" marR="82296" marT="27432" marB="27432" anchor="ctr">
                    <a:solidFill>
                      <a:srgbClr val="EEE8DD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4C4842"/>
                          </a:solidFill>
                          <a:latin typeface="Be Vietnam Pro"/>
                        </a:rPr>
                        <a:t>선수·지도자·심판 등록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4C4842"/>
                          </a:solidFill>
                          <a:latin typeface="Be Vietnam Pro"/>
                        </a:rPr>
                        <a:t>g1 전자등록·승인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4C4842"/>
                          </a:solidFill>
                          <a:latin typeface="Be Vietnam Pro"/>
                        </a:rPr>
                        <a:t>없음(카드신청 링크)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1B1A17"/>
                          </a:solidFill>
                          <a:latin typeface="Be Vietnam Pro"/>
                        </a:rPr>
                        <a:t>등록+2단계 결재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4C4842"/>
                          </a:solidFill>
                          <a:latin typeface="Be Vietnam Pro"/>
                        </a:rPr>
                        <a:t>서류 → 공식 폼 등록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4C4842"/>
                          </a:solidFill>
                          <a:latin typeface="Be Vietnam Pro"/>
                        </a:rPr>
                        <a:t>수기 입력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4C4842"/>
                          </a:solidFill>
                          <a:latin typeface="Be Vietnam Pro"/>
                        </a:rPr>
                        <a:t>없음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1B1A17"/>
                          </a:solidFill>
                          <a:latin typeface="Be Vietnam Pro"/>
                        </a:rPr>
                        <a:t>AI 자동등록(초안)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4C4842"/>
                          </a:solidFill>
                          <a:latin typeface="Be Vietnam Pro"/>
                        </a:rPr>
                        <a:t>증명서·진위확인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4C4842"/>
                          </a:solidFill>
                          <a:latin typeface="Be Vietnam Pro"/>
                        </a:rPr>
                        <a:t>g1 전자증명서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4C4842"/>
                          </a:solidFill>
                          <a:latin typeface="Be Vietnam Pro"/>
                        </a:rPr>
                        <a:t>없음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1B1A17"/>
                          </a:solidFill>
                          <a:latin typeface="Be Vietnam Pro"/>
                        </a:rPr>
                        <a:t>구현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4C4842"/>
                          </a:solidFill>
                          <a:latin typeface="Be Vietnam Pro"/>
                        </a:rPr>
                        <a:t>종목단체 관리·공시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4C4842"/>
                          </a:solidFill>
                          <a:latin typeface="Be Vietnam Pro"/>
                        </a:rPr>
                        <a:t>경영공시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4C4842"/>
                          </a:solidFill>
                          <a:latin typeface="Be Vietnam Pro"/>
                        </a:rPr>
                        <a:t>없음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1B1A17"/>
                          </a:solidFill>
                          <a:latin typeface="Be Vietnam Pro"/>
                        </a:rPr>
                        <a:t>구현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4C4842"/>
                          </a:solidFill>
                          <a:latin typeface="Be Vietnam Pro"/>
                        </a:rPr>
                        <a:t>대회 운영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4C4842"/>
                          </a:solidFill>
                          <a:latin typeface="Be Vietnam Pro"/>
                        </a:rPr>
                        <a:t>g1 대회정보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4C4842"/>
                          </a:solidFill>
                          <a:latin typeface="Be Vietnam Pro"/>
                        </a:rPr>
                        <a:t>정보 게시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1B1A17"/>
                          </a:solidFill>
                          <a:latin typeface="Be Vietnam Pro"/>
                        </a:rPr>
                        <a:t>개최승인·대진·결과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4C4842"/>
                          </a:solidFill>
                          <a:latin typeface="Be Vietnam Pro"/>
                        </a:rPr>
                        <a:t>보조금·기금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4C4842"/>
                          </a:solidFill>
                          <a:latin typeface="Be Vietnam Pro"/>
                        </a:rPr>
                        <a:t>KSPO·e나라도움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4C4842"/>
                          </a:solidFill>
                          <a:latin typeface="Be Vietnam Pro"/>
                        </a:rPr>
                        <a:t>체육 전용 없음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1B1A17"/>
                          </a:solidFill>
                          <a:latin typeface="Be Vietnam Pro"/>
                        </a:rPr>
                        <a:t>전주기(부정차단)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4C4842"/>
                          </a:solidFill>
                          <a:latin typeface="Be Vietnam Pro"/>
                        </a:rPr>
                        <a:t>대중 미디어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4C4842"/>
                          </a:solidFill>
                          <a:latin typeface="Be Vietnam Pro"/>
                        </a:rPr>
                        <a:t>(민간) 네이버 스포츠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4C4842"/>
                          </a:solidFill>
                          <a:latin typeface="Be Vietnam Pro"/>
                        </a:rPr>
                        <a:t>분산·SNS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1B1A17"/>
                          </a:solidFill>
                          <a:latin typeface="Be Vietnam Pro"/>
                        </a:rPr>
                        <a:t>대외 웹(관 운영)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777240" y="5806440"/>
            <a:ext cx="10637215" cy="685800"/>
          </a:xfrm>
          <a:prstGeom prst="rect">
            <a:avLst/>
          </a:prstGeom>
          <a:solidFill>
            <a:srgbClr val="D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5806440"/>
            <a:ext cx="45720" cy="685800"/>
          </a:xfrm>
          <a:prstGeom prst="rect">
            <a:avLst/>
          </a:prstGeom>
          <a:solidFill>
            <a:srgbClr val="1E6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5925312"/>
            <a:ext cx="1023487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1">
                <a:solidFill>
                  <a:srgbClr val="1E6E5C"/>
                </a:solidFill>
                <a:latin typeface="Consolas"/>
              </a:rPr>
              <a:t>지렛대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" y="6172200"/>
            <a:ext cx="10234879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1B1A17"/>
                </a:solidFill>
                <a:latin typeface="Be Vietnam Pro"/>
              </a:rPr>
              <a:t>체육단체가 자체 구축할 여력이 없다 → 중앙이 표준을 지정하는 하향식 도입 = 전 종목 동시 온보딩 가능.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6355080"/>
            <a:ext cx="1063721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847C70"/>
                </a:solidFill>
                <a:latin typeface="Consolas"/>
              </a:rPr>
              <a:t>Vietnam Sports Platform · 사업계획서 v1.1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00055" y="6355080"/>
            <a:ext cx="914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47C70"/>
                </a:solidFill>
                <a:latin typeface="Consola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57200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B5341F"/>
                </a:solidFill>
                <a:latin typeface="Consolas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31520"/>
            <a:ext cx="1063721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700" b="1">
                <a:solidFill>
                  <a:srgbClr val="1B1A17"/>
                </a:solidFill>
                <a:latin typeface="Be Vietnam Pro"/>
              </a:rPr>
              <a:t>구조 — 두 얼굴, 하나의 데이터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417320"/>
            <a:ext cx="10637215" cy="19050"/>
          </a:xfrm>
          <a:prstGeom prst="rect">
            <a:avLst/>
          </a:prstGeom>
          <a:solidFill>
            <a:srgbClr val="B53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536192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4C4842"/>
                </a:solidFill>
                <a:latin typeface="Be Vietnam Pro"/>
              </a:rPr>
              <a:t>내부에 입력하면 외부에 자동으로 나타난다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965960"/>
            <a:ext cx="5181447" cy="2011680"/>
          </a:xfrm>
          <a:prstGeom prst="rect">
            <a:avLst/>
          </a:prstGeom>
          <a:solidFill>
            <a:srgbClr val="F4DDD6"/>
          </a:solidFill>
          <a:ln w="12700">
            <a:solidFill>
              <a:srgbClr val="D9D1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112264"/>
            <a:ext cx="481568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B5341F"/>
                </a:solidFill>
                <a:latin typeface="Be Vietnam Pro"/>
              </a:rPr>
              <a:t>외부용 · 스마트폰 웹 (apps/portal)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624328"/>
            <a:ext cx="4815687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200" b="0">
                <a:solidFill>
                  <a:srgbClr val="4C4842"/>
                </a:solidFill>
                <a:latin typeface="Be Vietnam Pro"/>
              </a:rPr>
              <a:t>네이버 스포츠형 · 로그인 없음 · 광고 가능</a:t>
            </a:r>
          </a:p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200" b="0">
                <a:solidFill>
                  <a:srgbClr val="4C4842"/>
                </a:solidFill>
                <a:latin typeface="Be Vietnam Pro"/>
              </a:rPr>
              <a:t>종목 탭 → 일정·순위·기록·경기상세</a:t>
            </a:r>
          </a:p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200" b="0">
                <a:solidFill>
                  <a:srgbClr val="4C4842"/>
                </a:solidFill>
                <a:latin typeface="Be Vietnam Pro"/>
              </a:rPr>
              <a:t>뉴스·후원·팬투표</a:t>
            </a:r>
          </a:p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200" b="0">
                <a:solidFill>
                  <a:srgbClr val="4C4842"/>
                </a:solidFill>
                <a:latin typeface="Be Vietnam Pro"/>
              </a:rPr>
              <a:t>공개 데이터(pub)만 읽는다</a:t>
            </a:r>
          </a:p>
        </p:txBody>
      </p:sp>
      <p:sp>
        <p:nvSpPr>
          <p:cNvPr id="9" name="Rectangle 8"/>
          <p:cNvSpPr/>
          <p:nvPr/>
        </p:nvSpPr>
        <p:spPr>
          <a:xfrm>
            <a:off x="6233007" y="1965960"/>
            <a:ext cx="5181447" cy="2011680"/>
          </a:xfrm>
          <a:prstGeom prst="rect">
            <a:avLst/>
          </a:prstGeom>
          <a:solidFill>
            <a:srgbClr val="DCEAE4"/>
          </a:solidFill>
          <a:ln w="12700">
            <a:solidFill>
              <a:srgbClr val="D9D1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15887" y="2112264"/>
            <a:ext cx="481568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1E6E5C"/>
                </a:solidFill>
                <a:latin typeface="Be Vietnam Pro"/>
              </a:rPr>
              <a:t>내부용 · 행정 전산망 (apps/platform)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15887" y="2624328"/>
            <a:ext cx="4815687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200" b="0">
                <a:solidFill>
                  <a:srgbClr val="4C4842"/>
                </a:solidFill>
                <a:latin typeface="Be Vietnam Pro"/>
              </a:rPr>
              <a:t>회원 서비스 /my — 자기 기록만</a:t>
            </a:r>
          </a:p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200" b="0">
                <a:solidFill>
                  <a:srgbClr val="4C4842"/>
                </a:solidFill>
                <a:latin typeface="Be Vietnam Pro"/>
              </a:rPr>
              <a:t>업무 /admin — 협회·성시·체육회·문체부</a:t>
            </a:r>
          </a:p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200" b="0">
                <a:solidFill>
                  <a:srgbClr val="4C4842"/>
                </a:solidFill>
                <a:latin typeface="Be Vietnam Pro"/>
              </a:rPr>
              <a:t>AI 서류등록·전자결재·콘텐츠 관리</a:t>
            </a:r>
          </a:p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200" b="0">
                <a:solidFill>
                  <a:srgbClr val="4C4842"/>
                </a:solidFill>
                <a:latin typeface="Be Vietnam Pro"/>
              </a:rPr>
              <a:t>로그인 필수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4206240"/>
            <a:ext cx="10637215" cy="914400"/>
          </a:xfrm>
          <a:prstGeom prst="rect">
            <a:avLst/>
          </a:prstGeom>
          <a:solidFill>
            <a:srgbClr val="1B1A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6" y="4352544"/>
            <a:ext cx="10198303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FFFFFF"/>
                </a:solidFill>
                <a:latin typeface="Be Vietnam Pro"/>
              </a:rPr>
              <a:t>하나의 데이터 — pub 공개계층(외부가 읽는 곳) + 원본계층(내부). 외부 웹은 pub 뷰만 읽는 전용 DB 역할로 접속 → 뚫려도 전화·신분증은 나가지 않는다. (경계는 자동 검사로 빌드에서 강제)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5303520"/>
            <a:ext cx="10637215" cy="777240"/>
          </a:xfrm>
          <a:prstGeom prst="rect">
            <a:avLst/>
          </a:prstGeom>
          <a:solidFill>
            <a:srgbClr val="F4D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5303520"/>
            <a:ext cx="45720" cy="777240"/>
          </a:xfrm>
          <a:prstGeom prst="rect">
            <a:avLst/>
          </a:prstGeom>
          <a:solidFill>
            <a:srgbClr val="B53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78408" y="5422392"/>
            <a:ext cx="1023487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1">
                <a:solidFill>
                  <a:srgbClr val="B5341F"/>
                </a:solidFill>
                <a:latin typeface="Consolas"/>
              </a:rPr>
              <a:t>설계 제1원칙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8408" y="5669280"/>
            <a:ext cx="10234879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1B1A17"/>
                </a:solidFill>
                <a:latin typeface="Be Vietnam Pro"/>
              </a:rPr>
              <a:t>홍보를 위해 따로 글을 쓰지 않는다 — 내부 입력이 외부에 자동 반영된다.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6355080"/>
            <a:ext cx="1063721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847C70"/>
                </a:solidFill>
                <a:latin typeface="Consolas"/>
              </a:rPr>
              <a:t>Vietnam Sports Platform · 사업계획서 v1.1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00055" y="6355080"/>
            <a:ext cx="914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47C70"/>
                </a:solidFill>
                <a:latin typeface="Consola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57200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B5341F"/>
                </a:solidFill>
                <a:latin typeface="Consolas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31520"/>
            <a:ext cx="1063721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700" b="1">
                <a:solidFill>
                  <a:srgbClr val="1B1A17"/>
                </a:solidFill>
                <a:latin typeface="Be Vietnam Pro"/>
              </a:rPr>
              <a:t>외부용 — 스마트폰 웹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417320"/>
            <a:ext cx="10637215" cy="19050"/>
          </a:xfrm>
          <a:prstGeom prst="rect">
            <a:avLst/>
          </a:prstGeom>
          <a:solidFill>
            <a:srgbClr val="B53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536192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4C4842"/>
                </a:solidFill>
                <a:latin typeface="Be Vietnam Pro"/>
              </a:rPr>
              <a:t>네이버 스포츠 동작 실사 반영 (모바일 우선) · 전부 구현됨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77240" y="1965960"/>
          <a:ext cx="10637214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2931"/>
                <a:gridCol w="8084283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4C4842"/>
                          </a:solidFill>
                          <a:latin typeface="Be Vietnam Pro"/>
                        </a:rPr>
                        <a:t>영역</a:t>
                      </a:r>
                    </a:p>
                  </a:txBody>
                  <a:tcPr marL="82296" marR="82296" marT="27432" marB="27432" anchor="ctr">
                    <a:solidFill>
                      <a:srgbClr val="EEE8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4C4842"/>
                          </a:solidFill>
                          <a:latin typeface="Be Vietnam Pro"/>
                        </a:rPr>
                        <a:t>구성 (네이버 실사 반영)</a:t>
                      </a:r>
                    </a:p>
                  </a:txBody>
                  <a:tcPr marL="82296" marR="82296" marT="27432" marB="27432" anchor="ctr">
                    <a:solidFill>
                      <a:srgbClr val="EEE8DD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1B1A17"/>
                          </a:solidFill>
                          <a:latin typeface="Be Vietnam Pro"/>
                        </a:rPr>
                        <a:t>머리 3단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4C4842"/>
                          </a:solidFill>
                          <a:latin typeface="Be Vietnam Pro"/>
                        </a:rPr>
                        <a:t>유틸리티(공시·증명확인) / 종목 탭 / 기능 줄(경기·일정·순위·선수·뉴스·후원)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1B1A17"/>
                          </a:solidFill>
                          <a:latin typeface="Be Vietnam Pro"/>
                        </a:rPr>
                        <a:t>종목 안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4C4842"/>
                          </a:solidFill>
                          <a:latin typeface="Be Vietnam Pro"/>
                        </a:rPr>
                        <a:t>뉴스·영상·일정·순위·기록 → 리그·대회 필터 (네이버식)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1B1A17"/>
                          </a:solidFill>
                          <a:latin typeface="Be Vietnam Pro"/>
                        </a:rPr>
                        <a:t>경기 상세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4C4842"/>
                          </a:solidFill>
                          <a:latin typeface="Be Vietnam Pro"/>
                        </a:rPr>
                        <a:t>기록·라인업·응원·문자중계·뉴스·영상 탭 + 종목별 기록표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1B1A17"/>
                          </a:solidFill>
                          <a:latin typeface="Be Vietnam Pro"/>
                        </a:rPr>
                        <a:t>순위·기록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4C4842"/>
                          </a:solidFill>
                          <a:latin typeface="Be Vietnam Pro"/>
                        </a:rPr>
                        <a:t>팀 순위·개인 순위판(종목별 컬럼) · 미성년 이름 마스킹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1B1A17"/>
                          </a:solidFill>
                          <a:latin typeface="Be Vietnam Pro"/>
                        </a:rPr>
                        <a:t>미디어·참여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4C4842"/>
                          </a:solidFill>
                          <a:latin typeface="Be Vietnam Pro"/>
                        </a:rPr>
                        <a:t>뉴스·기사(자동/기자) · 팬 투표(MVP)·응원 · MY팀 구독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1B1A17"/>
                          </a:solidFill>
                          <a:latin typeface="Be Vietnam Pro"/>
                        </a:rPr>
                        <a:t>후원·수익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4C4842"/>
                          </a:solidFill>
                          <a:latin typeface="Be Vietnam Pro"/>
                        </a:rPr>
                        <a:t>후원 쇼케이스(선수 인기 지표) · 광고 지면(협회 수익 배분)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777240" y="5733288"/>
            <a:ext cx="10637215" cy="731520"/>
          </a:xfrm>
          <a:prstGeom prst="rect">
            <a:avLst/>
          </a:prstGeom>
          <a:solidFill>
            <a:srgbClr val="D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5733288"/>
            <a:ext cx="45720" cy="731520"/>
          </a:xfrm>
          <a:prstGeom prst="rect">
            <a:avLst/>
          </a:prstGeom>
          <a:solidFill>
            <a:srgbClr val="1E6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5852160"/>
            <a:ext cx="1023487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1">
                <a:solidFill>
                  <a:srgbClr val="1E6E5C"/>
                </a:solidFill>
                <a:latin typeface="Consolas"/>
              </a:rPr>
              <a:t>e스포츠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" y="6099048"/>
            <a:ext cx="1023487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1B1A17"/>
                </a:solidFill>
                <a:latin typeface="Be Vietnam Pro"/>
              </a:rPr>
              <a:t>데이터는 한 종목, 화면은 타이틀-우선 — 같은 플랫폼에 포함.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6355080"/>
            <a:ext cx="1063721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847C70"/>
                </a:solidFill>
                <a:latin typeface="Consolas"/>
              </a:rPr>
              <a:t>Vietnam Sports Platform · 사업계획서 v1.1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00055" y="6355080"/>
            <a:ext cx="914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47C70"/>
                </a:solidFill>
                <a:latin typeface="Consola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57200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B5341F"/>
                </a:solidFill>
                <a:latin typeface="Consolas"/>
              </a:rP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31520"/>
            <a:ext cx="1063721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700" b="1">
                <a:solidFill>
                  <a:srgbClr val="1B1A17"/>
                </a:solidFill>
                <a:latin typeface="Be Vietnam Pro"/>
              </a:rPr>
              <a:t>내부용 — 행정 전산망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417320"/>
            <a:ext cx="10637215" cy="19050"/>
          </a:xfrm>
          <a:prstGeom prst="rect">
            <a:avLst/>
          </a:prstGeom>
          <a:solidFill>
            <a:srgbClr val="B53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536192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4C4842"/>
                </a:solidFill>
                <a:latin typeface="Be Vietnam Pro"/>
              </a:rPr>
              <a:t>대한체육회 g1 + 문체부 계열 (사무국 1~5명·모바일 전제) · 전부 구현됨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77240" y="1965960"/>
          <a:ext cx="10637214" cy="36941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2931"/>
                <a:gridCol w="8084283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4C4842"/>
                          </a:solidFill>
                          <a:latin typeface="Be Vietnam Pro"/>
                        </a:rPr>
                        <a:t>기능</a:t>
                      </a:r>
                    </a:p>
                  </a:txBody>
                  <a:tcPr marL="82296" marR="82296" marT="27432" marB="27432" anchor="ctr">
                    <a:solidFill>
                      <a:srgbClr val="EEE8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4C4842"/>
                          </a:solidFill>
                          <a:latin typeface="Be Vietnam Pro"/>
                        </a:rPr>
                        <a:t>내용</a:t>
                      </a:r>
                    </a:p>
                  </a:txBody>
                  <a:tcPr marL="82296" marR="82296" marT="27432" marB="27432" anchor="ctr">
                    <a:solidFill>
                      <a:srgbClr val="EEE8DD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1B1A17"/>
                          </a:solidFill>
                          <a:latin typeface="Be Vietnam Pro"/>
                        </a:rPr>
                        <a:t>AI 서류 자동등록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4C4842"/>
                          </a:solidFill>
                          <a:latin typeface="Be Vietnam Pro"/>
                        </a:rPr>
                        <a:t>서류 업로드 → AI가 공식 폼 초안 → 사람 검토·확정 → 전자결재 (다음 장)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1B1A17"/>
                          </a:solidFill>
                          <a:latin typeface="Be Vietnam Pro"/>
                        </a:rPr>
                        <a:t>경기인 등록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4C4842"/>
                          </a:solidFill>
                          <a:latin typeface="Be Vietnam Pro"/>
                        </a:rPr>
                        <a:t>선수·지도자·심판, 동적 서식 + 2단계 결재(법정 처리기한)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1B1A17"/>
                          </a:solidFill>
                          <a:latin typeface="Be Vietnam Pro"/>
                        </a:rPr>
                        <a:t>전자결재·공문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4C4842"/>
                          </a:solidFill>
                          <a:latin typeface="Be Vietnam Pro"/>
                        </a:rPr>
                        <a:t>기안·합의·접수·문서대장 (온나라 계열)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1B1A17"/>
                          </a:solidFill>
                          <a:latin typeface="Be Vietnam Pro"/>
                        </a:rPr>
                        <a:t>전자수납·보조금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4C4842"/>
                          </a:solidFill>
                          <a:latin typeface="Be Vietnam Pro"/>
                        </a:rPr>
                        <a:t>자금은 납부자→PG→협회 직접(미경유) · 보조금 전주기(부정차단)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1B1A17"/>
                          </a:solidFill>
                          <a:latin typeface="Be Vietnam Pro"/>
                        </a:rPr>
                        <a:t>콘텐츠 행정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4C4842"/>
                          </a:solidFill>
                          <a:latin typeface="Be Vietnam Pro"/>
                        </a:rPr>
                        <a:t>기사 작성·검수(결재)·결과 자동기사 · 기자 자격 · 경기 중계·영상 입력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1B1A17"/>
                          </a:solidFill>
                          <a:latin typeface="Be Vietnam Pro"/>
                        </a:rPr>
                        <a:t>팬·광고 관리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4C4842"/>
                          </a:solidFill>
                          <a:latin typeface="Be Vietnam Pro"/>
                        </a:rPr>
                        <a:t>팬 투표 개폐 · 광고 지면 on/off·게재·수익 배분(%)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1B1A17"/>
                          </a:solidFill>
                          <a:latin typeface="Be Vietnam Pro"/>
                        </a:rPr>
                        <a:t>회원 서비스 /my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4C4842"/>
                          </a:solidFill>
                          <a:latin typeface="Be Vietnam Pro"/>
                        </a:rPr>
                        <a:t>내 생애주기 — 등록·성적·신청·납부·구독·후원 프로필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77240" y="6355080"/>
            <a:ext cx="1063721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847C70"/>
                </a:solidFill>
                <a:latin typeface="Consolas"/>
              </a:rPr>
              <a:t>Vietnam Sports Platform · 사업계획서 v1.1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00055" y="6355080"/>
            <a:ext cx="914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47C70"/>
                </a:solidFill>
                <a:latin typeface="Consola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57200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B5341F"/>
                </a:solidFill>
                <a:latin typeface="Consolas"/>
              </a:rP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31520"/>
            <a:ext cx="1063721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700" b="1">
                <a:solidFill>
                  <a:srgbClr val="1B1A17"/>
                </a:solidFill>
                <a:latin typeface="Be Vietnam Pro"/>
              </a:rPr>
              <a:t>데이터 경계와 보안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417320"/>
            <a:ext cx="10637215" cy="19050"/>
          </a:xfrm>
          <a:prstGeom prst="rect">
            <a:avLst/>
          </a:prstGeom>
          <a:solidFill>
            <a:srgbClr val="B53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536192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4C4842"/>
                </a:solidFill>
                <a:latin typeface="Be Vietnam Pro"/>
              </a:rPr>
              <a:t>한국 N²SF 공개/민감/기밀 등급 적용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77240" y="1965960"/>
          <a:ext cx="10637214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954"/>
                <a:gridCol w="5744096"/>
                <a:gridCol w="3191164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4C4842"/>
                          </a:solidFill>
                          <a:latin typeface="Be Vietnam Pro"/>
                        </a:rPr>
                        <a:t>등급</a:t>
                      </a:r>
                    </a:p>
                  </a:txBody>
                  <a:tcPr marL="82296" marR="82296" marT="27432" marB="27432" anchor="ctr">
                    <a:solidFill>
                      <a:srgbClr val="EEE8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4C4842"/>
                          </a:solidFill>
                          <a:latin typeface="Be Vietnam Pro"/>
                        </a:rPr>
                        <a:t>데이터</a:t>
                      </a:r>
                    </a:p>
                  </a:txBody>
                  <a:tcPr marL="82296" marR="82296" marT="27432" marB="27432" anchor="ctr">
                    <a:solidFill>
                      <a:srgbClr val="EEE8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4C4842"/>
                          </a:solidFill>
                          <a:latin typeface="Be Vietnam Pro"/>
                        </a:rPr>
                        <a:t>접근</a:t>
                      </a:r>
                    </a:p>
                  </a:txBody>
                  <a:tcPr marL="82296" marR="82296" marT="27432" marB="27432" anchor="ctr">
                    <a:solidFill>
                      <a:srgbClr val="EEE8DD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1B1A17"/>
                          </a:solidFill>
                          <a:latin typeface="Be Vietnam Pro"/>
                        </a:rPr>
                        <a:t>O 공개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4C4842"/>
                          </a:solidFill>
                          <a:latin typeface="Be Vietnam Pro"/>
                        </a:rPr>
                        <a:t>경기결과·출생연도·승인된 대회·공시·통계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4C4842"/>
                          </a:solidFill>
                          <a:latin typeface="Be Vietnam Pro"/>
                        </a:rPr>
                        <a:t>외부 웹 (전용 DB 역할)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1B1A17"/>
                          </a:solidFill>
                          <a:latin typeface="Be Vietnam Pro"/>
                        </a:rPr>
                        <a:t>S 민감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4C4842"/>
                          </a:solidFill>
                          <a:latin typeface="Be Vietnam Pro"/>
                        </a:rPr>
                        <a:t>전화·등록서류·결재·수납·보조금·공문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4C4842"/>
                          </a:solidFill>
                          <a:latin typeface="Be Vietnam Pro"/>
                        </a:rPr>
                        <a:t>업무 역할 + 본인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1B1A17"/>
                          </a:solidFill>
                          <a:latin typeface="Be Vietnam Pro"/>
                        </a:rPr>
                        <a:t>C 기밀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4C4842"/>
                          </a:solidFill>
                          <a:latin typeface="Be Vietnam Pro"/>
                        </a:rPr>
                        <a:t>신분증 해시·건강·징계/도핑·신고자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4C4842"/>
                          </a:solidFill>
                          <a:latin typeface="Be Vietnam Pro"/>
                        </a:rPr>
                        <a:t>추가 통제(다음 단계)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777240" y="4087368"/>
            <a:ext cx="10637215" cy="731520"/>
          </a:xfrm>
          <a:prstGeom prst="rect">
            <a:avLst/>
          </a:prstGeom>
          <a:solidFill>
            <a:srgbClr val="F4D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4087368"/>
            <a:ext cx="45720" cy="731520"/>
          </a:xfrm>
          <a:prstGeom prst="rect">
            <a:avLst/>
          </a:prstGeom>
          <a:solidFill>
            <a:srgbClr val="B53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4206240"/>
            <a:ext cx="1023487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1">
                <a:solidFill>
                  <a:srgbClr val="B5341F"/>
                </a:solidFill>
                <a:latin typeface="Consolas"/>
              </a:rPr>
              <a:t>강제 방식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" y="4453128"/>
            <a:ext cx="1023487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1B1A17"/>
                </a:solidFill>
                <a:latin typeface="Be Vietnam Pro"/>
              </a:rPr>
              <a:t>외부 웹은 pub 뷰만 읽는 읽기 전용 DB 역할로 접속. 권한은 화면·서버액션·API마다 확인. 자동 검사로 경계 위반을 빌드에서 잡는다. CCCD는 해시만, 만 18세 미만은 공개 제외.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6355080"/>
            <a:ext cx="1063721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847C70"/>
                </a:solidFill>
                <a:latin typeface="Consolas"/>
              </a:rPr>
              <a:t>Vietnam Sports Platform · 사업계획서 v1.1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00055" y="6355080"/>
            <a:ext cx="914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47C70"/>
                </a:solidFill>
                <a:latin typeface="Consola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57200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B5341F"/>
                </a:solidFill>
                <a:latin typeface="Consolas"/>
              </a:rPr>
              <a:t>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31520"/>
            <a:ext cx="1063721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700" b="1">
                <a:solidFill>
                  <a:srgbClr val="1B1A17"/>
                </a:solidFill>
                <a:latin typeface="Be Vietnam Pro"/>
              </a:rPr>
              <a:t>종목 구성 (폴더)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417320"/>
            <a:ext cx="10637215" cy="19050"/>
          </a:xfrm>
          <a:prstGeom prst="rect">
            <a:avLst/>
          </a:prstGeom>
          <a:solidFill>
            <a:srgbClr val="B53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536192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4C4842"/>
                </a:solidFill>
                <a:latin typeface="Be Vietnam Pro"/>
              </a:rPr>
              <a:t>전 종목 43개 반영 · 성/시 지부 1,471개 구조 · 명단 수령 시 데이터만 교체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77240" y="1965960"/>
          <a:ext cx="10637214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40187"/>
                <a:gridCol w="8297027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4C4842"/>
                          </a:solidFill>
                          <a:latin typeface="Be Vietnam Pro"/>
                        </a:rPr>
                        <a:t>군</a:t>
                      </a:r>
                    </a:p>
                  </a:txBody>
                  <a:tcPr marL="82296" marR="82296" marT="27432" marB="27432" anchor="ctr">
                    <a:solidFill>
                      <a:srgbClr val="EEE8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4C4842"/>
                          </a:solidFill>
                          <a:latin typeface="Be Vietnam Pro"/>
                        </a:rPr>
                        <a:t>종목</a:t>
                      </a:r>
                    </a:p>
                  </a:txBody>
                  <a:tcPr marL="82296" marR="82296" marT="27432" marB="27432" anchor="ctr">
                    <a:solidFill>
                      <a:srgbClr val="EEE8DD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1B1A17"/>
                          </a:solidFill>
                          <a:latin typeface="Be Vietnam Pro"/>
                        </a:rPr>
                        <a:t>1군 (인기·전략)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4C4842"/>
                          </a:solidFill>
                          <a:latin typeface="Be Vietnam Pro"/>
                        </a:rPr>
                        <a:t>축구·배구·육상·수영·배드민턴·태권도·보비남·농구·e스포츠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4C4842"/>
                          </a:solidFill>
                          <a:latin typeface="Be Vietnam Pro"/>
                        </a:rPr>
                        <a:t>2군 (올림픽 정규)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4C4842"/>
                          </a:solidFill>
                          <a:latin typeface="Be Vietnam Pro"/>
                        </a:rPr>
                        <a:t>탁구·테니스·복싱·유도·레슬링·역도·양궁·사격·펜싱·사이클·조정·체조·핸드볼·야구 등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4C4842"/>
                          </a:solidFill>
                          <a:latin typeface="Be Vietnam Pro"/>
                        </a:rPr>
                        <a:t>3군 (지역·무예)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4C4842"/>
                          </a:solidFill>
                          <a:latin typeface="Be Vietnam Pro"/>
                        </a:rPr>
                        <a:t>펜칵실랏·세팍타크로·우슈·가라테·무에타이·주짓수·체스·샹치·당구·볼링·골프 등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1B1A17"/>
                          </a:solidFill>
                          <a:latin typeface="Be Vietnam Pro"/>
                        </a:rPr>
                        <a:t>4군 (베트남 전통)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4C4842"/>
                          </a:solidFill>
                          <a:latin typeface="Be Vietnam Pro"/>
                        </a:rPr>
                        <a:t>다카오·전통무술 — 네이버·한국에 없는 VSP 차별 폴더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4C4842"/>
                          </a:solidFill>
                          <a:latin typeface="Be Vietnam Pro"/>
                        </a:rPr>
                        <a:t>별도 축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4C4842"/>
                          </a:solidFill>
                          <a:latin typeface="Be Vietnam Pro"/>
                        </a:rPr>
                        <a:t>장애인체육 — 같은 플랫폼 별도 종목군 vs 분리 (미팅 결정)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77240" y="5184648"/>
            <a:ext cx="106372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847C70"/>
                </a:solidFill>
                <a:latin typeface="Be Vietnam Pro"/>
              </a:rPr>
              <a:t>전 43종목 카탈로그 + 2025 개편 34개 성/시 × 종목 = 성/시 지부 1,471개 구조 구현(코드는 임시, 공식 코드 수령 시 교체). 근거: SEA Games 31 = 40종목.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355080"/>
            <a:ext cx="1063721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847C70"/>
                </a:solidFill>
                <a:latin typeface="Consolas"/>
              </a:rPr>
              <a:t>Vietnam Sports Platform · 사업계획서 v1.1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00055" y="6355080"/>
            <a:ext cx="914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47C70"/>
                </a:solidFill>
                <a:latin typeface="Consola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57200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B5341F"/>
                </a:solidFill>
                <a:latin typeface="Consolas"/>
              </a:rP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31520"/>
            <a:ext cx="1063721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700" b="1">
                <a:solidFill>
                  <a:srgbClr val="1B1A17"/>
                </a:solidFill>
                <a:latin typeface="Be Vietnam Pro"/>
              </a:rPr>
              <a:t>AI 서류 자동등록 → 전자결재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417320"/>
            <a:ext cx="10637215" cy="19050"/>
          </a:xfrm>
          <a:prstGeom prst="rect">
            <a:avLst/>
          </a:prstGeom>
          <a:solidFill>
            <a:srgbClr val="B53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536192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4C4842"/>
                </a:solidFill>
                <a:latin typeface="Be Vietnam Pro"/>
              </a:rPr>
              <a:t>내부 행정의 1번 업무 축 — "서류를 올리면 폼이 채워진다"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965960"/>
            <a:ext cx="2453563" cy="1234440"/>
          </a:xfrm>
          <a:prstGeom prst="rect">
            <a:avLst/>
          </a:prstGeom>
          <a:solidFill>
            <a:srgbClr val="EEE8DD"/>
          </a:solidFill>
          <a:ln w="12700">
            <a:solidFill>
              <a:srgbClr val="D9D1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2075688"/>
            <a:ext cx="219753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B5341F"/>
                </a:solidFill>
                <a:latin typeface="Consola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5256" y="2313432"/>
            <a:ext cx="2197531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1B1A17"/>
                </a:solidFill>
                <a:latin typeface="Be Vietnam Pro"/>
              </a:rPr>
              <a:t>서류 업로드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5256" y="2752344"/>
            <a:ext cx="2197531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4C4842"/>
                </a:solidFill>
                <a:latin typeface="Be Vietnam Pro"/>
              </a:rPr>
              <a:t>스캔·PDF·텍스트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49091" y="2377440"/>
            <a:ext cx="25603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800" b="1">
                <a:solidFill>
                  <a:srgbClr val="847C70"/>
                </a:solidFill>
                <a:latin typeface="Consolas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05123" y="1965960"/>
            <a:ext cx="2453563" cy="1234440"/>
          </a:xfrm>
          <a:prstGeom prst="rect">
            <a:avLst/>
          </a:prstGeom>
          <a:solidFill>
            <a:srgbClr val="EEE8DD"/>
          </a:solidFill>
          <a:ln w="12700">
            <a:solidFill>
              <a:srgbClr val="D9D1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33139" y="2075688"/>
            <a:ext cx="219753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B5341F"/>
                </a:solidFill>
                <a:latin typeface="Consola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33139" y="2313432"/>
            <a:ext cx="2197531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1B1A17"/>
                </a:solidFill>
                <a:latin typeface="Be Vietnam Pro"/>
              </a:rPr>
              <a:t>AI 추출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3139" y="2752344"/>
            <a:ext cx="2197531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4C4842"/>
                </a:solidFill>
                <a:latin typeface="Be Vietnam Pro"/>
              </a:rPr>
              <a:t>공식 폼 초안 · 항목별 신뢰도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76975" y="2377440"/>
            <a:ext cx="25603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800" b="1">
                <a:solidFill>
                  <a:srgbClr val="847C70"/>
                </a:solidFill>
                <a:latin typeface="Consolas"/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33007" y="1965960"/>
            <a:ext cx="2453563" cy="1234440"/>
          </a:xfrm>
          <a:prstGeom prst="rect">
            <a:avLst/>
          </a:prstGeom>
          <a:solidFill>
            <a:srgbClr val="EEE8DD"/>
          </a:solidFill>
          <a:ln w="12700">
            <a:solidFill>
              <a:srgbClr val="D9D1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61023" y="2075688"/>
            <a:ext cx="219753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B5341F"/>
                </a:solidFill>
                <a:latin typeface="Consola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61023" y="2313432"/>
            <a:ext cx="2197531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1B1A17"/>
                </a:solidFill>
                <a:latin typeface="Be Vietnam Pro"/>
              </a:rPr>
              <a:t>사람 검토·확정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61023" y="2752344"/>
            <a:ext cx="2197531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4C4842"/>
                </a:solidFill>
                <a:latin typeface="Be Vietnam Pro"/>
              </a:rPr>
              <a:t>낮은 신뢰도만 확인·수정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04859" y="2377440"/>
            <a:ext cx="25603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800" b="1">
                <a:solidFill>
                  <a:srgbClr val="847C70"/>
                </a:solidFill>
                <a:latin typeface="Consolas"/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960891" y="1965960"/>
            <a:ext cx="2453563" cy="1234440"/>
          </a:xfrm>
          <a:prstGeom prst="rect">
            <a:avLst/>
          </a:prstGeom>
          <a:solidFill>
            <a:srgbClr val="EEE8DD"/>
          </a:solidFill>
          <a:ln w="12700">
            <a:solidFill>
              <a:srgbClr val="D9D1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88907" y="2075688"/>
            <a:ext cx="219753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B5341F"/>
                </a:solidFill>
                <a:latin typeface="Consolas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88907" y="2313432"/>
            <a:ext cx="2197531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1B1A17"/>
                </a:solidFill>
                <a:latin typeface="Be Vietnam Pro"/>
              </a:rPr>
              <a:t>전자결재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88907" y="2752344"/>
            <a:ext cx="2197531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4C4842"/>
                </a:solidFill>
                <a:latin typeface="Be Vietnam Pro"/>
              </a:rPr>
              <a:t>확정하면 제출·결재 시작</a:t>
            </a:r>
          </a:p>
        </p:txBody>
      </p:sp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777240" y="3429000"/>
          <a:ext cx="10637214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91164"/>
                <a:gridCol w="7446050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4C4842"/>
                          </a:solidFill>
                          <a:latin typeface="Be Vietnam Pro"/>
                        </a:rPr>
                        <a:t>원칙</a:t>
                      </a:r>
                    </a:p>
                  </a:txBody>
                  <a:tcPr marL="82296" marR="82296" marT="27432" marB="27432" anchor="ctr">
                    <a:solidFill>
                      <a:srgbClr val="EEE8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4C4842"/>
                          </a:solidFill>
                          <a:latin typeface="Be Vietnam Pro"/>
                        </a:rPr>
                        <a:t>이유</a:t>
                      </a:r>
                    </a:p>
                  </a:txBody>
                  <a:tcPr marL="82296" marR="82296" marT="27432" marB="27432" anchor="ctr">
                    <a:solidFill>
                      <a:srgbClr val="EEE8D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1B1A17"/>
                          </a:solidFill>
                          <a:latin typeface="Be Vietnam Pro"/>
                        </a:rPr>
                        <a:t>AI는 초안만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4C4842"/>
                          </a:solidFill>
                          <a:latin typeface="Be Vietnam Pro"/>
                        </a:rPr>
                        <a:t>사람이 확정해야 결재가 시작된다 — 자동 승인 없음(정부 감사 대비)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1B1A17"/>
                          </a:solidFill>
                          <a:latin typeface="Be Vietnam Pro"/>
                        </a:rPr>
                        <a:t>지어내지 않는다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4C4842"/>
                          </a:solidFill>
                          <a:latin typeface="Be Vietnam Pro"/>
                        </a:rPr>
                        <a:t>문서에 근거 있는 값만 옮기고, 못 찾으면 비워 사람이 채운다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1B1A17"/>
                          </a:solidFill>
                          <a:latin typeface="Be Vietnam Pro"/>
                        </a:rPr>
                        <a:t>서식에 안 묶인다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4C4842"/>
                          </a:solidFill>
                          <a:latin typeface="Be Vietnam Pro"/>
                        </a:rPr>
                        <a:t>어떤 공식 서식이 오든 폼 편집기로 등록만 하면 그 폼으로 채운다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1B1A17"/>
                          </a:solidFill>
                          <a:latin typeface="Be Vietnam Pro"/>
                        </a:rPr>
                        <a:t>사업자 교체 가능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4C4842"/>
                          </a:solidFill>
                          <a:latin typeface="Be Vietnam Pro"/>
                        </a:rPr>
                        <a:t>추출기는 어댑터 — LLM 키 한 줄로 교체, 없으면 안전 기본 추출기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6" name="Rectangle 25"/>
          <p:cNvSpPr/>
          <p:nvPr/>
        </p:nvSpPr>
        <p:spPr>
          <a:xfrm>
            <a:off x="777240" y="5623560"/>
            <a:ext cx="10637215" cy="777240"/>
          </a:xfrm>
          <a:prstGeom prst="rect">
            <a:avLst/>
          </a:prstGeom>
          <a:solidFill>
            <a:srgbClr val="D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77240" y="5623560"/>
            <a:ext cx="45720" cy="777240"/>
          </a:xfrm>
          <a:prstGeom prst="rect">
            <a:avLst/>
          </a:prstGeom>
          <a:solidFill>
            <a:srgbClr val="1E6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78408" y="5742432"/>
            <a:ext cx="1023487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1">
                <a:solidFill>
                  <a:srgbClr val="1E6E5C"/>
                </a:solidFill>
                <a:latin typeface="Consolas"/>
              </a:rPr>
              <a:t>유연성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8408" y="5989320"/>
            <a:ext cx="10234879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1B1A17"/>
                </a:solidFill>
                <a:latin typeface="Be Vietnam Pro"/>
              </a:rPr>
              <a:t>체육회 보고·승인 체계가 미팅에서 바뀌어도, 서식·결재선·권한은 설정으로 즉시 반영된다(코드 수정 없음).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6355080"/>
            <a:ext cx="1063721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847C70"/>
                </a:solidFill>
                <a:latin typeface="Consolas"/>
              </a:rPr>
              <a:t>Vietnam Sports Platform · 사업계획서 v1.1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00055" y="6355080"/>
            <a:ext cx="914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47C70"/>
                </a:solidFill>
                <a:latin typeface="Consola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57200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B5341F"/>
                </a:solidFill>
                <a:latin typeface="Consolas"/>
              </a:rPr>
              <a:t>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31520"/>
            <a:ext cx="1063721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700" b="1">
                <a:solidFill>
                  <a:srgbClr val="1B1A17"/>
                </a:solidFill>
                <a:latin typeface="Be Vietnam Pro"/>
              </a:rPr>
              <a:t>진행 방식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417320"/>
            <a:ext cx="10637215" cy="19050"/>
          </a:xfrm>
          <a:prstGeom prst="rect">
            <a:avLst/>
          </a:prstGeom>
          <a:solidFill>
            <a:srgbClr val="B53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536192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4C4842"/>
                </a:solidFill>
                <a:latin typeface="Be Vietnam Pro"/>
              </a:rPr>
              <a:t>완성본을 먼저 — 미팅에서 조정, 안 쓸 것만 데이터 단계로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77240" y="1965960"/>
          <a:ext cx="10637213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3721"/>
                <a:gridCol w="2765675"/>
                <a:gridCol w="4680374"/>
                <a:gridCol w="2127443"/>
              </a:tblGrid>
              <a:tr h="36576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4C4842"/>
                          </a:solidFill>
                          <a:latin typeface="Be Vietnam Pro"/>
                        </a:rPr>
                        <a:t>단계</a:t>
                      </a:r>
                    </a:p>
                  </a:txBody>
                  <a:tcPr marL="82296" marR="82296" marT="27432" marB="27432" anchor="ctr">
                    <a:solidFill>
                      <a:srgbClr val="EEE8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4C4842"/>
                          </a:solidFill>
                          <a:latin typeface="Be Vietnam Pro"/>
                        </a:rPr>
                        <a:t>목표</a:t>
                      </a:r>
                    </a:p>
                  </a:txBody>
                  <a:tcPr marL="82296" marR="82296" marT="27432" marB="27432" anchor="ctr">
                    <a:solidFill>
                      <a:srgbClr val="EEE8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4C4842"/>
                          </a:solidFill>
                          <a:latin typeface="Be Vietnam Pro"/>
                        </a:rPr>
                        <a:t>완료 기준</a:t>
                      </a:r>
                    </a:p>
                  </a:txBody>
                  <a:tcPr marL="82296" marR="82296" marT="27432" marB="27432" anchor="ctr">
                    <a:solidFill>
                      <a:srgbClr val="EEE8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4C4842"/>
                          </a:solidFill>
                          <a:latin typeface="Be Vietnam Pro"/>
                        </a:rPr>
                        <a:t>상태</a:t>
                      </a:r>
                    </a:p>
                  </a:txBody>
                  <a:tcPr marL="82296" marR="82296" marT="27432" marB="27432" anchor="ctr">
                    <a:solidFill>
                      <a:srgbClr val="EEE8D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1B1A17"/>
                          </a:solidFill>
                          <a:latin typeface="Be Vietnam Pro"/>
                        </a:rPr>
                        <a:t>P0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4C4842"/>
                          </a:solidFill>
                          <a:latin typeface="Be Vietnam Pro"/>
                        </a:rPr>
                        <a:t>완성본 구현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4C4842"/>
                          </a:solidFill>
                          <a:latin typeface="Be Vietnam Pro"/>
                        </a:rPr>
                        <a:t>전 기능·테스트·빌드 검증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1B1A17"/>
                          </a:solidFill>
                          <a:latin typeface="Be Vietnam Pro"/>
                        </a:rPr>
                        <a:t>완료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1B1A17"/>
                          </a:solidFill>
                          <a:latin typeface="Be Vietnam Pro"/>
                        </a:rPr>
                        <a:t>P1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4C4842"/>
                          </a:solidFill>
                          <a:latin typeface="Be Vietnam Pro"/>
                        </a:rPr>
                        <a:t>문체부 미팅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4C4842"/>
                          </a:solidFill>
                          <a:latin typeface="Be Vietnam Pro"/>
                        </a:rPr>
                        <a:t>설계 분기 4개 답변 + 서식·명단 수령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4C4842"/>
                          </a:solidFill>
                          <a:latin typeface="Be Vietnam Pro"/>
                        </a:rPr>
                        <a:t>준비됨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4C4842"/>
                          </a:solidFill>
                          <a:latin typeface="Be Vietnam Pro"/>
                        </a:rPr>
                        <a:t>P2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4C4842"/>
                          </a:solidFill>
                          <a:latin typeface="Be Vietnam Pro"/>
                        </a:rPr>
                        <a:t>구조 확정·IT팀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4C4842"/>
                          </a:solidFill>
                          <a:latin typeface="Be Vietnam Pro"/>
                        </a:rPr>
                        <a:t>요구 반영(설정으로) + 디자인 적용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4C4842"/>
                          </a:solidFill>
                          <a:latin typeface="Be Vietnam Pro"/>
                        </a:rPr>
                        <a:t>대기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4C4842"/>
                          </a:solidFill>
                          <a:latin typeface="Be Vietnam Pro"/>
                        </a:rPr>
                        <a:t>P3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4C4842"/>
                          </a:solidFill>
                          <a:latin typeface="Be Vietnam Pro"/>
                        </a:rPr>
                        <a:t>파일럿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4C4842"/>
                          </a:solidFill>
                          <a:latin typeface="Be Vietnam Pro"/>
                        </a:rPr>
                        <a:t>등록→대회→결과→정산 실데이터 완주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4C4842"/>
                          </a:solidFill>
                          <a:latin typeface="Be Vietnam Pro"/>
                        </a:rPr>
                        <a:t>대기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4C4842"/>
                          </a:solidFill>
                          <a:latin typeface="Be Vietnam Pro"/>
                        </a:rPr>
                        <a:t>P4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4C4842"/>
                          </a:solidFill>
                          <a:latin typeface="Be Vietnam Pro"/>
                        </a:rPr>
                        <a:t>전국 확산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4C4842"/>
                          </a:solidFill>
                          <a:latin typeface="Be Vietnam Pro"/>
                        </a:rPr>
                        <a:t>종목별 순차 온보딩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4C4842"/>
                          </a:solidFill>
                          <a:latin typeface="Be Vietnam Pro"/>
                        </a:rPr>
                        <a:t>대기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4C4842"/>
                          </a:solidFill>
                          <a:latin typeface="Be Vietnam Pro"/>
                        </a:rPr>
                        <a:t>P5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4C4842"/>
                          </a:solidFill>
                          <a:latin typeface="Be Vietnam Pro"/>
                        </a:rPr>
                        <a:t>공개·후원·광고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4C4842"/>
                          </a:solidFill>
                          <a:latin typeface="Be Vietnam Pro"/>
                        </a:rPr>
                        <a:t>미디어·랭킹·스폰서십·광고 활성화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4C4842"/>
                          </a:solidFill>
                          <a:latin typeface="Be Vietnam Pro"/>
                        </a:rPr>
                        <a:t>구현됨(대기)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777240" y="5184648"/>
            <a:ext cx="10637215" cy="1051560"/>
          </a:xfrm>
          <a:prstGeom prst="rect">
            <a:avLst/>
          </a:prstGeom>
          <a:solidFill>
            <a:srgbClr val="F4D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5184648"/>
            <a:ext cx="45720" cy="1051560"/>
          </a:xfrm>
          <a:prstGeom prst="rect">
            <a:avLst/>
          </a:prstGeom>
          <a:solidFill>
            <a:srgbClr val="B53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5303520"/>
            <a:ext cx="1023487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1">
                <a:solidFill>
                  <a:srgbClr val="B5341F"/>
                </a:solidFill>
                <a:latin typeface="Consolas"/>
              </a:rPr>
              <a:t>P1 설계 분기 4개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" y="5550408"/>
            <a:ext cx="10234879" cy="576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1B1A17"/>
                </a:solidFill>
                <a:latin typeface="Be Vietnam Pro"/>
              </a:rPr>
              <a:t>① 국가 전자문서시스템 연동 방식 ② 국가 보조금 시스템 유무 ③ 체육 예산 경로 ④ 장애인체육 편입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6355080"/>
            <a:ext cx="1063721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847C70"/>
                </a:solidFill>
                <a:latin typeface="Consolas"/>
              </a:rPr>
              <a:t>Vietnam Sports Platform · 사업계획서 v1.1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00055" y="6355080"/>
            <a:ext cx="914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47C70"/>
                </a:solidFill>
                <a:latin typeface="Consola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57200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B5341F"/>
                </a:solidFill>
                <a:latin typeface="Consolas"/>
              </a:rPr>
              <a:t>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31520"/>
            <a:ext cx="1063721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700" b="1">
                <a:solidFill>
                  <a:srgbClr val="1B1A17"/>
                </a:solidFill>
                <a:latin typeface="Be Vietnam Pro"/>
              </a:rPr>
              <a:t>운영 방식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417320"/>
            <a:ext cx="10637215" cy="19050"/>
          </a:xfrm>
          <a:prstGeom prst="rect">
            <a:avLst/>
          </a:prstGeom>
          <a:solidFill>
            <a:srgbClr val="B53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536192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4C4842"/>
                </a:solidFill>
                <a:latin typeface="Be Vietnam Pro"/>
              </a:rPr>
              <a:t>호스팅 · 팀 · 온보딩 · 알림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77240" y="1965960"/>
          <a:ext cx="10637215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27443"/>
                <a:gridCol w="8509772"/>
              </a:tblGrid>
              <a:tr h="36576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4C4842"/>
                          </a:solidFill>
                          <a:latin typeface="Be Vietnam Pro"/>
                        </a:rPr>
                        <a:t>항목</a:t>
                      </a:r>
                    </a:p>
                  </a:txBody>
                  <a:tcPr marL="82296" marR="82296" marT="27432" marB="27432" anchor="ctr">
                    <a:solidFill>
                      <a:srgbClr val="EEE8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4C4842"/>
                          </a:solidFill>
                          <a:latin typeface="Be Vietnam Pro"/>
                        </a:rPr>
                        <a:t>내용</a:t>
                      </a:r>
                    </a:p>
                  </a:txBody>
                  <a:tcPr marL="82296" marR="82296" marT="27432" marB="27432" anchor="ctr">
                    <a:solidFill>
                      <a:srgbClr val="EEE8D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1B1A17"/>
                          </a:solidFill>
                          <a:latin typeface="Be Vietnam Pro"/>
                        </a:rPr>
                        <a:t>호스팅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4C4842"/>
                          </a:solidFill>
                          <a:latin typeface="Be Vietnam Pro"/>
                        </a:rPr>
                        <a:t>개발 PGlite → 운영 PostgreSQL (한 줄 교체). 베트남 국내 호스팅 전제(법). 배포 체크리스트(문서 19)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1B1A17"/>
                          </a:solidFill>
                          <a:latin typeface="Be Vietnam Pro"/>
                        </a:rPr>
                        <a:t>팀 (P2)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4C4842"/>
                          </a:solidFill>
                          <a:latin typeface="Be Vietnam Pro"/>
                        </a:rPr>
                        <a:t>리드1·백엔드2~3·프론트2·디자이너1·현지담당1~2(개발자보다 먼저)·QA1·보안1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1B1A17"/>
                          </a:solidFill>
                          <a:latin typeface="Be Vietnam Pro"/>
                        </a:rPr>
                        <a:t>온보딩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4C4842"/>
                          </a:solidFill>
                          <a:latin typeface="Be Vietnam Pro"/>
                        </a:rPr>
                        <a:t>하향식 표준 지정 → 협회는 기준데이터·교육만. 엑셀 일괄 업로드+검증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1B1A17"/>
                          </a:solidFill>
                          <a:latin typeface="Be Vietnam Pro"/>
                        </a:rPr>
                        <a:t>데이터 이관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4C4842"/>
                          </a:solidFill>
                          <a:latin typeface="Be Vietnam Pro"/>
                        </a:rPr>
                        <a:t>기준데이터→조직→사람→등록 순. 중복은 CCCD 해시로 탐지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1B1A17"/>
                          </a:solidFill>
                          <a:latin typeface="Be Vietnam Pro"/>
                        </a:rPr>
                        <a:t>알림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4C4842"/>
                          </a:solidFill>
                          <a:latin typeface="Be Vietnam Pro"/>
                        </a:rPr>
                        <a:t>Zalo ZNS(베트남 표준). 어댑터만 연결하면 동작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777240" y="4727448"/>
            <a:ext cx="10637215" cy="1051560"/>
          </a:xfrm>
          <a:prstGeom prst="rect">
            <a:avLst/>
          </a:prstGeom>
          <a:solidFill>
            <a:srgbClr val="D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4727448"/>
            <a:ext cx="45720" cy="1051560"/>
          </a:xfrm>
          <a:prstGeom prst="rect">
            <a:avLst/>
          </a:prstGeom>
          <a:solidFill>
            <a:srgbClr val="1E6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4846320"/>
            <a:ext cx="1023487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1">
                <a:solidFill>
                  <a:srgbClr val="1E6E5C"/>
                </a:solidFill>
                <a:latin typeface="Consolas"/>
              </a:rPr>
              <a:t>차별점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" y="5093208"/>
            <a:ext cx="10234879" cy="576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1B1A17"/>
                </a:solidFill>
                <a:latin typeface="Be Vietnam Pro"/>
              </a:rPr>
              <a:t>VOC 사이트조차 불안정한 현실 — 안정적 운영 + 국내 호스팅 자체가 신뢰의 차별점이 된다.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6355080"/>
            <a:ext cx="1063721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847C70"/>
                </a:solidFill>
                <a:latin typeface="Consolas"/>
              </a:rPr>
              <a:t>Vietnam Sports Platform · 사업계획서 v1.1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00055" y="6355080"/>
            <a:ext cx="914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47C70"/>
                </a:solidFill>
                <a:latin typeface="Consola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57200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B5341F"/>
                </a:solidFill>
                <a:latin typeface="Consolas"/>
              </a:rPr>
              <a:t>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31520"/>
            <a:ext cx="1063721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700" b="1">
                <a:solidFill>
                  <a:srgbClr val="1B1A17"/>
                </a:solidFill>
                <a:latin typeface="Be Vietnam Pro"/>
              </a:rPr>
              <a:t>수익 · 지속가능성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417320"/>
            <a:ext cx="10637215" cy="19050"/>
          </a:xfrm>
          <a:prstGeom prst="rect">
            <a:avLst/>
          </a:prstGeom>
          <a:solidFill>
            <a:srgbClr val="B53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536192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4C4842"/>
                </a:solidFill>
                <a:latin typeface="Be Vietnam Pro"/>
              </a:rPr>
              <a:t>공식 시스템(내부)에는 광고를 두지 않는다 · 플랫폼은 자금을 경유하지 않는다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77240" y="1965960"/>
          <a:ext cx="10637214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40187"/>
                <a:gridCol w="2127443"/>
                <a:gridCol w="2127443"/>
                <a:gridCol w="4042141"/>
              </a:tblGrid>
              <a:tr h="36576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4C4842"/>
                          </a:solidFill>
                          <a:latin typeface="Be Vietnam Pro"/>
                        </a:rPr>
                        <a:t>원천</a:t>
                      </a:r>
                    </a:p>
                  </a:txBody>
                  <a:tcPr marL="82296" marR="82296" marT="27432" marB="27432" anchor="ctr">
                    <a:solidFill>
                      <a:srgbClr val="EEE8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4C4842"/>
                          </a:solidFill>
                          <a:latin typeface="Be Vietnam Pro"/>
                        </a:rPr>
                        <a:t>위치</a:t>
                      </a:r>
                    </a:p>
                  </a:txBody>
                  <a:tcPr marL="82296" marR="82296" marT="27432" marB="27432" anchor="ctr">
                    <a:solidFill>
                      <a:srgbClr val="EEE8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4C4842"/>
                          </a:solidFill>
                          <a:latin typeface="Be Vietnam Pro"/>
                        </a:rPr>
                        <a:t>상태</a:t>
                      </a:r>
                    </a:p>
                  </a:txBody>
                  <a:tcPr marL="82296" marR="82296" marT="27432" marB="27432" anchor="ctr">
                    <a:solidFill>
                      <a:srgbClr val="EEE8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4C4842"/>
                          </a:solidFill>
                          <a:latin typeface="Be Vietnam Pro"/>
                        </a:rPr>
                        <a:t>주의</a:t>
                      </a:r>
                    </a:p>
                  </a:txBody>
                  <a:tcPr marL="82296" marR="82296" marT="27432" marB="27432" anchor="ctr">
                    <a:solidFill>
                      <a:srgbClr val="EEE8DD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4C4842"/>
                          </a:solidFill>
                          <a:latin typeface="Be Vietnam Pro"/>
                        </a:rPr>
                        <a:t>광고·네이티브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4C4842"/>
                          </a:solidFill>
                          <a:latin typeface="Be Vietnam Pro"/>
                        </a:rPr>
                        <a:t>외부 웹만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4C4842"/>
                          </a:solidFill>
                          <a:latin typeface="Be Vietnam Pro"/>
                        </a:rPr>
                        <a:t>구현(대기)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1B1A17"/>
                          </a:solidFill>
                          <a:latin typeface="Be Vietnam Pro"/>
                        </a:rPr>
                        <a:t>내부엔 광고 없음 · 수익은 협회 배분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4C4842"/>
                          </a:solidFill>
                          <a:latin typeface="Be Vietnam Pro"/>
                        </a:rPr>
                        <a:t>후원 중개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4C4842"/>
                          </a:solidFill>
                          <a:latin typeface="Be Vietnam Pro"/>
                        </a:rPr>
                        <a:t>외부+회원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4C4842"/>
                          </a:solidFill>
                          <a:latin typeface="Be Vietnam Pro"/>
                        </a:rPr>
                        <a:t>구현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1B1A17"/>
                          </a:solidFill>
                          <a:latin typeface="Be Vietnam Pro"/>
                        </a:rPr>
                        <a:t>소개만 · 자금 미경유 · 미성년 제외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4C4842"/>
                          </a:solidFill>
                          <a:latin typeface="Be Vietnam Pro"/>
                        </a:rPr>
                        <a:t>참가비·수수료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4C4842"/>
                          </a:solidFill>
                          <a:latin typeface="Be Vietnam Pro"/>
                        </a:rPr>
                        <a:t>내부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4C4842"/>
                          </a:solidFill>
                          <a:latin typeface="Be Vietnam Pro"/>
                        </a:rPr>
                        <a:t>구현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4C4842"/>
                          </a:solidFill>
                          <a:latin typeface="Be Vietnam Pro"/>
                        </a:rPr>
                        <a:t>PG 수수료만, 자금 미보유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777240" y="4087368"/>
            <a:ext cx="10637215" cy="1051560"/>
          </a:xfrm>
          <a:prstGeom prst="rect">
            <a:avLst/>
          </a:prstGeom>
          <a:solidFill>
            <a:srgbClr val="F0E7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4087368"/>
            <a:ext cx="45720" cy="1051560"/>
          </a:xfrm>
          <a:prstGeom prst="rect">
            <a:avLst/>
          </a:prstGeom>
          <a:solidFill>
            <a:srgbClr val="9A72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4206240"/>
            <a:ext cx="1023487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1">
                <a:solidFill>
                  <a:srgbClr val="9A7212"/>
                </a:solidFill>
                <a:latin typeface="Consolas"/>
              </a:rPr>
              <a:t>대외 비공개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" y="4453128"/>
            <a:ext cx="10234879" cy="576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1B1A17"/>
                </a:solidFill>
                <a:latin typeface="Be Vietnam Pro"/>
              </a:rPr>
              <a:t>스포츠 토토(한국 KSPO 모델)는 내부 검토만 하고 대외 문서·화면·미팅에서 언급하지 않는다. 초기에 거론되면 정부 협력 자체가 위태로워진다. 공식 지정 시 유지보수 재원을 부처와 합의한다.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6355080"/>
            <a:ext cx="1063721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847C70"/>
                </a:solidFill>
                <a:latin typeface="Consolas"/>
              </a:rPr>
              <a:t>Vietnam Sports Platform · 사업계획서 v1.1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00055" y="6355080"/>
            <a:ext cx="914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47C70"/>
                </a:solidFill>
                <a:latin typeface="Consola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57200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B5341F"/>
                </a:solidFill>
                <a:latin typeface="Consolas"/>
              </a:rPr>
              <a:t>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31520"/>
            <a:ext cx="1063721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700" b="1">
                <a:solidFill>
                  <a:srgbClr val="1B1A17"/>
                </a:solidFill>
                <a:latin typeface="Be Vietnam Pro"/>
              </a:rPr>
              <a:t>법·보안·공식 지정 조건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417320"/>
            <a:ext cx="10637215" cy="19050"/>
          </a:xfrm>
          <a:prstGeom prst="rect">
            <a:avLst/>
          </a:prstGeom>
          <a:solidFill>
            <a:srgbClr val="B53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536192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4C4842"/>
                </a:solidFill>
                <a:latin typeface="Be Vietnam Pro"/>
              </a:rPr>
              <a:t>핵심 규제는 이미 반영, 심사는 착수 필요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77240" y="1965960"/>
          <a:ext cx="10637214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58794"/>
                <a:gridCol w="2978420"/>
              </a:tblGrid>
              <a:tr h="36576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4C4842"/>
                          </a:solidFill>
                          <a:latin typeface="Be Vietnam Pro"/>
                        </a:rPr>
                        <a:t>항목</a:t>
                      </a:r>
                    </a:p>
                  </a:txBody>
                  <a:tcPr marL="82296" marR="82296" marT="27432" marB="27432" anchor="ctr">
                    <a:solidFill>
                      <a:srgbClr val="EEE8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4C4842"/>
                          </a:solidFill>
                          <a:latin typeface="Be Vietnam Pro"/>
                        </a:rPr>
                        <a:t>상태</a:t>
                      </a:r>
                    </a:p>
                  </a:txBody>
                  <a:tcPr marL="82296" marR="82296" marT="27432" marB="27432" anchor="ctr">
                    <a:solidFill>
                      <a:srgbClr val="EEE8DD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4C4842"/>
                          </a:solidFill>
                          <a:latin typeface="Be Vietnam Pro"/>
                        </a:rPr>
                        <a:t>자금 흐름(납부자→PG→협회) · 시행령 52/2024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1B1A17"/>
                          </a:solidFill>
                          <a:latin typeface="Be Vietnam Pro"/>
                        </a:rPr>
                        <a:t>반영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4C4842"/>
                          </a:solidFill>
                          <a:latin typeface="Be Vietnam Pro"/>
                        </a:rPr>
                        <a:t>CCCD 해시만 · 생년만 공개 · 만18세 미만 보호 · 13/2023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1B1A17"/>
                          </a:solidFill>
                          <a:latin typeface="Be Vietnam Pro"/>
                        </a:rPr>
                        <a:t>구현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4C4842"/>
                          </a:solidFill>
                          <a:latin typeface="Be Vietnam Pro"/>
                        </a:rPr>
                        <a:t>첨부 열람 통제 · 감사로그 · 대회 10일 법정기한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1B1A17"/>
                          </a:solidFill>
                          <a:latin typeface="Be Vietnam Pro"/>
                        </a:rPr>
                        <a:t>구현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4C4842"/>
                          </a:solidFill>
                          <a:latin typeface="Be Vietnam Pro"/>
                        </a:rPr>
                        <a:t>데이터 국내보관 · 개인정보 영향평가 · 정보보안 심사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050" b="0">
                          <a:solidFill>
                            <a:srgbClr val="4C4842"/>
                          </a:solidFill>
                          <a:latin typeface="Be Vietnam Pro"/>
                        </a:rPr>
                        <a:t>확인·착수 필요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777240" y="4636008"/>
            <a:ext cx="10637215" cy="1051560"/>
          </a:xfrm>
          <a:prstGeom prst="rect">
            <a:avLst/>
          </a:prstGeom>
          <a:solidFill>
            <a:srgbClr val="F4D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4636008"/>
            <a:ext cx="45720" cy="1051560"/>
          </a:xfrm>
          <a:prstGeom prst="rect">
            <a:avLst/>
          </a:prstGeom>
          <a:solidFill>
            <a:srgbClr val="B53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4754880"/>
            <a:ext cx="1023487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1">
                <a:solidFill>
                  <a:srgbClr val="B5341F"/>
                </a:solidFill>
                <a:latin typeface="Consolas"/>
              </a:rPr>
              <a:t>공식 시스템 지정 조건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" y="5001768"/>
            <a:ext cx="10234879" cy="576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1B1A17"/>
                </a:solidFill>
                <a:latin typeface="Be Vietnam Pro"/>
              </a:rPr>
              <a:t>① 법적 근거(결정문 명시) ② 표준 서식 지정 ③ 정보보안 심사 ④ 데이터 소유권·운영주체 합의(문서로) ⑤ 국내 호스팅 ⑥ 국가 시스템 연동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6355080"/>
            <a:ext cx="1063721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847C70"/>
                </a:solidFill>
                <a:latin typeface="Consolas"/>
              </a:rPr>
              <a:t>Vietnam Sports Platform · 사업계획서 v1.1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00055" y="6355080"/>
            <a:ext cx="914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47C70"/>
                </a:solidFill>
                <a:latin typeface="Consola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57200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B5341F"/>
                </a:solidFill>
                <a:latin typeface="Consolas"/>
              </a:rPr>
              <a:t>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31520"/>
            <a:ext cx="1063721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700" b="1">
                <a:solidFill>
                  <a:srgbClr val="1B1A17"/>
                </a:solidFill>
                <a:latin typeface="Be Vietnam Pro"/>
              </a:rPr>
              <a:t>리스크와 대응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417320"/>
            <a:ext cx="10637215" cy="19050"/>
          </a:xfrm>
          <a:prstGeom prst="rect">
            <a:avLst/>
          </a:prstGeom>
          <a:solidFill>
            <a:srgbClr val="B53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536192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4C4842"/>
                </a:solidFill>
                <a:latin typeface="Be Vietnam Pro"/>
              </a:rPr>
              <a:t>가장 큰 병목은 개발이 아니라 공식 서식 수령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77240" y="1965960"/>
          <a:ext cx="10637214" cy="37673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42141"/>
                <a:gridCol w="6595073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4C4842"/>
                          </a:solidFill>
                          <a:latin typeface="Be Vietnam Pro"/>
                        </a:rPr>
                        <a:t>리스크</a:t>
                      </a:r>
                    </a:p>
                  </a:txBody>
                  <a:tcPr marL="82296" marR="82296" marT="27432" marB="27432" anchor="ctr">
                    <a:solidFill>
                      <a:srgbClr val="EEE8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4C4842"/>
                          </a:solidFill>
                          <a:latin typeface="Be Vietnam Pro"/>
                        </a:rPr>
                        <a:t>대응</a:t>
                      </a:r>
                    </a:p>
                  </a:txBody>
                  <a:tcPr marL="82296" marR="82296" marT="27432" marB="27432" anchor="ctr">
                    <a:solidFill>
                      <a:srgbClr val="EEE8DD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1B1A17"/>
                          </a:solidFill>
                          <a:latin typeface="Be Vietnam Pro"/>
                        </a:rPr>
                        <a:t>공식 서식이 안 온다 (최대 병목)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4C4842"/>
                          </a:solidFill>
                          <a:latin typeface="Be Vietnam Pro"/>
                        </a:rPr>
                        <a:t>미팅 연락에 요청 동봉 · 화면 사진이라도 확보 · 추정 서식 후 교체 · AI 등록이 입력 부담 완화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4C4842"/>
                          </a:solidFill>
                          <a:latin typeface="Be Vietnam Pro"/>
                        </a:rPr>
                        <a:t>국가 시스템과 중복 구현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4C4842"/>
                          </a:solidFill>
                          <a:latin typeface="Be Vietnam Pro"/>
                        </a:rPr>
                        <a:t>대회개최 등은 국가 포털과 연동, 중복 금지 (P1 확인)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4C4842"/>
                          </a:solidFill>
                          <a:latin typeface="Be Vietnam Pro"/>
                        </a:rPr>
                        <a:t>범위 확대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4C4842"/>
                          </a:solidFill>
                          <a:latin typeface="Be Vietnam Pro"/>
                        </a:rPr>
                        <a:t>1차 범위 문서 합의 · 결정 의존 기능은 미팅 후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4C4842"/>
                          </a:solidFill>
                          <a:latin typeface="Be Vietnam Pro"/>
                        </a:rPr>
                        <a:t>데이터 소유권 분쟁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4C4842"/>
                          </a:solidFill>
                          <a:latin typeface="Be Vietnam Pro"/>
                        </a:rPr>
                        <a:t>미팅에서 문서로 못 박음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4C4842"/>
                          </a:solidFill>
                          <a:latin typeface="Be Vietnam Pro"/>
                        </a:rPr>
                        <a:t>현지 용어 오류(공문 무효)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4C4842"/>
                          </a:solidFill>
                          <a:latin typeface="Be Vietnam Pro"/>
                        </a:rPr>
                        <a:t>원어민 검수를 개발과 동시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4C4842"/>
                          </a:solidFill>
                          <a:latin typeface="Be Vietnam Pro"/>
                        </a:rPr>
                        <a:t>인력 이탈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4C4842"/>
                          </a:solidFill>
                          <a:latin typeface="Be Vietnam Pro"/>
                        </a:rPr>
                        <a:t>문서화(01~19) + 테스트·CI로 회귀 방지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77240" y="6355080"/>
            <a:ext cx="1063721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847C70"/>
                </a:solidFill>
                <a:latin typeface="Consolas"/>
              </a:rPr>
              <a:t>Vietnam Sports Platform · 사업계획서 v1.1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00055" y="6355080"/>
            <a:ext cx="914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47C70"/>
                </a:solidFill>
                <a:latin typeface="Consolas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57200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B5341F"/>
                </a:solidFill>
                <a:latin typeface="Consolas"/>
              </a:rPr>
              <a:t>부록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31520"/>
            <a:ext cx="1063721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700" b="1">
                <a:solidFill>
                  <a:srgbClr val="1B1A17"/>
                </a:solidFill>
                <a:latin typeface="Be Vietnam Pro"/>
              </a:rPr>
              <a:t>실제 화면 — 대외 웹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417320"/>
            <a:ext cx="10637215" cy="19050"/>
          </a:xfrm>
          <a:prstGeom prst="rect">
            <a:avLst/>
          </a:prstGeom>
          <a:solidFill>
            <a:srgbClr val="B53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536192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4C4842"/>
                </a:solidFill>
                <a:latin typeface="Be Vietnam Pro"/>
              </a:rPr>
              <a:t>베트남어(vi) · 데스크톱 · 데모 데이터로 렌더된 실제 화면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74519"/>
            <a:ext cx="521802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B5341F"/>
                </a:solidFill>
                <a:latin typeface="Be Vietnam Pro"/>
              </a:rPr>
              <a:t>홈 — 광고·통계·43종목·순위</a:t>
            </a:r>
          </a:p>
        </p:txBody>
      </p:sp>
      <p:pic>
        <p:nvPicPr>
          <p:cNvPr id="7" name="Picture 6" descr="01-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1274" y="2148839"/>
            <a:ext cx="909954" cy="1888236"/>
          </a:xfrm>
          <a:prstGeom prst="rect">
            <a:avLst/>
          </a:prstGeom>
          <a:ln w="9525">
            <a:solidFill>
              <a:srgbClr val="D9D1C2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6196431" y="1874519"/>
            <a:ext cx="521802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B5341F"/>
                </a:solidFill>
                <a:latin typeface="Be Vietnam Pro"/>
              </a:rPr>
              <a:t>경기 — 상태 배지(예정/진행/종료)</a:t>
            </a:r>
          </a:p>
        </p:txBody>
      </p:sp>
      <p:pic>
        <p:nvPicPr>
          <p:cNvPr id="9" name="Picture 8" descr="02-score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5293" y="2148839"/>
            <a:ext cx="2400300" cy="1888236"/>
          </a:xfrm>
          <a:prstGeom prst="rect">
            <a:avLst/>
          </a:prstGeom>
          <a:ln w="9525">
            <a:solidFill>
              <a:srgbClr val="D9D1C2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777240" y="4238243"/>
            <a:ext cx="521802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B5341F"/>
                </a:solidFill>
                <a:latin typeface="Be Vietnam Pro"/>
              </a:rPr>
              <a:t>경기상세 — 문자중계 타임라인</a:t>
            </a:r>
          </a:p>
        </p:txBody>
      </p:sp>
      <p:pic>
        <p:nvPicPr>
          <p:cNvPr id="11" name="Picture 10" descr="04-match-rela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75663" y="4512563"/>
            <a:ext cx="3021177" cy="1888236"/>
          </a:xfrm>
          <a:prstGeom prst="rect">
            <a:avLst/>
          </a:prstGeom>
          <a:ln w="9525">
            <a:solidFill>
              <a:srgbClr val="D9D1C2"/>
            </a:solidFill>
          </a:ln>
        </p:spPr>
      </p:pic>
      <p:sp>
        <p:nvSpPr>
          <p:cNvPr id="12" name="TextBox 11"/>
          <p:cNvSpPr txBox="1"/>
          <p:nvPr/>
        </p:nvSpPr>
        <p:spPr>
          <a:xfrm>
            <a:off x="6196431" y="4238243"/>
            <a:ext cx="521802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B5341F"/>
                </a:solidFill>
                <a:latin typeface="Be Vietnam Pro"/>
              </a:rPr>
              <a:t>순위 — 팀/득점 순위판</a:t>
            </a:r>
          </a:p>
        </p:txBody>
      </p:sp>
      <p:pic>
        <p:nvPicPr>
          <p:cNvPr id="13" name="Picture 12" descr="05-ranking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94854" y="4512563"/>
            <a:ext cx="3021177" cy="1888236"/>
          </a:xfrm>
          <a:prstGeom prst="rect">
            <a:avLst/>
          </a:prstGeom>
          <a:ln w="9525">
            <a:solidFill>
              <a:srgbClr val="D9D1C2"/>
            </a:solidFill>
          </a:ln>
        </p:spPr>
      </p:pic>
      <p:sp>
        <p:nvSpPr>
          <p:cNvPr id="14" name="TextBox 13"/>
          <p:cNvSpPr txBox="1"/>
          <p:nvPr/>
        </p:nvSpPr>
        <p:spPr>
          <a:xfrm>
            <a:off x="777240" y="6355080"/>
            <a:ext cx="1063721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847C70"/>
                </a:solidFill>
                <a:latin typeface="Consolas"/>
              </a:rPr>
              <a:t>Vietnam Sports Platform · 사업계획서 v1.1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00055" y="6355080"/>
            <a:ext cx="914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47C70"/>
                </a:solidFill>
                <a:latin typeface="Consolas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57200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B5341F"/>
                </a:solidFill>
                <a:latin typeface="Consolas"/>
              </a:rPr>
              <a:t>부록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31520"/>
            <a:ext cx="1063721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700" b="1">
                <a:solidFill>
                  <a:srgbClr val="1B1A17"/>
                </a:solidFill>
                <a:latin typeface="Be Vietnam Pro"/>
              </a:rPr>
              <a:t>실제 화면 — 후원·단체·대시보드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417320"/>
            <a:ext cx="10637215" cy="19050"/>
          </a:xfrm>
          <a:prstGeom prst="rect">
            <a:avLst/>
          </a:prstGeom>
          <a:solidFill>
            <a:srgbClr val="B53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874519"/>
            <a:ext cx="341162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B5341F"/>
                </a:solidFill>
                <a:latin typeface="Be Vietnam Pro"/>
              </a:rPr>
              <a:t>후원 쇼케이스(연락처 비공개)</a:t>
            </a:r>
          </a:p>
        </p:txBody>
      </p:sp>
      <p:pic>
        <p:nvPicPr>
          <p:cNvPr id="6" name="Picture 5" descr="06-sponsorshi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208686"/>
            <a:ext cx="3411626" cy="2132266"/>
          </a:xfrm>
          <a:prstGeom prst="rect">
            <a:avLst/>
          </a:prstGeom>
          <a:ln w="9525">
            <a:solidFill>
              <a:srgbClr val="D9D1C2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4390034" y="1874519"/>
            <a:ext cx="341162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B5341F"/>
                </a:solidFill>
                <a:latin typeface="Be Vietnam Pro"/>
              </a:rPr>
              <a:t>단체 디렉토리(성/시 개수 배지)</a:t>
            </a:r>
          </a:p>
        </p:txBody>
      </p:sp>
      <p:pic>
        <p:nvPicPr>
          <p:cNvPr id="8" name="Picture 7" descr="07-org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0034" y="3208686"/>
            <a:ext cx="3411626" cy="2132266"/>
          </a:xfrm>
          <a:prstGeom prst="rect">
            <a:avLst/>
          </a:prstGeom>
          <a:ln w="9525">
            <a:solidFill>
              <a:srgbClr val="D9D1C2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8002828" y="1874519"/>
            <a:ext cx="341162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B5341F"/>
                </a:solidFill>
                <a:latin typeface="Be Vietnam Pro"/>
              </a:rPr>
              <a:t>내부 업무 대시보드</a:t>
            </a:r>
          </a:p>
        </p:txBody>
      </p:sp>
      <p:pic>
        <p:nvPicPr>
          <p:cNvPr id="10" name="Picture 9" descr="08-admin-dashboar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2828" y="2936242"/>
            <a:ext cx="3411626" cy="2677153"/>
          </a:xfrm>
          <a:prstGeom prst="rect">
            <a:avLst/>
          </a:prstGeom>
          <a:ln w="9525">
            <a:solidFill>
              <a:srgbClr val="D9D1C2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777240" y="6355080"/>
            <a:ext cx="1063721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847C70"/>
                </a:solidFill>
                <a:latin typeface="Consolas"/>
              </a:rPr>
              <a:t>Vietnam Sports Platform · 사업계획서 v1.1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00055" y="6355080"/>
            <a:ext cx="914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47C70"/>
                </a:solidFill>
                <a:latin typeface="Consolas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57200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B5341F"/>
                </a:solidFill>
                <a:latin typeface="Consolas"/>
              </a:rPr>
              <a:t>부록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31520"/>
            <a:ext cx="1063721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700" b="1">
                <a:solidFill>
                  <a:srgbClr val="1B1A17"/>
                </a:solidFill>
                <a:latin typeface="Be Vietnam Pro"/>
              </a:rPr>
              <a:t>실제 화면 — AI 서류 자동등록 (핵심)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417320"/>
            <a:ext cx="10637215" cy="19050"/>
          </a:xfrm>
          <a:prstGeom prst="rect">
            <a:avLst/>
          </a:prstGeom>
          <a:solidFill>
            <a:srgbClr val="B53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536192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4C4842"/>
                </a:solidFill>
                <a:latin typeface="Be Vietnam Pro"/>
              </a:rPr>
              <a:t>서류 → AI 초안 → 사람 확정 → 전자결재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74519"/>
            <a:ext cx="521802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B5341F"/>
                </a:solidFill>
                <a:latin typeface="Be Vietnam Pro"/>
              </a:rPr>
              <a:t>AI 등록 대기함 — 신뢰도 88%</a:t>
            </a:r>
          </a:p>
        </p:txBody>
      </p:sp>
      <p:pic>
        <p:nvPicPr>
          <p:cNvPr id="7" name="Picture 6" descr="09-admin-ing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644187"/>
            <a:ext cx="5218023" cy="3261264"/>
          </a:xfrm>
          <a:prstGeom prst="rect">
            <a:avLst/>
          </a:prstGeom>
          <a:ln w="9525">
            <a:solidFill>
              <a:srgbClr val="D9D1C2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6196431" y="1874519"/>
            <a:ext cx="521802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B5341F"/>
                </a:solidFill>
                <a:latin typeface="Be Vietnam Pro"/>
              </a:rPr>
              <a:t>AI 검토 — 항목별 신뢰도 배지</a:t>
            </a:r>
          </a:p>
        </p:txBody>
      </p:sp>
      <p:pic>
        <p:nvPicPr>
          <p:cNvPr id="9" name="Picture 8" descr="10-admin-ingest-re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6431" y="2644187"/>
            <a:ext cx="5218023" cy="3261264"/>
          </a:xfrm>
          <a:prstGeom prst="rect">
            <a:avLst/>
          </a:prstGeom>
          <a:ln w="9525">
            <a:solidFill>
              <a:srgbClr val="D9D1C2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777240" y="6355080"/>
            <a:ext cx="1063721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847C70"/>
                </a:solidFill>
                <a:latin typeface="Consolas"/>
              </a:rPr>
              <a:t>Vietnam Sports Platform · 사업계획서 v1.1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00055" y="6355080"/>
            <a:ext cx="914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47C70"/>
                </a:solidFill>
                <a:latin typeface="Consolas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57200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B5341F"/>
                </a:solidFill>
                <a:latin typeface="Consolas"/>
              </a:rPr>
              <a:t>부록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31520"/>
            <a:ext cx="1063721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700" b="1">
                <a:solidFill>
                  <a:srgbClr val="1B1A17"/>
                </a:solidFill>
                <a:latin typeface="Be Vietnam Pro"/>
              </a:rPr>
              <a:t>실제 화면 — 콘텐츠·팬투표·광고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417320"/>
            <a:ext cx="10637215" cy="19050"/>
          </a:xfrm>
          <a:prstGeom prst="rect">
            <a:avLst/>
          </a:prstGeom>
          <a:solidFill>
            <a:srgbClr val="B53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874519"/>
            <a:ext cx="341162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B5341F"/>
                </a:solidFill>
                <a:latin typeface="Be Vietnam Pro"/>
              </a:rPr>
              <a:t>콘텐츠·기사검수·기자자격</a:t>
            </a:r>
          </a:p>
        </p:txBody>
      </p:sp>
      <p:pic>
        <p:nvPicPr>
          <p:cNvPr id="6" name="Picture 5" descr="11-admin-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208686"/>
            <a:ext cx="3411626" cy="2132266"/>
          </a:xfrm>
          <a:prstGeom prst="rect">
            <a:avLst/>
          </a:prstGeom>
          <a:ln w="9525">
            <a:solidFill>
              <a:srgbClr val="D9D1C2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4390034" y="1874519"/>
            <a:ext cx="341162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B5341F"/>
                </a:solidFill>
                <a:latin typeface="Be Vietnam Pro"/>
              </a:rPr>
              <a:t>팬 투표(MVP) 관리</a:t>
            </a:r>
          </a:p>
        </p:txBody>
      </p:sp>
      <p:pic>
        <p:nvPicPr>
          <p:cNvPr id="8" name="Picture 7" descr="12-admin-poll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0034" y="3208686"/>
            <a:ext cx="3411626" cy="2132266"/>
          </a:xfrm>
          <a:prstGeom prst="rect">
            <a:avLst/>
          </a:prstGeom>
          <a:ln w="9525">
            <a:solidFill>
              <a:srgbClr val="D9D1C2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8002828" y="1874519"/>
            <a:ext cx="341162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B5341F"/>
                </a:solidFill>
                <a:latin typeface="Be Vietnam Pro"/>
              </a:rPr>
              <a:t>광고 지면·수익 배분</a:t>
            </a:r>
          </a:p>
        </p:txBody>
      </p:sp>
      <p:pic>
        <p:nvPicPr>
          <p:cNvPr id="10" name="Picture 9" descr="13-admin-ad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2828" y="3208686"/>
            <a:ext cx="3411626" cy="2132266"/>
          </a:xfrm>
          <a:prstGeom prst="rect">
            <a:avLst/>
          </a:prstGeom>
          <a:ln w="9525">
            <a:solidFill>
              <a:srgbClr val="D9D1C2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777240" y="6355080"/>
            <a:ext cx="1063721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847C70"/>
                </a:solidFill>
                <a:latin typeface="Consolas"/>
              </a:rPr>
              <a:t>Vietnam Sports Platform · 사업계획서 v1.1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00055" y="6355080"/>
            <a:ext cx="914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47C70"/>
                </a:solidFill>
                <a:latin typeface="Consolas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A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822960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CC9988"/>
                </a:solidFill>
                <a:latin typeface="Consolas"/>
              </a:rPr>
              <a:t>다음 단계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234440"/>
            <a:ext cx="1063721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FFFFFF"/>
                </a:solidFill>
                <a:latin typeface="Be Vietnam Pro"/>
              </a:rPr>
              <a:t>문체부에 1차로 요청할 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468880"/>
            <a:ext cx="1005840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1800" b="0">
                <a:solidFill>
                  <a:srgbClr val="EEE6E0"/>
                </a:solidFill>
                <a:latin typeface="Be Vietnam Pro"/>
              </a:rPr>
              <a:t>•  서식 3종 — 선수등록 · 대회개최 · 사업계획 (원본 Word/Excel)</a:t>
            </a:r>
          </a:p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1800" b="0">
                <a:solidFill>
                  <a:srgbClr val="EEE6E0"/>
                </a:solidFill>
                <a:latin typeface="Be Vietnam Pro"/>
              </a:rPr>
              <a:t>•  34개 성/시 코드표 (결의 202/2025 기준)</a:t>
            </a:r>
          </a:p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1800" b="0">
                <a:solidFill>
                  <a:srgbClr val="EEE6E0"/>
                </a:solidFill>
                <a:latin typeface="Be Vietnam Pro"/>
              </a:rPr>
              <a:t>•  국가 종목단체 정식 명단 (VOC 회원)</a:t>
            </a:r>
          </a:p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1800" b="0">
                <a:solidFill>
                  <a:srgbClr val="EEE6E0"/>
                </a:solidFill>
                <a:latin typeface="Be Vietnam Pro"/>
              </a:rPr>
              <a:t>•  체육회 조직도 · 보고·승인 체계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5486400"/>
            <a:ext cx="2926080" cy="25400"/>
          </a:xfrm>
          <a:prstGeom prst="rect">
            <a:avLst/>
          </a:prstGeom>
          <a:solidFill>
            <a:srgbClr val="B53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5623560"/>
            <a:ext cx="106372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AA9999"/>
                </a:solidFill>
                <a:latin typeface="Consolas"/>
              </a:rPr>
              <a:t>완성본은 준비됐다 — 서식이 도착하면 폼 편집기로 건당 1~2시간에 반영. 개발이 아니라 수령이 병목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355080"/>
            <a:ext cx="1063721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847C70"/>
                </a:solidFill>
                <a:latin typeface="Consolas"/>
              </a:rPr>
              <a:t>Vietnam Sports Platform · 사업계획서 v1.1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00055" y="6355080"/>
            <a:ext cx="914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47C70"/>
                </a:solidFill>
                <a:latin typeface="Consolas"/>
              </a:rPr>
              <a:t>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