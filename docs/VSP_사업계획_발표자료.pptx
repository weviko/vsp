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C4D8"/>
                </a:solidFill>
                <a:latin typeface="Consolas"/>
              </a:rPr>
              <a:t>VIETNAM SPORTS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FFFFFF"/>
                </a:solidFill>
                <a:latin typeface="맑은 고딕"/>
              </a:rPr>
              <a:t>베트남 스포츠 통합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C6D4E0"/>
                </a:solidFill>
                <a:latin typeface="맑은 고딕"/>
              </a:rPr>
              <a:t>체육 행정과 대중 미디어를 하나로 묶어</a:t>
            </a:r>
          </a:p>
          <a:p>
            <a:pPr algn="l">
              <a:lnSpc>
                <a:spcPct val="135000"/>
              </a:lnSpc>
            </a:pPr>
            <a:r>
              <a:rPr sz="2000" b="0">
                <a:solidFill>
                  <a:srgbClr val="C6D4E0"/>
                </a:solidFill>
                <a:latin typeface="맑은 고딕"/>
              </a:rPr>
              <a:t>베트남 체육의 공식 인프라가 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2011680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FB0C0"/>
                </a:solidFill>
                <a:latin typeface="Consolas"/>
              </a:rPr>
              <a:t>사업계획 보고 · v0.9 (검토용)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9FB0C0"/>
                </a:solidFill>
                <a:latin typeface="Consolas"/>
              </a:rPr>
              <a:t>2026년 9월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한 장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488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770632"/>
            <a:ext cx="1719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2025년 통합 후 성·시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21488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2295144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10일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770632"/>
            <a:ext cx="1719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대회 승인 법정 기한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02936" y="21488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295144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4,200만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70632"/>
            <a:ext cx="1719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FIFA Connect 발급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5784" y="21488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2295144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2088" y="2770632"/>
            <a:ext cx="1719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구축된 화면 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28632" y="21488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2295144"/>
            <a:ext cx="171907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E5C7A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4936" y="2770632"/>
            <a:ext cx="1719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6586B"/>
                </a:solidFill>
                <a:latin typeface="맑은 고딕"/>
              </a:rPr>
              <a:t>지원 언어 vi/en/ko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77240" y="3566160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618"/>
                <a:gridCol w="8591596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6586B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시작 경위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베트남 측 요청으로 시작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목표 지위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베트남 체육 공식 시스템 지정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전 종목 일괄 — 중앙 체육회가 표준 서식을 협회에 지정·강제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현재 단계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동작하는 시스템 구축 완료 (기획서가 아니라 실물)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다음 단계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문체부 협의 → 요구사항 반영 → IT팀 확장·디자인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베트남에는 체육 행정 시스템이 존재하지 않는다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10637214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312"/>
                <a:gridCol w="2659303"/>
                <a:gridCol w="4077599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베트남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선수·지도자·심판 통합 등록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온라인 다단계 승인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없음 — 연맹별 종이·엑셀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통합 선수 DB·검색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전자결재·전자보고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없음 — 공문·직인·우편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대회 승인·엔트리·기록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있음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오프라인 절차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예산·정산 온라인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e나라도움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경영공시(투명성)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의무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대중용 스포츠 미디어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민간(네이버)이 담당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공백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532120"/>
            <a:ext cx="10637215" cy="749808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532120"/>
            <a:ext cx="41148" cy="749808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67842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핵심 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934456"/>
            <a:ext cx="101983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한국은 이미 만들어진 여러 시스템을 통합해야 하는 문제를 안고 있고, 베트남은 백지에서 통합 설계할 수 있는 기회를 갖고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왜 지금인가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세 가지 시점적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063721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41148" cy="1170432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5C7A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95728"/>
            <a:ext cx="8686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맑은 고딕"/>
              </a:rPr>
              <a:t>행정 시스템의 부재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70632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선수 등록·대회 승인·예산 정산이 전부 종이와 엑셀로 이루어진다.
만드는 사람이 곧 표준이 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75304"/>
            <a:ext cx="1063721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575304"/>
            <a:ext cx="41148" cy="1170432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5818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5C7A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30752"/>
            <a:ext cx="8686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맑은 고딕"/>
              </a:rPr>
              <a:t>행정구역 대개편 직후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10565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2025년 7월 63개 → 34개로 통합되었다. 지방 체육 조직이 재편 중이며,
지금이 새 체계로 데이터를 정리할 수 있는 유일한 시기다.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10328"/>
            <a:ext cx="1063721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910328"/>
            <a:ext cx="41148" cy="1170432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09320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5C7A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65776"/>
            <a:ext cx="8686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맑은 고딕"/>
              </a:rPr>
              <a:t>결제·인증 인프라 성숙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4068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VNPAY·MoMo·전자세금계산서·VNeID가 모두 갖춰져,
한국이 20년에 걸쳐 만든 것을 단번에 조립할 수 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벤치마크 — 대한민국 대한체육회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60여 년에 걸쳐 완성된 체육 행정 체계를 실사했다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5852160" cy="228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5449824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문화체육관광부 (예산·법령·감독)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└─ 대한체육회 ── 회원종목단체 80개 + 준회원 4개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      ├─ 시도종목단체 (17개 시도)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      ├─ 시도체육회 → 시군구체육회 (228개)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      └─ 해외한인체육단체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└─ 국민체육진흥공단 (스포츠토토 수익으로 재원)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2103120"/>
            <a:ext cx="4434840" cy="228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0608" y="2267712"/>
            <a:ext cx="4032504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[경기인 등록 흐름]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본인인증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→ 교육 이수 (인권·도핑) ※ 필수 선행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→ 신청서 작성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→ ① 시도종목단체 승인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→ ② 중앙 종목단체 최종 승인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  → 증명서 발급 → 출전 자격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617720"/>
            <a:ext cx="5120640" cy="137160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617720"/>
            <a:ext cx="41148" cy="13716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76402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배울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5020056"/>
            <a:ext cx="46817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정보공개·경영공시가 독립 대분류이고, 등록현황이 대중에 공개되며, 증명서 발급만큼 검증(진위확인)이 중요하게 다뤄진다.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617720"/>
            <a:ext cx="5120640" cy="1371600"/>
          </a:xfrm>
          <a:prstGeom prst="rect">
            <a:avLst/>
          </a:prstGeom>
          <a:solidFill>
            <a:srgbClr val="FB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617720"/>
            <a:ext cx="41148" cy="1371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476402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2410C"/>
                </a:solidFill>
                <a:latin typeface="Consolas"/>
              </a:rPr>
              <a:t>고칠 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5020056"/>
            <a:ext cx="46817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사이트가 3개로 분리되어 혼란스럽고, 행정과 미디어가 완전히 갈라져 대중 트래픽이 체육회로 오지 않는다.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해법 — 하나의 플랫폼, 두 개의 얼굴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03120"/>
            <a:ext cx="1063721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41148" cy="16002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5C7A"/>
                </a:solidFill>
                <a:latin typeface="맑은 고딕"/>
              </a:rPr>
              <a:t>공개 — 대중용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6586B"/>
                </a:solidFill>
                <a:latin typeface="맑은 고딕"/>
              </a:rPr>
              <a:t>종목 허브 · 대회 일정/결과 · 선수 프로필 · 통합검색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6586B"/>
                </a:solidFill>
                <a:latin typeface="맑은 고딕"/>
              </a:rPr>
              <a:t>뉴스 · 체육단체 · 경영공시 · 통계 현황판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7947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E5C7A"/>
                </a:solidFill>
                <a:latin typeface="맑은 고딕"/>
              </a:rPr>
              <a:t>▲  업무 화면 입력이 자동 반영 — 별도 편집 작업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06240"/>
            <a:ext cx="1063721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206240"/>
            <a:ext cx="41148" cy="1600200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맑은 고딕"/>
              </a:rPr>
              <a:t>업무 — 협회용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6586B"/>
                </a:solidFill>
                <a:latin typeface="맑은 고딕"/>
              </a:rPr>
              <a:t>조직·인원 · 경기인등록 · 증명서 · 대회 운영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46586B"/>
                </a:solidFill>
                <a:latin typeface="맑은 고딕"/>
              </a:rPr>
              <a:t>전자결재 · 전자수납 · 문서 · 보고서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7B8CA0"/>
                </a:solidFill>
                <a:latin typeface="Consolas"/>
              </a:rPr>
              <a:t>연동:  VNeID · VNPAY/MoMo · 전자서명 · 전자세금계산서 · Zalo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사업의 핵심 논리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이 루프가 이 사업의 전부다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3721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3134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04288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12E"/>
                </a:solidFill>
                <a:latin typeface="맑은 고딕"/>
              </a:rPr>
              <a:t>협회가 행정 도구를 쓴다  (수기 → 전자 전환의 편익)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16352"/>
            <a:ext cx="1063721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9352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2608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12E"/>
                </a:solidFill>
                <a:latin typeface="맑은 고딕"/>
              </a:rPr>
              <a:t>선수·대회·결과 데이터가 자동으로 쌓인다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38144"/>
            <a:ext cx="1063721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5570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12E"/>
                </a:solidFill>
                <a:latin typeface="맑은 고딕"/>
              </a:rPr>
              <a:t>대중용 페이지가 인력 투입 없이 채워진다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59936"/>
            <a:ext cx="1063721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417880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9664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12E"/>
                </a:solidFill>
                <a:latin typeface="맑은 고딕"/>
              </a:rPr>
              <a:t>팬 트래픽이 발생한다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681728"/>
            <a:ext cx="1063721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48006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9145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12E"/>
                </a:solidFill>
                <a:latin typeface="맑은 고딕"/>
              </a:rPr>
              <a:t>트래픽이 협회의 홍보 채널이 된다  →  협회가 더 열심히 입력한다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03520"/>
            <a:ext cx="1063721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542239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E5C7A"/>
                </a:solidFill>
                <a:latin typeface="Consola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13248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12E"/>
                </a:solidFill>
                <a:latin typeface="맑은 고딕"/>
              </a:rPr>
              <a:t>스폰서가 붙는다  →  협회에 수익 배분  →  이탈 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943600"/>
            <a:ext cx="10637215" cy="658368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943600"/>
            <a:ext cx="41148" cy="658368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608990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한 문장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" y="6345936"/>
            <a:ext cx="10198303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네이버 스포츠는 남이 만든 데이터를 보여주는 회사이고, VSP는 데이터를 만들게 하는 도구를 주고 그 데이터를 보여주는 회사다.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왜 전 종목 일괄이 가능한가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중앙이 표준 서식을 강제할 수 있다면 게임이 달라진다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10637214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494"/>
                <a:gridCol w="4254886"/>
                <a:gridCol w="4745834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6586B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6586B"/>
                          </a:solidFill>
                          <a:latin typeface="맑은 고딕"/>
                        </a:rPr>
                        <a:t>일반 SaaS (Bottom-Up)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6586B"/>
                          </a:solidFill>
                          <a:latin typeface="맑은 고딕"/>
                        </a:rPr>
                        <a:t>VSP (Top-Down)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서식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협회마다 다름 → 커스터마이징 지옥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중앙 표준 1종 + 종목별 확장 필드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온보딩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협회를 하나씩 설득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중앙이 공문으로 지시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개발 범위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협회 수 × 요구사항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표준 1벌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최대 위험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0">
                          <a:solidFill>
                            <a:srgbClr val="46586B"/>
                          </a:solidFill>
                          <a:latin typeface="맑은 고딕"/>
                        </a:rPr>
                        <a:t>협회가 안 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300" b="1">
                          <a:solidFill>
                            <a:srgbClr val="16212E"/>
                          </a:solidFill>
                          <a:latin typeface="맑은 고딕"/>
                        </a:rPr>
                        <a:t>표준 서식 확정이 늦어지면 전체가 멈춤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892040"/>
            <a:ext cx="10637215" cy="1280160"/>
          </a:xfrm>
          <a:prstGeom prst="rect">
            <a:avLst/>
          </a:prstGeom>
          <a:solidFill>
            <a:srgbClr val="FB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41148" cy="12801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03834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2410C"/>
                </a:solidFill>
                <a:latin typeface="Consolas"/>
              </a:rPr>
              <a:t>따라서 최우선 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294376"/>
            <a:ext cx="101983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이 사업의 최대 병목은 개발이 아니라 공식 서류 서식 확보다.
1차로 선수등록·대회개최·사업계획 세 가지만 먼저 받으면 개발이 실물에 붙는다.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정보구조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대한체육회 메뉴 체계를 이식하되 세 가지를 고쳤다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5120640" cy="3200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718304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[공개 영역]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홈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종목        종목별 허브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대회        일정(주/월/연) · 결과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선수        통합검색 · 프로필 · 랭킹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뉴스        보도자료 · 영상 · 인물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체육단체    연맹 · 경영공시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공개정보    공지 · 법령 · 통계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└─ 소개        조직 · 공정체육 · 후원사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03120"/>
            <a:ext cx="5120640" cy="3200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2267712"/>
            <a:ext cx="4718304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[업무 영역]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대시보드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내 업무     신청·활동·교육 이력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결재        결재함 · 기안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조직 / 인원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등록        경기인 6유형 · 승인 · 이적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증명서      발급 · 진위확인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대회        신청 · 대진 · 결과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├─ 수납        요금 · 미납 · 정산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└─ 콘텐츠 / 보고서 / 설정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5486400"/>
          <a:ext cx="1063721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247"/>
                <a:gridCol w="1887247"/>
                <a:gridCol w="2401951"/>
                <a:gridCol w="4460767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VSP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사이트 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3개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1개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후발주자 이점, 단일 로그인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메뉴 깊이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최대 4단계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최대 3단계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사무국 1~5명 · 모바일 중심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기자 기고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승인 기자 기고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콘텐츠 확보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법·제도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각 제도가 시스템 설계를 직접 규정한다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10637214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209"/>
                <a:gridCol w="2739888"/>
                <a:gridCol w="5802117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설계 반영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대회 개최 승인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체육법 38~40조
결정 109/QĐ-BVHTTDL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서류 접수 후 10일 내 결정
국제대회는 전년 7/1 마감 — 시스템이 자동 계산·경고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결제 라이선스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Nghị định 52/2024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수납 대행은 국가은행 라이선스 대상
→ 자금이 우리 계좌를 거치지 않는 구조로 설계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전자서명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전자거래법 · CA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자필서명+법인인감과 동등한 효력 → 종이 공문 대체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개인정보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Nghị định 13/2023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동의 이력 · 민감정보 별도 동의 · 미성년 보호자 동의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행정구역 개편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결의 202/2025/QH15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63 → 34 통합 → 조직 계층을 고정하지 않고 이력으로 관리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486400"/>
            <a:ext cx="10637215" cy="82296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486400"/>
            <a:ext cx="41148" cy="82296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63270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자금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888736"/>
            <a:ext cx="1019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납부자 → 결제사 → 협회 계좌 직접 입금. 협회가 가맹점이고 우리는 시스템 이용료를 별도 청구한다. 받아뒀다 나눠주면 라이선스 대상이 되기 때문이다.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구축 현황 — 체육회 레벨 (업무)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기획서가 아니라 이미 동작하는 시스템이다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48840"/>
          <a:ext cx="10637214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461"/>
                <a:gridCol w="9199753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전화번호 + OTP. 번호 정규화(+84/84/0 통일), 코드·토큰 해시 저장, 요청 제한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조직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무제한 계층 트리, 생성, 인원/역할 배치, 조직 통합(행정개편) 이력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등록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동적 폼 기반 신청, 서버 검증, 6개 유형(선수·지도자·심판·관리자·임원·센터)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결재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다단계 승인, 역할 기반 승인자, 반려/보완, 법정기한 초과 건 우선 표시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증명서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발급 + 검증코드 부여 (전화로 불러줄 수 있는 형식)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대회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개최신청 자동 결재 → 승인 후 공개 → 참가신청 → 대진 자동 생성 → 결과 입력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수납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요금규칙(중앙 상한 검증), 수납 건, 현금 대리입력, 미납 집계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모든 결재·발급·수납의 불변 기록 — 정부 감사·분쟁 대비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구축 현황 — 공개 영역과 개인정보 정책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48840"/>
          <a:ext cx="51206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3456432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화면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홈 / 종목 허브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예정 대회 · 종목별 통계 · 일정 · 선수 명단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대회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주간 / 월간 / 연간 일정, 결과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선수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통합검색(종목·지역·성별·이름, 성조 무시) · 프로필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체육단체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조직 디렉토리 · 경영공시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통계 현황판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등록유형별 · 종목별 · 지역별 · 연령대별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증명서 검증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로그인 없이 진위확인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2148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개인정보 보호 — 코드에 반영된 정책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2514600"/>
          <a:ext cx="51206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3456432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처리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생년월일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출생년도만 공개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신분증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원문 저장 안 함 — 해시만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연락처·건강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비공개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만 18세 미만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보호자 동의 전까지 노출 제외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동의 이력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별도 관리 (개인정보보호령)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937760"/>
            <a:ext cx="10637215" cy="91440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937760"/>
            <a:ext cx="41148" cy="9144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508406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설계 제1원칙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5340096"/>
            <a:ext cx="10198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업무 화면에서 한 번 입력한 데이터가 공개 화면에 자동으로 나타난다. 홍보를 위해 따로 글을 쓰는 일이 없어야 협회가 계속 입력한다.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검증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손으로 검토해서는 놓쳤을 결함 4건을 실제로 잡았다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10637215" cy="1417320"/>
          </a:xfrm>
          <a:prstGeom prst="rect">
            <a:avLst/>
          </a:prstGeom>
          <a:solidFill>
            <a:srgbClr val="F6F8FA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10234879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test:schema   마이그레이션 4 + 시드 3 실제 적용, 제약·인덱스·함수 확인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test:dates    날짜·수치 타입 매핑 회귀 방지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test:bracket  토너먼트(n=2~32) · 리그(n=2~10) · 부전승 · 시드 배치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test:smoke    조직→로그인→검증→신청→2단계 결재→승인→감사로그→행정구역 통합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test:event    대회생성→개최승인→참가→대진→결과→재생성 안전성→공개 노출 제어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46586B"/>
                </a:solidFill>
                <a:latin typeface="Consolas"/>
              </a:rPr>
              <a:t>→ 전부 통과 · 프로덕션 빌드 96개 화면 성공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840480"/>
          <a:ext cx="1063721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4190418"/>
                <a:gridCol w="2901058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발견한 결함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방치했다면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트랜잭션 중 다른 커넥션 사용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커밋 전 데이터를 못 봄 · 간헐적 장애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커넥션 재사용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토너먼트 1라운드만 생성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대회 당일 대진표 없음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전 라운드 + 부전승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날짜가 객체로 반환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시간대 밀림으로 날짜 하루 어긋남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문자열 고정 + 회귀 테스트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점수가 21.000으로 표시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배구 21점이 소수로 보임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종목별 소수 처리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760720"/>
            <a:ext cx="10637215" cy="713232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760720"/>
            <a:ext cx="41148" cy="713232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590702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왜 중요한가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6163056"/>
            <a:ext cx="1019830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대회 날짜가 하루 밀리거나 대회 당일 대진표가 없는 사고는 복구가 불가능하다. 제도를 다루는 시스템일수록 이런 결함이 치명적이다.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기술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협의 결과로 구조가 바뀔 것을 전제로 설계했다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10637214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7548"/>
                <a:gridCol w="4029248"/>
                <a:gridCol w="4190418"/>
              </a:tblGrid>
              <a:tr h="34747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원칙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구현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46586B"/>
                          </a:solidFill>
                          <a:latin typeface="맑은 고딕"/>
                        </a:rPr>
                        <a:t>효과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하드코딩 금지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서식·결재선·종목·부문·요금이 전부 데이터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협의 피드백을 코드 수정 없이 설정 변경으로 흡수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행정/체육 코드 분리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core-admin(조직·결재·수납) / sport-domain(종목·대회)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문화·관광·교육으로 확장 가능 — 나중에는 불가능한 결정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승인자 = 역할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사람이 아니라 역할·조직으로 지정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16212E"/>
                          </a:solidFill>
                          <a:latin typeface="맑은 고딕"/>
                        </a:rPr>
                        <a:t>담당자가 교체돼도 결재가 멈추지 않는다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드라이버 독립 DB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접속 문자열 한 줄로 교체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로컬 → NAS → 베트남 서버 이전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무제한 조직 트리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계층을 고정하지 않음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46586B"/>
                          </a:solidFill>
                          <a:latin typeface="맑은 고딕"/>
                        </a:rPr>
                        <a:t>행정구역 추가 개편에도 대응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257800"/>
            <a:ext cx="10637215" cy="91440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257800"/>
            <a:ext cx="41148" cy="9144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540410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예시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5660136"/>
            <a:ext cx="101983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체육회가 "이 칸을 추가하고 결재를 3단계로 바꿔라"고 해도 관리자 화면에서 설정을 바꾸면 끝난다. 초기 개발이 20~30% 느려지지만, 먼저 만들고 나중에 실정에 맞추는 전략을 성립시키는 유일한 방법이다.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13-b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구축 범위의 구분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무엇이 완료됐고 무엇이 협의 대상인지 분명히 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5120640" cy="2286000"/>
          </a:xfrm>
          <a:prstGeom prst="rect">
            <a:avLst/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41148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5803D"/>
                </a:solidFill>
                <a:latin typeface="맑은 고딕"/>
              </a:rPr>
              <a:t>체육회 레벨 —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협회·연맹이 쓰는 업무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등록 · 대회 · 결재 · 수납 · 증명서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공개 페이지 · 통합검색 · 경영공시 · 통계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15803D"/>
                </a:solidFill>
                <a:latin typeface="맑은 고딕"/>
              </a:rPr>
              <a:t>→ 동작하는 시스템 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120640" cy="2286000"/>
          </a:xfrm>
          <a:prstGeom prst="rect">
            <a:avLst/>
          </a:prstGeom>
          <a:solidFill>
            <a:srgbClr val="FB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41148" cy="2286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2410C"/>
                </a:solidFill>
                <a:latin typeface="맑은 고딕"/>
              </a:rPr>
              <a:t>부처 레벨 — 협의 후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문체부가 체육회를 관리·감독하는 업무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기관 간 공문 유통 · 보조금 전 주기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위원회 · 감사 · 정보공개 · 민원</a:t>
            </a:r>
          </a:p>
          <a:p>
            <a:pPr algn="l">
              <a:lnSpc>
                <a:spcPct val="150000"/>
              </a:lnSpc>
            </a:pPr>
            <a:r>
              <a:rPr sz="1250" b="1">
                <a:solidFill>
                  <a:srgbClr val="C2410C"/>
                </a:solidFill>
                <a:latin typeface="맑은 고딕"/>
              </a:rPr>
              <a:t>→ 한국은 온나라·e나라도움이 담당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663440"/>
            <a:ext cx="41148" cy="13716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480974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협의에서 먼저 확인할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5065776"/>
            <a:ext cx="101983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베트남 정부에 한국의 온나라시스템(전자문서)·e나라도움(보조금)에 해당하는 시스템이 이미 있는지 확인되지 않았다. 있으면 연동하고 없으면 우리가 만든다. 설계가 갈리는 지점이라 단정하지 않고 협의 후 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추진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10637215" cy="548640"/>
          </a:xfrm>
          <a:prstGeom prst="rect">
            <a:avLst/>
          </a:prstGeom>
          <a:solidFill>
            <a:srgbClr val="E6F2EA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41148" cy="5486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32257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3317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5803D"/>
                </a:solidFill>
                <a:latin typeface="Consolas"/>
              </a:rPr>
              <a:t>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3225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조사 · 설계 · 핵심 시스템 구축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34640"/>
            <a:ext cx="10637215" cy="548640"/>
          </a:xfrm>
          <a:prstGeom prst="rect">
            <a:avLst/>
          </a:prstGeom>
          <a:solidFill>
            <a:srgbClr val="FBEDE6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834640"/>
            <a:ext cx="41148" cy="5486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6265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71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2410C"/>
                </a:solidFill>
                <a:latin typeface="Consolas"/>
              </a:rPr>
              <a:t>협의 직후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96265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문체부 협의 → 공식 서식 반영 → 요구사항 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106372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474720"/>
            <a:ext cx="41148" cy="548640"/>
          </a:xfrm>
          <a:prstGeom prst="rect">
            <a:avLst/>
          </a:prstGeom>
          <a:solidFill>
            <a:srgbClr val="7B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60273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6118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B8CA0"/>
                </a:solidFill>
                <a:latin typeface="Consolas"/>
              </a:rPr>
              <a:t>3개월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60273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IT팀 합류 · 디자인 적용 · 뉴스/기자 모듈 · 알림 연동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14800"/>
            <a:ext cx="106372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14800"/>
            <a:ext cx="41148" cy="548640"/>
          </a:xfrm>
          <a:prstGeom prst="rect">
            <a:avLst/>
          </a:prstGeom>
          <a:solidFill>
            <a:srgbClr val="7B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24281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2519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B8CA0"/>
                </a:solidFill>
                <a:latin typeface="Consolas"/>
              </a:rPr>
              <a:t>3개월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24281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파일럿 협회 3~5개 온보딩 · 데이터 이관 · 현장 교육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54880"/>
            <a:ext cx="106372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754880"/>
            <a:ext cx="41148" cy="548640"/>
          </a:xfrm>
          <a:prstGeom prst="rect">
            <a:avLst/>
          </a:prstGeom>
          <a:solidFill>
            <a:srgbClr val="7B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" y="488289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892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B8CA0"/>
                </a:solidFill>
                <a:latin typeface="Consolas"/>
              </a:rPr>
              <a:t>3개월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88289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전 종목 확대(웨이브) · 결제 정식 연동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94960"/>
            <a:ext cx="1063721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41148" cy="548640"/>
          </a:xfrm>
          <a:prstGeom prst="rect">
            <a:avLst/>
          </a:prstGeom>
          <a:solidFill>
            <a:srgbClr val="7B8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" y="552297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5321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B8CA0"/>
                </a:solidFill>
                <a:latin typeface="Consolas"/>
              </a:rPr>
              <a:t>이후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552297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6586B"/>
                </a:solidFill>
                <a:latin typeface="맑은 고딕"/>
              </a:rPr>
              <a:t>미디어 고도화 · 스폰서십 · 오픈 API · 학교체육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6035040"/>
            <a:ext cx="10637215" cy="658368"/>
          </a:xfrm>
          <a:prstGeom prst="rect">
            <a:avLst/>
          </a:prstGeom>
          <a:solidFill>
            <a:srgbClr val="FB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6035040"/>
            <a:ext cx="41148" cy="65836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" y="6181344"/>
            <a:ext cx="1019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C2410C"/>
                </a:solidFill>
                <a:latin typeface="Consolas"/>
              </a:rPr>
              <a:t>주의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" y="6437376"/>
            <a:ext cx="10198303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전 종목 일괄은 시스템 범위이지 롤아웃 속도가 아니다. 협회 투입은 3~5개씩 웨이브로 나눈다. 같은 주에 40개를 온보딩하면 지원이 마비되고 첫인상이 무너진다.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사업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94560"/>
          <a:ext cx="10637213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592"/>
                <a:gridCol w="5318607"/>
                <a:gridCol w="2190014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46586B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정부 위탁운영비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공식 시스템 운영 수탁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초기 기반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광고 · 스폰서십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공개 영역 트래픽 기반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16212E"/>
                          </a:solidFill>
                          <a:latin typeface="맑은 고딕"/>
                        </a:rPr>
                        <a:t>최종 1순위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협회 SaaS 구독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조직 규모별 요금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가치 입증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결제 수수료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결제 연동 마진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수납 정착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개인 스폰서십 중개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선수-브랜드 매칭 수수료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선수 DB 축적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데이터 API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언론 · 판타지 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50" b="0">
                          <a:solidFill>
                            <a:srgbClr val="46586B"/>
                          </a:solidFill>
                          <a:latin typeface="맑은 고딕"/>
                        </a:rPr>
                        <a:t>장기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5166360"/>
            <a:ext cx="5120640" cy="109728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166360"/>
            <a:ext cx="41148" cy="109728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531266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E5C7A"/>
                </a:solidFill>
                <a:latin typeface="Consolas"/>
              </a:rPr>
              <a:t>대기업 제안 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5568696"/>
            <a:ext cx="4681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팔 것은 광고 지면이 아니라 베트남 스포츠 데이터와 팬 접점의 독점적 파트너 지위다. 그렇게 써야 금액 단위가 달라진다.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5166360"/>
            <a:ext cx="5120640" cy="1097280"/>
          </a:xfrm>
          <a:prstGeom prst="rect">
            <a:avLst/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5166360"/>
            <a:ext cx="41148" cy="10972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5312664"/>
            <a:ext cx="4681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5803D"/>
                </a:solidFill>
                <a:latin typeface="Consolas"/>
              </a:rPr>
              <a:t>광고 거부감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568696"/>
            <a:ext cx="46817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6212E"/>
                </a:solidFill>
                <a:latin typeface="맑은 고딕"/>
              </a:rPr>
              <a:t>정부 시스템의 광고에 거부감이 있다면 협회 수익 사업으로 설명한다. 광고 수익 일부를 종목 협회에 배분하는 구조를 이미 반영했다.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리스크와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94560"/>
          <a:ext cx="10637214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9204"/>
                <a:gridCol w="1215681"/>
                <a:gridCol w="6382329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수준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586B"/>
                          </a:solidFill>
                          <a:latin typeface="맑은 고딕"/>
                        </a:rPr>
                        <a:t>대응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공식 서식 확보 지연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높음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최대 병목 — 1차 3종만이라도 조기 확보 필요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정부 협약 무산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높음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베트남 측 요청으로 시작해 낮아짐. 플랜 B: 민간 SaaS + 미디어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결제 라이선스 저촉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높음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해결 — 자금이 우리 계좌를 거치지 않는 구조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데이터 현지화 규제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중간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법률 검토 필요. 이전 가능한 구조는 확보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협회 디지털 역량 부족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중간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오프라인 병행 · 현장 교육 · 대행 입력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축구(VFF) 충돌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중간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행정은 FIFA Connect 연동, 콘텐츠는 직접 서비스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정부의 운영 회수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중간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계약에 최소 운영기간·보상·데이터 소유권 명시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담당자 교체 / 행정 개편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46586B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6212E"/>
                          </a:solidFill>
                          <a:latin typeface="맑은 고딕"/>
                        </a:rPr>
                        <a:t>해결 — 권한은 역할에, 계층은 데이터로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협조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한꺼번에 요구하지 않는다 — 1차는 세 가지뿐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10637215" cy="1417320"/>
          </a:xfrm>
          <a:prstGeom prst="rect">
            <a:avLst/>
          </a:prstGeom>
          <a:solidFill>
            <a:srgbClr val="E3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41148" cy="141732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042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0E5C7A"/>
                </a:solidFill>
                <a:latin typeface="맑은 고딕"/>
              </a:rPr>
              <a:t>1차 요청 — 서식 3종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6212E"/>
                </a:solidFill>
                <a:latin typeface="맑은 고딕"/>
              </a:rPr>
              <a:t>①  선수 등록 신청서   Đơn đăng ký vận động viên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6212E"/>
                </a:solidFill>
                <a:latin typeface="맑은 고딕"/>
              </a:rPr>
              <a:t>②  대회 개최 신청서   Đơn xin phép tổ chức giải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6212E"/>
                </a:solidFill>
                <a:latin typeface="맑은 고딕"/>
              </a:rPr>
              <a:t>③  연간 사업계획서     Kế hoạch hoạt động năm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67328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46586B"/>
                </a:solidFill>
                <a:latin typeface="맑은 고딕"/>
              </a:rPr>
              <a:t>빈 양식이 아니라 실제 기입된 샘플을, PDF가 아니라 원본 Word/Excel로 받는다. 표 구조가 보여야 필드를 정확히 뽑아낼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245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2차 — 기준 데이터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4572000"/>
          <a:ext cx="512063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4101"/>
                <a:gridCol w="1396538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6586B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국가 종목연맹·협회 전체 명단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조직 구축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212E"/>
                          </a:solidFill>
                          <a:latin typeface="맑은 고딕"/>
                        </a:rPr>
                        <a:t>2025년 개편 후 34개 성/시 명칭·코드 + 구-신 매핑표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지역 체계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종목·세부종목·부문(체급/연령) 공식 분류표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대회 운영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기존 선수·지도자·심판 명부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데이터 이관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등록비·참가비 금액표 · 협회별 은행 계좌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요금 · 결제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63640" y="42245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6212E"/>
                </a:solidFill>
                <a:latin typeface="맑은 고딕"/>
              </a:rPr>
              <a:t>확인이 필요한 질문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63640" y="4572000"/>
          <a:ext cx="512063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4101"/>
                <a:gridCol w="1396538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6586B"/>
                          </a:solidFill>
                          <a:latin typeface="맑은 고딕"/>
                        </a:rPr>
                        <a:t>질문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6586B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212E"/>
                          </a:solidFill>
                          <a:latin typeface="맑은 고딕"/>
                        </a:rPr>
                        <a:t>공문에 직인이 법적으로 필수인가?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전자결재 효력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212E"/>
                          </a:solidFill>
                          <a:latin typeface="맑은 고딕"/>
                        </a:rPr>
                        <a:t>체육회가 협회에 사용을 지시할 수 있는가?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Top-Down 성립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16212E"/>
                          </a:solidFill>
                          <a:latin typeface="맑은 고딕"/>
                        </a:rPr>
                        <a:t>데이터 현지화 의무 대상인가?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인프라 결정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VFF가 현재 어떤 시스템을 쓰는가?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축구 연동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기존 선수 번호 체계가 있는가?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46586B"/>
                          </a:solidFill>
                          <a:latin typeface="맑은 고딕"/>
                        </a:rPr>
                        <a:t>통합 ID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E5C7A"/>
                </a:solidFill>
                <a:latin typeface="Consola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6212E"/>
                </a:solidFill>
                <a:latin typeface="맑은 고딕"/>
              </a:rPr>
              <a:t>논의가 필요한 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44752"/>
            <a:ext cx="10637215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6586B"/>
                </a:solidFill>
                <a:latin typeface="맑은 고딕"/>
              </a:rPr>
              <a:t>이 계획은 수정을 전제로 한다 — 아래는 현재의 가정이다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194560"/>
          <a:ext cx="10637214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44"/>
                <a:gridCol w="2887244"/>
                <a:gridCol w="4862726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6586B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6586B"/>
                          </a:solidFill>
                          <a:latin typeface="맑은 고딕"/>
                        </a:rPr>
                        <a:t>현재 가정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6586B"/>
                          </a:solidFill>
                          <a:latin typeface="맑은 고딕"/>
                        </a:rPr>
                        <a:t>논의 포인트</a:t>
                      </a:r>
                    </a:p>
                  </a:txBody>
                  <a:tcPr marL="82296" marR="82296" marT="36576" marB="36576" anchor="ctr">
                    <a:solidFill>
                      <a:srgbClr val="EDF1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212E"/>
                          </a:solidFill>
                          <a:latin typeface="맑은 고딕"/>
                        </a:rPr>
                        <a:t>01  사업 주체 법인 구조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한국 법인 + 베트남 현지법인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212E"/>
                          </a:solidFill>
                          <a:latin typeface="맑은 고딕"/>
                        </a:rPr>
                        <a:t>현지법인 없이는 정부 계약·결제 가맹 불가. 착수 후 3개월 내 확정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212E"/>
                          </a:solidFill>
                          <a:latin typeface="맑은 고딕"/>
                        </a:rPr>
                        <a:t>02  개발 예산 규모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완성품으로 유치 예정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과소 책정 시 현장 지원·데이터 이관이 먼저 잘린다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212E"/>
                          </a:solidFill>
                          <a:latin typeface="맑은 고딕"/>
                        </a:rPr>
                        <a:t>03  통합 ID 체계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자체 채번 + 기존 번호 수용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체육회 기존 체계 확인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212E"/>
                          </a:solidFill>
                          <a:latin typeface="맑은 고딕"/>
                        </a:rPr>
                        <a:t>04  서버 위치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미정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데이터 현지화 법률 검토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6212E"/>
                          </a:solidFill>
                          <a:latin typeface="맑은 고딕"/>
                        </a:rPr>
                        <a:t>05  플랫폼 공식 명칭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코드명 VSP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체육회가 정할 가능성 — 브랜딩 투자 보류 중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06  교육 게이트 활성화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로직만 구현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체육회 교육 콘텐츠 보유 여부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07  광고 오픈 시점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지면만 확보, 비활성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체육회 수용도 확인 후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08  디자인 적용 시점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구조 확인용 최소 스타일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6586B"/>
                          </a:solidFill>
                          <a:latin typeface="맑은 고딕"/>
                        </a:rPr>
                        <a:t>협의로 구조가 바뀔 수 있어 의도적으로 보류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291072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Vietnam Sports Platform · 사업계획 v0.9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291072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7B8CA0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C4D8"/>
                </a:solidFill>
                <a:latin typeface="Consola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E5C7A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587752"/>
            <a:ext cx="9144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1차 서식 3종 협조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953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FB0C0"/>
                </a:solidFill>
                <a:latin typeface="맑은 고딕"/>
              </a:rPr>
              <a:t>선수등록 · 대회개최 · 사업계획 — 실제 기입 샘플, 원본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4728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E5C7A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429000"/>
            <a:ext cx="9144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문체부·체육회 협의 일정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79476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FB0C0"/>
                </a:solidFill>
                <a:latin typeface="맑은 고딕"/>
              </a:rPr>
              <a:t>이 자료를 바탕으로 요구사항을 받는다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8853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E5C7A"/>
                </a:solidFill>
                <a:latin typeface="Consola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270248"/>
            <a:ext cx="9144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미결정 4건 방향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636008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FB0C0"/>
                </a:solidFill>
                <a:latin typeface="맑은 고딕"/>
              </a:rPr>
              <a:t>법인 구조 · 통합 ID · 서버 위치 · 플랫폼 명칭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297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E5C7A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111496"/>
            <a:ext cx="9144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IT팀 구성 및 예산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477256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FB0C0"/>
                </a:solidFill>
                <a:latin typeface="맑은 고딕"/>
              </a:rPr>
              <a:t>협의 결과 반영 후 디자인·확장 착수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6126480"/>
            <a:ext cx="2011680" cy="12700"/>
          </a:xfrm>
          <a:prstGeom prst="rect">
            <a:avLst/>
          </a:prstGeom>
          <a:solidFill>
            <a:srgbClr val="0E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