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A17"/>
        </a:solidFill>
        <a:effectLst/>
      </p:bgPr>
    </p:bg>
    <p:spTree>
      <p:nvGrpSpPr>
        <p:cNvPr id="1" name=""/>
        <p:cNvGrpSpPr/>
        <p:nvPr/>
      </p:nvGrpSpPr>
      <p:grpSpPr/>
      <p:sp>
        <p:nvSpPr>
          <p:cNvPr id="2" name="TextBox 1"/>
          <p:cNvSpPr txBox="1"/>
          <p:nvPr/>
        </p:nvSpPr>
        <p:spPr>
          <a:xfrm>
            <a:off x="777240" y="2103120"/>
            <a:ext cx="10637215" cy="365760"/>
          </a:xfrm>
          <a:prstGeom prst="rect">
            <a:avLst/>
          </a:prstGeom>
          <a:noFill/>
        </p:spPr>
        <p:txBody>
          <a:bodyPr wrap="square" anchor="t" lIns="0" rIns="0" tIns="0" bIns="0">
            <a:spAutoFit/>
          </a:bodyPr>
          <a:lstStyle/>
          <a:p>
            <a:pPr algn="l">
              <a:lnSpc>
                <a:spcPct val="125000"/>
              </a:lnSpc>
            </a:pPr>
            <a:r>
              <a:rPr sz="1300" b="0">
                <a:solidFill>
                  <a:srgbClr val="CC9988"/>
                </a:solidFill>
                <a:latin typeface="Consolas"/>
              </a:rPr>
              <a:t>VIETNAM SPORTS PLATFORM</a:t>
            </a:r>
          </a:p>
        </p:txBody>
      </p:sp>
      <p:sp>
        <p:nvSpPr>
          <p:cNvPr id="3" name="TextBox 2"/>
          <p:cNvSpPr txBox="1"/>
          <p:nvPr/>
        </p:nvSpPr>
        <p:spPr>
          <a:xfrm>
            <a:off x="777240" y="2514600"/>
            <a:ext cx="10637215" cy="1645920"/>
          </a:xfrm>
          <a:prstGeom prst="rect">
            <a:avLst/>
          </a:prstGeom>
          <a:noFill/>
        </p:spPr>
        <p:txBody>
          <a:bodyPr wrap="square" anchor="t" lIns="0" rIns="0" tIns="0" bIns="0">
            <a:spAutoFit/>
          </a:bodyPr>
          <a:lstStyle/>
          <a:p>
            <a:pPr algn="l">
              <a:lnSpc>
                <a:spcPct val="110000"/>
              </a:lnSpc>
            </a:pPr>
            <a:r>
              <a:rPr sz="4000" b="1">
                <a:solidFill>
                  <a:srgbClr val="FFFFFF"/>
                </a:solidFill>
                <a:latin typeface="Be Vietnam Pro"/>
              </a:rPr>
              <a:t>Nền tảng Thể thao Việt Nam thống nhất</a:t>
            </a:r>
          </a:p>
        </p:txBody>
      </p:sp>
      <p:sp>
        <p:nvSpPr>
          <p:cNvPr id="4" name="TextBox 3"/>
          <p:cNvSpPr txBox="1"/>
          <p:nvPr/>
        </p:nvSpPr>
        <p:spPr>
          <a:xfrm>
            <a:off x="777240" y="4114800"/>
            <a:ext cx="7772400" cy="1097280"/>
          </a:xfrm>
          <a:prstGeom prst="rect">
            <a:avLst/>
          </a:prstGeom>
          <a:noFill/>
        </p:spPr>
        <p:txBody>
          <a:bodyPr wrap="square" anchor="t" lIns="0" rIns="0" tIns="0" bIns="0">
            <a:spAutoFit/>
          </a:bodyPr>
          <a:lstStyle/>
          <a:p>
            <a:pPr algn="l">
              <a:lnSpc>
                <a:spcPct val="130000"/>
              </a:lnSpc>
            </a:pPr>
            <a:r>
              <a:rPr sz="1800" b="0">
                <a:solidFill>
                  <a:srgbClr val="CCBBBB"/>
                </a:solidFill>
                <a:latin typeface="Be Vietnam Pro"/>
              </a:rPr>
              <a:t>Hạ tầng thể thao chính thức: gộp mạng hành chính (nội bộ) và web thể thao di động (đối ngoại) trên một dữ liệu</a:t>
            </a:r>
          </a:p>
        </p:txBody>
      </p:sp>
      <p:sp>
        <p:nvSpPr>
          <p:cNvPr id="5" name="Rectangle 4"/>
          <p:cNvSpPr/>
          <p:nvPr/>
        </p:nvSpPr>
        <p:spPr>
          <a:xfrm>
            <a:off x="777240" y="5623560"/>
            <a:ext cx="2926080" cy="2540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760720"/>
            <a:ext cx="10637215" cy="365760"/>
          </a:xfrm>
          <a:prstGeom prst="rect">
            <a:avLst/>
          </a:prstGeom>
          <a:noFill/>
        </p:spPr>
        <p:txBody>
          <a:bodyPr wrap="square" anchor="t" lIns="0" rIns="0" tIns="0" bIns="0">
            <a:spAutoFit/>
          </a:bodyPr>
          <a:lstStyle/>
          <a:p>
            <a:pPr algn="l">
              <a:lnSpc>
                <a:spcPct val="125000"/>
              </a:lnSpc>
            </a:pPr>
            <a:r>
              <a:rPr sz="1200" b="0">
                <a:solidFill>
                  <a:srgbClr val="AA9999"/>
                </a:solidFill>
                <a:latin typeface="Consolas"/>
              </a:rPr>
              <a:t>Đề án v1.1 · Đã hoàn thiện &amp; kiểm thử · 09/2026</a:t>
            </a:r>
          </a:p>
        </p:txBody>
      </p:sp>
      <p:sp>
        <p:nvSpPr>
          <p:cNvPr id="7" name="TextBox 6"/>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8" name="TextBox 7"/>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01</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Tóm tắt một trang</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Hai giao diện, một dữ liệu — đã triển khai 100% trước khi làm việc với Bộ VHTTDL</a:t>
            </a:r>
          </a:p>
        </p:txBody>
      </p:sp>
      <p:sp>
        <p:nvSpPr>
          <p:cNvPr id="6" name="TextBox 5"/>
          <p:cNvSpPr txBox="1"/>
          <p:nvPr/>
        </p:nvSpPr>
        <p:spPr>
          <a:xfrm>
            <a:off x="777240" y="1965960"/>
            <a:ext cx="10637215" cy="1005840"/>
          </a:xfrm>
          <a:prstGeom prst="rect">
            <a:avLst/>
          </a:prstGeom>
          <a:noFill/>
        </p:spPr>
        <p:txBody>
          <a:bodyPr wrap="square" anchor="t" lIns="0" rIns="0" tIns="0" bIns="0">
            <a:spAutoFit/>
          </a:bodyPr>
          <a:lstStyle/>
          <a:p>
            <a:pPr algn="l">
              <a:lnSpc>
                <a:spcPct val="135000"/>
              </a:lnSpc>
            </a:pPr>
            <a:r>
              <a:rPr sz="1400" b="0">
                <a:solidFill>
                  <a:srgbClr val="1B1A17"/>
                </a:solidFill>
                <a:latin typeface="Be Vietnam Pro"/>
              </a:rPr>
              <a:t>Đưa hành chính thể thao (đăng ký·phê duyệt·thu phí·tài trợ) và truyền thông đại chúng lên cùng một dữ liệu, dưới hai giao diện: mạng hành chính nội bộ + web di động đối ngoại. Nhập ở nội bộ thì tự hiện ra bên ngoài, và khi tài liệu được tải lên, AI điền bản nháp vào biểu mẫu chính thức rồi chuyển sang phê duyệt điện tử.</a:t>
            </a:r>
          </a:p>
        </p:txBody>
      </p:sp>
      <p:sp>
        <p:nvSpPr>
          <p:cNvPr id="7" name="Rectangle 6"/>
          <p:cNvSpPr/>
          <p:nvPr/>
        </p:nvSpPr>
        <p:spPr>
          <a:xfrm>
            <a:off x="777240" y="3200400"/>
            <a:ext cx="2577007" cy="109728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3346704"/>
            <a:ext cx="2284399" cy="457200"/>
          </a:xfrm>
          <a:prstGeom prst="rect">
            <a:avLst/>
          </a:prstGeom>
          <a:noFill/>
        </p:spPr>
        <p:txBody>
          <a:bodyPr wrap="square" anchor="t" lIns="0" rIns="0" tIns="0" bIns="0">
            <a:spAutoFit/>
          </a:bodyPr>
          <a:lstStyle/>
          <a:p>
            <a:pPr algn="l">
              <a:lnSpc>
                <a:spcPct val="125000"/>
              </a:lnSpc>
            </a:pPr>
            <a:r>
              <a:rPr sz="2200" b="1">
                <a:solidFill>
                  <a:srgbClr val="B5341F"/>
                </a:solidFill>
                <a:latin typeface="Consolas"/>
              </a:rPr>
              <a:t>0 → 1</a:t>
            </a:r>
          </a:p>
        </p:txBody>
      </p:sp>
      <p:sp>
        <p:nvSpPr>
          <p:cNvPr id="9" name="TextBox 8"/>
          <p:cNvSpPr txBox="1"/>
          <p:nvPr/>
        </p:nvSpPr>
        <p:spPr>
          <a:xfrm>
            <a:off x="923544" y="3858768"/>
            <a:ext cx="2284399" cy="36576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Hệ thống đăng ký thể thao thống nhất đầu tiên</a:t>
            </a:r>
          </a:p>
        </p:txBody>
      </p:sp>
      <p:sp>
        <p:nvSpPr>
          <p:cNvPr id="10" name="Rectangle 9"/>
          <p:cNvSpPr/>
          <p:nvPr/>
        </p:nvSpPr>
        <p:spPr>
          <a:xfrm>
            <a:off x="3463975" y="3200400"/>
            <a:ext cx="2577007" cy="109728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0279" y="3346704"/>
            <a:ext cx="2284399" cy="457200"/>
          </a:xfrm>
          <a:prstGeom prst="rect">
            <a:avLst/>
          </a:prstGeom>
          <a:noFill/>
        </p:spPr>
        <p:txBody>
          <a:bodyPr wrap="square" anchor="t" lIns="0" rIns="0" tIns="0" bIns="0">
            <a:spAutoFit/>
          </a:bodyPr>
          <a:lstStyle/>
          <a:p>
            <a:pPr algn="l">
              <a:lnSpc>
                <a:spcPct val="125000"/>
              </a:lnSpc>
            </a:pPr>
            <a:r>
              <a:rPr sz="2200" b="1">
                <a:solidFill>
                  <a:srgbClr val="B5341F"/>
                </a:solidFill>
                <a:latin typeface="Consolas"/>
              </a:rPr>
              <a:t>43 môn</a:t>
            </a:r>
          </a:p>
        </p:txBody>
      </p:sp>
      <p:sp>
        <p:nvSpPr>
          <p:cNvPr id="12" name="TextBox 11"/>
          <p:cNvSpPr txBox="1"/>
          <p:nvPr/>
        </p:nvSpPr>
        <p:spPr>
          <a:xfrm>
            <a:off x="3610279" y="3858768"/>
            <a:ext cx="2284399" cy="36576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Toàn bộ môn + 1.471 chi hội tỉnh/thành</a:t>
            </a:r>
          </a:p>
        </p:txBody>
      </p:sp>
      <p:sp>
        <p:nvSpPr>
          <p:cNvPr id="13" name="Rectangle 12"/>
          <p:cNvSpPr/>
          <p:nvPr/>
        </p:nvSpPr>
        <p:spPr>
          <a:xfrm>
            <a:off x="6150711" y="3200400"/>
            <a:ext cx="2577007" cy="109728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7015" y="3346704"/>
            <a:ext cx="2284399" cy="457200"/>
          </a:xfrm>
          <a:prstGeom prst="rect">
            <a:avLst/>
          </a:prstGeom>
          <a:noFill/>
        </p:spPr>
        <p:txBody>
          <a:bodyPr wrap="square" anchor="t" lIns="0" rIns="0" tIns="0" bIns="0">
            <a:spAutoFit/>
          </a:bodyPr>
          <a:lstStyle/>
          <a:p>
            <a:pPr algn="l">
              <a:lnSpc>
                <a:spcPct val="125000"/>
              </a:lnSpc>
            </a:pPr>
            <a:r>
              <a:rPr sz="2200" b="1">
                <a:solidFill>
                  <a:srgbClr val="B5341F"/>
                </a:solidFill>
                <a:latin typeface="Consolas"/>
              </a:rPr>
              <a:t>2 mặt</a:t>
            </a:r>
          </a:p>
        </p:txBody>
      </p:sp>
      <p:sp>
        <p:nvSpPr>
          <p:cNvPr id="15" name="TextBox 14"/>
          <p:cNvSpPr txBox="1"/>
          <p:nvPr/>
        </p:nvSpPr>
        <p:spPr>
          <a:xfrm>
            <a:off x="6297015" y="3858768"/>
            <a:ext cx="2284399" cy="36576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Nội bộ · Đối ngoại · Dữ liệu chung</a:t>
            </a:r>
          </a:p>
        </p:txBody>
      </p:sp>
      <p:sp>
        <p:nvSpPr>
          <p:cNvPr id="16" name="Rectangle 15"/>
          <p:cNvSpPr/>
          <p:nvPr/>
        </p:nvSpPr>
        <p:spPr>
          <a:xfrm>
            <a:off x="8837447" y="3200400"/>
            <a:ext cx="2577007" cy="109728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3751" y="3346704"/>
            <a:ext cx="2284399" cy="457200"/>
          </a:xfrm>
          <a:prstGeom prst="rect">
            <a:avLst/>
          </a:prstGeom>
          <a:noFill/>
        </p:spPr>
        <p:txBody>
          <a:bodyPr wrap="square" anchor="t" lIns="0" rIns="0" tIns="0" bIns="0">
            <a:spAutoFit/>
          </a:bodyPr>
          <a:lstStyle/>
          <a:p>
            <a:pPr algn="l">
              <a:lnSpc>
                <a:spcPct val="125000"/>
              </a:lnSpc>
            </a:pPr>
            <a:r>
              <a:rPr sz="2200" b="1">
                <a:solidFill>
                  <a:srgbClr val="B5341F"/>
                </a:solidFill>
                <a:latin typeface="Consolas"/>
              </a:rPr>
              <a:t>Đã kiểm thử</a:t>
            </a:r>
          </a:p>
        </p:txBody>
      </p:sp>
      <p:sp>
        <p:nvSpPr>
          <p:cNvPr id="18" name="TextBox 17"/>
          <p:cNvSpPr txBox="1"/>
          <p:nvPr/>
        </p:nvSpPr>
        <p:spPr>
          <a:xfrm>
            <a:off x="8983751" y="3858768"/>
            <a:ext cx="2284399" cy="36576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12 bộ test · ranh giới · build sản xuất OK</a:t>
            </a:r>
          </a:p>
        </p:txBody>
      </p:sp>
      <p:sp>
        <p:nvSpPr>
          <p:cNvPr id="19" name="Rectangle 18"/>
          <p:cNvSpPr/>
          <p:nvPr/>
        </p:nvSpPr>
        <p:spPr>
          <a:xfrm>
            <a:off x="777240" y="4526280"/>
            <a:ext cx="10637215" cy="1554480"/>
          </a:xfrm>
          <a:prstGeom prst="rect">
            <a:avLst/>
          </a:prstGeom>
          <a:solidFill>
            <a:srgbClr val="D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526280"/>
            <a:ext cx="45720" cy="1554480"/>
          </a:xfrm>
          <a:prstGeom prst="rect">
            <a:avLst/>
          </a:prstGeom>
          <a:solidFill>
            <a:srgbClr val="1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45152"/>
            <a:ext cx="10234879" cy="219456"/>
          </a:xfrm>
          <a:prstGeom prst="rect">
            <a:avLst/>
          </a:prstGeom>
          <a:noFill/>
        </p:spPr>
        <p:txBody>
          <a:bodyPr wrap="square" anchor="t" lIns="0" rIns="0" tIns="0" bIns="0">
            <a:spAutoFit/>
          </a:bodyPr>
          <a:lstStyle/>
          <a:p>
            <a:pPr algn="l">
              <a:lnSpc>
                <a:spcPct val="125000"/>
              </a:lnSpc>
            </a:pPr>
            <a:r>
              <a:rPr sz="900" b="1">
                <a:solidFill>
                  <a:srgbClr val="1E6E5C"/>
                </a:solidFill>
                <a:latin typeface="Consolas"/>
              </a:rPr>
              <a:t>Hiện trạng</a:t>
            </a:r>
          </a:p>
        </p:txBody>
      </p:sp>
      <p:sp>
        <p:nvSpPr>
          <p:cNvPr id="22" name="TextBox 21"/>
          <p:cNvSpPr txBox="1"/>
          <p:nvPr/>
        </p:nvSpPr>
        <p:spPr>
          <a:xfrm>
            <a:off x="978408" y="4892040"/>
            <a:ext cx="10234879" cy="107899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Hoàn chỉnh và đã kiểm chứng: chức năng·dữ liệu·đa ngôn ngữ (vi/en/ko)·kiểm thử·hiệu năng·build. Việc còn lại chủ yếu không phải lập trình mà là hiệp thương &amp; dữ liệu (biểu mẫu·mã tỉnh/thành·pháp lý).</a:t>
            </a:r>
          </a:p>
        </p:txBody>
      </p:sp>
      <p:sp>
        <p:nvSpPr>
          <p:cNvPr id="23" name="TextBox 22"/>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24" name="TextBox 23"/>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02</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Bối cảnh &amp; cơ hội</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Hàn Quốc có nhưng phân tán · Việt Nam còn trống — thiết kế thống nhất cho người đi sau</a:t>
            </a:r>
          </a:p>
        </p:txBody>
      </p:sp>
      <p:graphicFrame>
        <p:nvGraphicFramePr>
          <p:cNvPr id="6" name="Table 5"/>
          <p:cNvGraphicFramePr>
            <a:graphicFrameLocks noGrp="1"/>
          </p:cNvGraphicFramePr>
          <p:nvPr/>
        </p:nvGraphicFramePr>
        <p:xfrm>
          <a:off x="777240" y="1965960"/>
          <a:ext cx="10637212" cy="3182112"/>
        </p:xfrm>
        <a:graphic>
          <a:graphicData uri="http://schemas.openxmlformats.org/drawingml/2006/table">
            <a:tbl>
              <a:tblPr firstRow="1" bandRow="1">
                <a:tableStyleId>{5C22544A-7EE6-4342-B048-85BDC9FD1C3A}</a:tableStyleId>
              </a:tblPr>
              <a:tblGrid>
                <a:gridCol w="2765675"/>
                <a:gridCol w="2552931"/>
                <a:gridCol w="2765675"/>
                <a:gridCol w="2552931"/>
              </a:tblGrid>
              <a:tr h="365760">
                <a:tc>
                  <a:txBody>
                    <a:bodyPr/>
                    <a:lstStyle/>
                    <a:p>
                      <a:r>
                        <a:rPr sz="1050" b="1">
                          <a:solidFill>
                            <a:srgbClr val="4C4842"/>
                          </a:solidFill>
                          <a:latin typeface="Be Vietnam Pro"/>
                        </a:rPr>
                        <a:t>Chức năng</a:t>
                      </a:r>
                    </a:p>
                  </a:txBody>
                  <a:tcPr marL="82296" marR="82296" marT="27432" marB="27432" anchor="ctr">
                    <a:solidFill>
                      <a:srgbClr val="EEE8DD"/>
                    </a:solidFill>
                  </a:tcPr>
                </a:tc>
                <a:tc>
                  <a:txBody>
                    <a:bodyPr/>
                    <a:lstStyle/>
                    <a:p>
                      <a:r>
                        <a:rPr sz="1050" b="1">
                          <a:solidFill>
                            <a:srgbClr val="4C4842"/>
                          </a:solidFill>
                          <a:latin typeface="Be Vietnam Pro"/>
                        </a:rPr>
                        <a:t>Hàn Quốc</a:t>
                      </a:r>
                    </a:p>
                  </a:txBody>
                  <a:tcPr marL="82296" marR="82296" marT="27432" marB="27432" anchor="ctr">
                    <a:solidFill>
                      <a:srgbClr val="EEE8DD"/>
                    </a:solidFill>
                  </a:tcPr>
                </a:tc>
                <a:tc>
                  <a:txBody>
                    <a:bodyPr/>
                    <a:lstStyle/>
                    <a:p>
                      <a:r>
                        <a:rPr sz="1050" b="1">
                          <a:solidFill>
                            <a:srgbClr val="4C4842"/>
                          </a:solidFill>
                          <a:latin typeface="Be Vietnam Pro"/>
                        </a:rPr>
                        <a:t>Việt Nam (nay)</a:t>
                      </a:r>
                    </a:p>
                  </a:txBody>
                  <a:tcPr marL="82296" marR="82296" marT="27432" marB="27432" anchor="ctr">
                    <a:solidFill>
                      <a:srgbClr val="EEE8DD"/>
                    </a:solidFill>
                  </a:tcPr>
                </a:tc>
                <a:tc>
                  <a:txBody>
                    <a:bodyPr/>
                    <a:lstStyle/>
                    <a:p>
                      <a:r>
                        <a:rPr sz="1050" b="1">
                          <a:solidFill>
                            <a:srgbClr val="4C4842"/>
                          </a:solidFill>
                          <a:latin typeface="Be Vietnam Pro"/>
                        </a:rPr>
                        <a:t>VSP</a:t>
                      </a:r>
                    </a:p>
                  </a:txBody>
                  <a:tcPr marL="82296" marR="82296" marT="27432" marB="27432" anchor="ctr">
                    <a:solidFill>
                      <a:srgbClr val="EEE8DD"/>
                    </a:solidFill>
                  </a:tcPr>
                </a:tc>
              </a:tr>
              <a:tr h="402336">
                <a:tc>
                  <a:txBody>
                    <a:bodyPr/>
                    <a:lstStyle/>
                    <a:p>
                      <a:pPr>
                        <a:lnSpc>
                          <a:spcPct val="105000"/>
                        </a:lnSpc>
                      </a:pPr>
                      <a:r>
                        <a:rPr sz="1050" b="0">
                          <a:solidFill>
                            <a:srgbClr val="4C4842"/>
                          </a:solidFill>
                          <a:latin typeface="Be Vietnam Pro"/>
                        </a:rPr>
                        <a:t>Đăng ký VĐV·HLV·trọng tài</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Đăng ký điện tử g1</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Không (chỉ link)</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Đăng ký + duyệt 2 cấp</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Tài liệu → biểu mẫu</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Nhập tay</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Không</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AI tự điền (nháp)</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Chứng nhận·xác thực</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Chứng nhận điện tử g1</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Không</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Đã có</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Quản lý·công khai liên đoàn</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Công khai quản trị</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Không</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Đã có</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Vận hành giải</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Thông tin giải g1</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Đăng thông tin</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Duyệt·bốc thăm·kết quả</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Tài trợ·ngân sách</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KSPO·e나라도움</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Chưa có riêng</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Toàn chu trình (chặn gian lận)</a:t>
                      </a:r>
                    </a:p>
                  </a:txBody>
                  <a:tcPr marL="82296" marR="82296" marT="27432" marB="27432" anchor="ctr">
                    <a:solidFill>
                      <a:srgbClr val="FFFFFF"/>
                    </a:solidFill>
                  </a:tcPr>
                </a:tc>
              </a:tr>
              <a:tr h="402336">
                <a:tc>
                  <a:txBody>
                    <a:bodyPr/>
                    <a:lstStyle/>
                    <a:p>
                      <a:pPr>
                        <a:lnSpc>
                          <a:spcPct val="105000"/>
                        </a:lnSpc>
                      </a:pPr>
                      <a:r>
                        <a:rPr sz="1050" b="0">
                          <a:solidFill>
                            <a:srgbClr val="4C4842"/>
                          </a:solidFill>
                          <a:latin typeface="Be Vietnam Pro"/>
                        </a:rPr>
                        <a:t>Truyền thông đại chúng</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(Tư nhân) Naver</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Phân tán·MXH</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Web đối ngoại (nhà nước)</a:t>
                      </a:r>
                    </a:p>
                  </a:txBody>
                  <a:tcPr marL="82296" marR="82296" marT="27432" marB="27432" anchor="ctr">
                    <a:solidFill>
                      <a:srgbClr val="FFFFFF"/>
                    </a:solidFill>
                  </a:tcPr>
                </a:tc>
              </a:tr>
            </a:tbl>
          </a:graphicData>
        </a:graphic>
      </p:graphicFrame>
      <p:sp>
        <p:nvSpPr>
          <p:cNvPr id="7" name="Rectangle 6"/>
          <p:cNvSpPr/>
          <p:nvPr/>
        </p:nvSpPr>
        <p:spPr>
          <a:xfrm>
            <a:off x="777240" y="5806440"/>
            <a:ext cx="10637215" cy="685800"/>
          </a:xfrm>
          <a:prstGeom prst="rect">
            <a:avLst/>
          </a:prstGeom>
          <a:solidFill>
            <a:srgbClr val="D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5806440"/>
            <a:ext cx="45720" cy="685800"/>
          </a:xfrm>
          <a:prstGeom prst="rect">
            <a:avLst/>
          </a:prstGeom>
          <a:solidFill>
            <a:srgbClr val="1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5925312"/>
            <a:ext cx="10234879" cy="219456"/>
          </a:xfrm>
          <a:prstGeom prst="rect">
            <a:avLst/>
          </a:prstGeom>
          <a:noFill/>
        </p:spPr>
        <p:txBody>
          <a:bodyPr wrap="square" anchor="t" lIns="0" rIns="0" tIns="0" bIns="0">
            <a:spAutoFit/>
          </a:bodyPr>
          <a:lstStyle/>
          <a:p>
            <a:pPr algn="l">
              <a:lnSpc>
                <a:spcPct val="125000"/>
              </a:lnSpc>
            </a:pPr>
            <a:r>
              <a:rPr sz="900" b="1">
                <a:solidFill>
                  <a:srgbClr val="1E6E5C"/>
                </a:solidFill>
                <a:latin typeface="Consolas"/>
              </a:rPr>
              <a:t>Đòn bẩy</a:t>
            </a:r>
          </a:p>
        </p:txBody>
      </p:sp>
      <p:sp>
        <p:nvSpPr>
          <p:cNvPr id="10" name="TextBox 9"/>
          <p:cNvSpPr txBox="1"/>
          <p:nvPr/>
        </p:nvSpPr>
        <p:spPr>
          <a:xfrm>
            <a:off x="978408" y="6172200"/>
            <a:ext cx="10234879" cy="21031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Liên đoàn không đủ nguồn lực tự xây → trung ương ban hành chuẩn từ trên xuống = đưa toàn bộ môn lên cùng lúc.</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03</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Cấu trúc — hai giao diện, một dữ liệu</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Nhập ở nội bộ thì tự động hiện ra bên ngoài</a:t>
            </a:r>
          </a:p>
        </p:txBody>
      </p:sp>
      <p:sp>
        <p:nvSpPr>
          <p:cNvPr id="6" name="Rectangle 5"/>
          <p:cNvSpPr/>
          <p:nvPr/>
        </p:nvSpPr>
        <p:spPr>
          <a:xfrm>
            <a:off x="777240" y="1965960"/>
            <a:ext cx="5181447" cy="2011680"/>
          </a:xfrm>
          <a:prstGeom prst="rect">
            <a:avLst/>
          </a:prstGeom>
          <a:solidFill>
            <a:srgbClr val="F4DDD6"/>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12264"/>
            <a:ext cx="4815687" cy="457200"/>
          </a:xfrm>
          <a:prstGeom prst="rect">
            <a:avLst/>
          </a:prstGeom>
          <a:noFill/>
        </p:spPr>
        <p:txBody>
          <a:bodyPr wrap="square" anchor="t" lIns="0" rIns="0" tIns="0" bIns="0">
            <a:spAutoFit/>
          </a:bodyPr>
          <a:lstStyle/>
          <a:p>
            <a:pPr algn="l">
              <a:lnSpc>
                <a:spcPct val="125000"/>
              </a:lnSpc>
            </a:pPr>
            <a:r>
              <a:rPr sz="1500" b="1">
                <a:solidFill>
                  <a:srgbClr val="B5341F"/>
                </a:solidFill>
                <a:latin typeface="Be Vietnam Pro"/>
              </a:rPr>
              <a:t>Đối ngoại · Web di động (apps/portal)</a:t>
            </a:r>
          </a:p>
        </p:txBody>
      </p:sp>
      <p:sp>
        <p:nvSpPr>
          <p:cNvPr id="8" name="TextBox 7"/>
          <p:cNvSpPr txBox="1"/>
          <p:nvPr/>
        </p:nvSpPr>
        <p:spPr>
          <a:xfrm>
            <a:off x="960120" y="2624328"/>
            <a:ext cx="4815687" cy="1188720"/>
          </a:xfrm>
          <a:prstGeom prst="rect">
            <a:avLst/>
          </a:prstGeom>
          <a:noFill/>
        </p:spPr>
        <p:txBody>
          <a:bodyPr wrap="square" anchor="t" lIns="0" rIns="0" tIns="0" bIns="0">
            <a:spAutoFit/>
          </a:bodyPr>
          <a:lstStyle/>
          <a:p>
            <a:pPr algn="l">
              <a:lnSpc>
                <a:spcPct val="135000"/>
              </a:lnSpc>
              <a:spcAft>
                <a:spcPts val="300"/>
              </a:spcAft>
            </a:pPr>
            <a:r>
              <a:rPr sz="1200" b="0">
                <a:solidFill>
                  <a:srgbClr val="4C4842"/>
                </a:solidFill>
                <a:latin typeface="Be Vietnam Pro"/>
              </a:rPr>
              <a:t>Kiểu Naver Sports · Không đăng nhập · Có quảng cáo</a:t>
            </a:r>
          </a:p>
          <a:p>
            <a:pPr algn="l">
              <a:lnSpc>
                <a:spcPct val="135000"/>
              </a:lnSpc>
              <a:spcAft>
                <a:spcPts val="300"/>
              </a:spcAft>
            </a:pPr>
            <a:r>
              <a:rPr sz="1200" b="0">
                <a:solidFill>
                  <a:srgbClr val="4C4842"/>
                </a:solidFill>
                <a:latin typeface="Be Vietnam Pro"/>
              </a:rPr>
              <a:t>Tab môn → lịch·BXH·kết quả·chi tiết trận</a:t>
            </a:r>
          </a:p>
          <a:p>
            <a:pPr algn="l">
              <a:lnSpc>
                <a:spcPct val="135000"/>
              </a:lnSpc>
              <a:spcAft>
                <a:spcPts val="300"/>
              </a:spcAft>
            </a:pPr>
            <a:r>
              <a:rPr sz="1200" b="0">
                <a:solidFill>
                  <a:srgbClr val="4C4842"/>
                </a:solidFill>
                <a:latin typeface="Be Vietnam Pro"/>
              </a:rPr>
              <a:t>Tin·tài trợ·bình chọn</a:t>
            </a:r>
          </a:p>
          <a:p>
            <a:pPr algn="l">
              <a:lnSpc>
                <a:spcPct val="135000"/>
              </a:lnSpc>
              <a:spcAft>
                <a:spcPts val="300"/>
              </a:spcAft>
            </a:pPr>
            <a:r>
              <a:rPr sz="1200" b="0">
                <a:solidFill>
                  <a:srgbClr val="4C4842"/>
                </a:solidFill>
                <a:latin typeface="Be Vietnam Pro"/>
              </a:rPr>
              <a:t>Chỉ đọc dữ liệu công khai (pub)</a:t>
            </a:r>
          </a:p>
        </p:txBody>
      </p:sp>
      <p:sp>
        <p:nvSpPr>
          <p:cNvPr id="9" name="Rectangle 8"/>
          <p:cNvSpPr/>
          <p:nvPr/>
        </p:nvSpPr>
        <p:spPr>
          <a:xfrm>
            <a:off x="6233007" y="1965960"/>
            <a:ext cx="5181447" cy="2011680"/>
          </a:xfrm>
          <a:prstGeom prst="rect">
            <a:avLst/>
          </a:prstGeom>
          <a:solidFill>
            <a:srgbClr val="DCEAE4"/>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5887" y="2112264"/>
            <a:ext cx="4815687" cy="457200"/>
          </a:xfrm>
          <a:prstGeom prst="rect">
            <a:avLst/>
          </a:prstGeom>
          <a:noFill/>
        </p:spPr>
        <p:txBody>
          <a:bodyPr wrap="square" anchor="t" lIns="0" rIns="0" tIns="0" bIns="0">
            <a:spAutoFit/>
          </a:bodyPr>
          <a:lstStyle/>
          <a:p>
            <a:pPr algn="l">
              <a:lnSpc>
                <a:spcPct val="125000"/>
              </a:lnSpc>
            </a:pPr>
            <a:r>
              <a:rPr sz="1500" b="1">
                <a:solidFill>
                  <a:srgbClr val="1E6E5C"/>
                </a:solidFill>
                <a:latin typeface="Be Vietnam Pro"/>
              </a:rPr>
              <a:t>Nội bộ · Mạng hành chính (apps/platform)</a:t>
            </a:r>
          </a:p>
        </p:txBody>
      </p:sp>
      <p:sp>
        <p:nvSpPr>
          <p:cNvPr id="11" name="TextBox 10"/>
          <p:cNvSpPr txBox="1"/>
          <p:nvPr/>
        </p:nvSpPr>
        <p:spPr>
          <a:xfrm>
            <a:off x="6415887" y="2624328"/>
            <a:ext cx="4815687" cy="1188720"/>
          </a:xfrm>
          <a:prstGeom prst="rect">
            <a:avLst/>
          </a:prstGeom>
          <a:noFill/>
        </p:spPr>
        <p:txBody>
          <a:bodyPr wrap="square" anchor="t" lIns="0" rIns="0" tIns="0" bIns="0">
            <a:spAutoFit/>
          </a:bodyPr>
          <a:lstStyle/>
          <a:p>
            <a:pPr algn="l">
              <a:lnSpc>
                <a:spcPct val="135000"/>
              </a:lnSpc>
              <a:spcAft>
                <a:spcPts val="300"/>
              </a:spcAft>
            </a:pPr>
            <a:r>
              <a:rPr sz="1200" b="0">
                <a:solidFill>
                  <a:srgbClr val="4C4842"/>
                </a:solidFill>
                <a:latin typeface="Be Vietnam Pro"/>
              </a:rPr>
              <a:t>Dịch vụ hội viên /my — chỉ hồ sơ của mình</a:t>
            </a:r>
          </a:p>
          <a:p>
            <a:pPr algn="l">
              <a:lnSpc>
                <a:spcPct val="135000"/>
              </a:lnSpc>
              <a:spcAft>
                <a:spcPts val="300"/>
              </a:spcAft>
            </a:pPr>
            <a:r>
              <a:rPr sz="1200" b="0">
                <a:solidFill>
                  <a:srgbClr val="4C4842"/>
                </a:solidFill>
                <a:latin typeface="Be Vietnam Pro"/>
              </a:rPr>
              <a:t>Nghiệp vụ /admin — liên đoàn·tỉnh/thành·tổng cục·Bộ</a:t>
            </a:r>
          </a:p>
          <a:p>
            <a:pPr algn="l">
              <a:lnSpc>
                <a:spcPct val="135000"/>
              </a:lnSpc>
              <a:spcAft>
                <a:spcPts val="300"/>
              </a:spcAft>
            </a:pPr>
            <a:r>
              <a:rPr sz="1200" b="0">
                <a:solidFill>
                  <a:srgbClr val="4C4842"/>
                </a:solidFill>
                <a:latin typeface="Be Vietnam Pro"/>
              </a:rPr>
              <a:t>Đăng ký AI·phê duyệt điện tử·quản lý nội dung</a:t>
            </a:r>
          </a:p>
          <a:p>
            <a:pPr algn="l">
              <a:lnSpc>
                <a:spcPct val="135000"/>
              </a:lnSpc>
              <a:spcAft>
                <a:spcPts val="300"/>
              </a:spcAft>
            </a:pPr>
            <a:r>
              <a:rPr sz="1200" b="0">
                <a:solidFill>
                  <a:srgbClr val="4C4842"/>
                </a:solidFill>
                <a:latin typeface="Be Vietnam Pro"/>
              </a:rPr>
              <a:t>Cần đăng nhập</a:t>
            </a:r>
          </a:p>
        </p:txBody>
      </p:sp>
      <p:sp>
        <p:nvSpPr>
          <p:cNvPr id="12" name="Rectangle 11"/>
          <p:cNvSpPr/>
          <p:nvPr/>
        </p:nvSpPr>
        <p:spPr>
          <a:xfrm>
            <a:off x="777240" y="4206240"/>
            <a:ext cx="10637215" cy="914400"/>
          </a:xfrm>
          <a:prstGeom prst="rect">
            <a:avLst/>
          </a:prstGeom>
          <a:solidFill>
            <a:srgbClr val="1B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352544"/>
            <a:ext cx="10198303" cy="640080"/>
          </a:xfrm>
          <a:prstGeom prst="rect">
            <a:avLst/>
          </a:prstGeom>
          <a:noFill/>
        </p:spPr>
        <p:txBody>
          <a:bodyPr wrap="square" anchor="t" lIns="0" rIns="0" tIns="0" bIns="0">
            <a:spAutoFit/>
          </a:bodyPr>
          <a:lstStyle/>
          <a:p>
            <a:pPr algn="l">
              <a:lnSpc>
                <a:spcPct val="130000"/>
              </a:lnSpc>
            </a:pPr>
            <a:r>
              <a:rPr sz="1250" b="0">
                <a:solidFill>
                  <a:srgbClr val="FFFFFF"/>
                </a:solidFill>
                <a:latin typeface="Be Vietnam Pro"/>
              </a:rPr>
              <a:t>Một dữ liệu — lớp công khai (pub) + lớp gốc (nội bộ). Web đối ngoại kết nối bằng vai trò DB chỉ-đọc chỉ thấy pub → dù bị xâm nhập cũng không lộ số điện thoại·CCCD. (Ranh giới cưỡng chế tự động khi build)</a:t>
            </a:r>
          </a:p>
        </p:txBody>
      </p:sp>
      <p:sp>
        <p:nvSpPr>
          <p:cNvPr id="14" name="Rectangle 13"/>
          <p:cNvSpPr/>
          <p:nvPr/>
        </p:nvSpPr>
        <p:spPr>
          <a:xfrm>
            <a:off x="777240" y="5303520"/>
            <a:ext cx="10637215" cy="777240"/>
          </a:xfrm>
          <a:prstGeom prst="rect">
            <a:avLst/>
          </a:prstGeom>
          <a:solidFill>
            <a:srgbClr val="F4D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5303520"/>
            <a:ext cx="45720" cy="77724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5422392"/>
            <a:ext cx="10234879" cy="219456"/>
          </a:xfrm>
          <a:prstGeom prst="rect">
            <a:avLst/>
          </a:prstGeom>
          <a:noFill/>
        </p:spPr>
        <p:txBody>
          <a:bodyPr wrap="square" anchor="t" lIns="0" rIns="0" tIns="0" bIns="0">
            <a:spAutoFit/>
          </a:bodyPr>
          <a:lstStyle/>
          <a:p>
            <a:pPr algn="l">
              <a:lnSpc>
                <a:spcPct val="125000"/>
              </a:lnSpc>
            </a:pPr>
            <a:r>
              <a:rPr sz="900" b="1">
                <a:solidFill>
                  <a:srgbClr val="B5341F"/>
                </a:solidFill>
                <a:latin typeface="Consolas"/>
              </a:rPr>
              <a:t>Nguyên tắc số 1</a:t>
            </a:r>
          </a:p>
        </p:txBody>
      </p:sp>
      <p:sp>
        <p:nvSpPr>
          <p:cNvPr id="17" name="TextBox 16"/>
          <p:cNvSpPr txBox="1"/>
          <p:nvPr/>
        </p:nvSpPr>
        <p:spPr>
          <a:xfrm>
            <a:off x="978408" y="5669280"/>
            <a:ext cx="10234879" cy="30175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Không viết bài riêng để quảng bá — nhập nội bộ tự phản ánh ra bên ngoài.</a:t>
            </a:r>
          </a:p>
        </p:txBody>
      </p:sp>
      <p:sp>
        <p:nvSpPr>
          <p:cNvPr id="18" name="TextBox 17"/>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9" name="TextBox 18"/>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04</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Đối ngoại — Web di động</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Phản ánh khảo sát Naver Sports (ưu tiên di động) · đã triển khai đủ</a:t>
            </a:r>
          </a:p>
        </p:txBody>
      </p:sp>
      <p:graphicFrame>
        <p:nvGraphicFramePr>
          <p:cNvPr id="6" name="Table 5"/>
          <p:cNvGraphicFramePr>
            <a:graphicFrameLocks noGrp="1"/>
          </p:cNvGraphicFramePr>
          <p:nvPr/>
        </p:nvGraphicFramePr>
        <p:xfrm>
          <a:off x="777240" y="1965960"/>
          <a:ext cx="10637214" cy="3657600"/>
        </p:xfrm>
        <a:graphic>
          <a:graphicData uri="http://schemas.openxmlformats.org/drawingml/2006/table">
            <a:tbl>
              <a:tblPr firstRow="1" bandRow="1">
                <a:tableStyleId>{5C22544A-7EE6-4342-B048-85BDC9FD1C3A}</a:tableStyleId>
              </a:tblPr>
              <a:tblGrid>
                <a:gridCol w="2552931"/>
                <a:gridCol w="8084283"/>
              </a:tblGrid>
              <a:tr h="365760">
                <a:tc>
                  <a:txBody>
                    <a:bodyPr/>
                    <a:lstStyle/>
                    <a:p>
                      <a:r>
                        <a:rPr sz="1100" b="1">
                          <a:solidFill>
                            <a:srgbClr val="4C4842"/>
                          </a:solidFill>
                          <a:latin typeface="Be Vietnam Pro"/>
                        </a:rPr>
                        <a:t>Khu vực</a:t>
                      </a:r>
                    </a:p>
                  </a:txBody>
                  <a:tcPr marL="82296" marR="82296" marT="27432" marB="27432" anchor="ctr">
                    <a:solidFill>
                      <a:srgbClr val="EEE8DD"/>
                    </a:solidFill>
                  </a:tcPr>
                </a:tc>
                <a:tc>
                  <a:txBody>
                    <a:bodyPr/>
                    <a:lstStyle/>
                    <a:p>
                      <a:r>
                        <a:rPr sz="1100" b="1">
                          <a:solidFill>
                            <a:srgbClr val="4C4842"/>
                          </a:solidFill>
                          <a:latin typeface="Be Vietnam Pro"/>
                        </a:rPr>
                        <a:t>Thành phần (theo khảo sát Naver)</a:t>
                      </a:r>
                    </a:p>
                  </a:txBody>
                  <a:tcPr marL="82296" marR="82296" marT="27432" marB="27432" anchor="ctr">
                    <a:solidFill>
                      <a:srgbClr val="EEE8DD"/>
                    </a:solidFill>
                  </a:tcPr>
                </a:tc>
              </a:tr>
              <a:tr h="548640">
                <a:tc>
                  <a:txBody>
                    <a:bodyPr/>
                    <a:lstStyle/>
                    <a:p>
                      <a:pPr>
                        <a:lnSpc>
                          <a:spcPct val="105000"/>
                        </a:lnSpc>
                      </a:pPr>
                      <a:r>
                        <a:rPr sz="1100" b="1">
                          <a:solidFill>
                            <a:srgbClr val="1B1A17"/>
                          </a:solidFill>
                          <a:latin typeface="Be Vietnam Pro"/>
                        </a:rPr>
                        <a:t>Đầu trang 3 tầng</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Tiện ích (công khai·xác thực) / Tab môn / Thanh chức năng (trận·lịch·BXH·VĐV·tin·tài trợ)</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Trong môn</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Tin·video·lịch·BXH·kỷ lục → lọc theo giải·mùa (kiểu Naver)</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Chi tiết trận</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Kỷ lục·đội hình·cổ vũ·tường thuật·tin·video + bảng kỷ lục theo môn</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BXH·kỷ lục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BXH đội·cá nhân (cột theo môn) · che tên VĐV dưới 18 tuổi</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Truyền thông·tương tác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Tin·bài (tự động/phóng viên) · bình chọn (MVP)·cổ vũ · theo dõi MY team</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Tài trợ·doanh thu</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Trưng bày tài trợ (chỉ số theo dõi) · vị trí quảng cáo (chia DT cho liên đoàn)</a:t>
                      </a:r>
                    </a:p>
                  </a:txBody>
                  <a:tcPr marL="82296" marR="82296" marT="27432" marB="27432" anchor="ctr">
                    <a:solidFill>
                      <a:srgbClr val="FFFFFF"/>
                    </a:solidFill>
                  </a:tcPr>
                </a:tc>
              </a:tr>
            </a:tbl>
          </a:graphicData>
        </a:graphic>
      </p:graphicFrame>
      <p:sp>
        <p:nvSpPr>
          <p:cNvPr id="7" name="Rectangle 6"/>
          <p:cNvSpPr/>
          <p:nvPr/>
        </p:nvSpPr>
        <p:spPr>
          <a:xfrm>
            <a:off x="777240" y="5733288"/>
            <a:ext cx="10637215" cy="731520"/>
          </a:xfrm>
          <a:prstGeom prst="rect">
            <a:avLst/>
          </a:prstGeom>
          <a:solidFill>
            <a:srgbClr val="D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5733288"/>
            <a:ext cx="45720" cy="731520"/>
          </a:xfrm>
          <a:prstGeom prst="rect">
            <a:avLst/>
          </a:prstGeom>
          <a:solidFill>
            <a:srgbClr val="1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5852160"/>
            <a:ext cx="10234879" cy="219456"/>
          </a:xfrm>
          <a:prstGeom prst="rect">
            <a:avLst/>
          </a:prstGeom>
          <a:noFill/>
        </p:spPr>
        <p:txBody>
          <a:bodyPr wrap="square" anchor="t" lIns="0" rIns="0" tIns="0" bIns="0">
            <a:spAutoFit/>
          </a:bodyPr>
          <a:lstStyle/>
          <a:p>
            <a:pPr algn="l">
              <a:lnSpc>
                <a:spcPct val="125000"/>
              </a:lnSpc>
            </a:pPr>
            <a:r>
              <a:rPr sz="900" b="1">
                <a:solidFill>
                  <a:srgbClr val="1E6E5C"/>
                </a:solidFill>
                <a:latin typeface="Consolas"/>
              </a:rPr>
              <a:t>Thể thao điện tử</a:t>
            </a:r>
          </a:p>
        </p:txBody>
      </p:sp>
      <p:sp>
        <p:nvSpPr>
          <p:cNvPr id="10" name="TextBox 9"/>
          <p:cNvSpPr txBox="1"/>
          <p:nvPr/>
        </p:nvSpPr>
        <p:spPr>
          <a:xfrm>
            <a:off x="978408" y="6099048"/>
            <a:ext cx="10234879" cy="25603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Dữ liệu là một môn, giao diện ưu tiên tựa game — cùng một nền tảng.</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05</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Nội bộ — Mạng hành chính</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Kiểu g1 (Hàn) + Bộ · văn phòng 1–5 người · ưu tiên di động · đã triển khai đủ</a:t>
            </a:r>
          </a:p>
        </p:txBody>
      </p:sp>
      <p:graphicFrame>
        <p:nvGraphicFramePr>
          <p:cNvPr id="6" name="Table 5"/>
          <p:cNvGraphicFramePr>
            <a:graphicFrameLocks noGrp="1"/>
          </p:cNvGraphicFramePr>
          <p:nvPr/>
        </p:nvGraphicFramePr>
        <p:xfrm>
          <a:off x="777240" y="1965960"/>
          <a:ext cx="10637214" cy="3694176"/>
        </p:xfrm>
        <a:graphic>
          <a:graphicData uri="http://schemas.openxmlformats.org/drawingml/2006/table">
            <a:tbl>
              <a:tblPr firstRow="1" bandRow="1">
                <a:tableStyleId>{5C22544A-7EE6-4342-B048-85BDC9FD1C3A}</a:tableStyleId>
              </a:tblPr>
              <a:tblGrid>
                <a:gridCol w="2552931"/>
                <a:gridCol w="8084283"/>
              </a:tblGrid>
              <a:tr h="365760">
                <a:tc>
                  <a:txBody>
                    <a:bodyPr/>
                    <a:lstStyle/>
                    <a:p>
                      <a:r>
                        <a:rPr sz="1100" b="1">
                          <a:solidFill>
                            <a:srgbClr val="4C4842"/>
                          </a:solidFill>
                          <a:latin typeface="Be Vietnam Pro"/>
                        </a:rPr>
                        <a:t>Chức năng</a:t>
                      </a:r>
                    </a:p>
                  </a:txBody>
                  <a:tcPr marL="82296" marR="82296" marT="27432" marB="27432" anchor="ctr">
                    <a:solidFill>
                      <a:srgbClr val="EEE8DD"/>
                    </a:solidFill>
                  </a:tcPr>
                </a:tc>
                <a:tc>
                  <a:txBody>
                    <a:bodyPr/>
                    <a:lstStyle/>
                    <a:p>
                      <a:r>
                        <a:rPr sz="1100" b="1">
                          <a:solidFill>
                            <a:srgbClr val="4C4842"/>
                          </a:solidFill>
                          <a:latin typeface="Be Vietnam Pro"/>
                        </a:rPr>
                        <a:t>Nội dung</a:t>
                      </a:r>
                    </a:p>
                  </a:txBody>
                  <a:tcPr marL="82296" marR="82296" marT="27432" marB="27432" anchor="ctr">
                    <a:solidFill>
                      <a:srgbClr val="EEE8DD"/>
                    </a:solidFill>
                  </a:tcPr>
                </a:tc>
              </a:tr>
              <a:tr h="475488">
                <a:tc>
                  <a:txBody>
                    <a:bodyPr/>
                    <a:lstStyle/>
                    <a:p>
                      <a:pPr>
                        <a:lnSpc>
                          <a:spcPct val="105000"/>
                        </a:lnSpc>
                      </a:pPr>
                      <a:r>
                        <a:rPr sz="1100" b="1">
                          <a:solidFill>
                            <a:srgbClr val="1B1A17"/>
                          </a:solidFill>
                          <a:latin typeface="Be Vietnam Pro"/>
                        </a:rPr>
                        <a:t>Đăng ký tài liệu bằng AI</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Tải tài liệu → AI điền bản nháp → người xác nhận → phê duyệt điện tử (trang sau)</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Đăng ký người trong ngành</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VĐV·HLV·trọng tài, biểu mẫu động + duyệt 2 cấp (thời hạn luật định)</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Phê duyệt điện tử·công văn</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Soạn·hiệp thương·tiếp nhận·sổ văn bản</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Thu phí·tài trợ</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Tiền đi thẳng người nộp→cổng TT→liên đoàn · tài trợ toàn chu trình (chặn gian lận)</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Hành chính nội dung</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Viết·duyệt bài (phê duyệt)·tin tự sinh · thẻ phóng viên · nhập tường thuật·video</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Quản lý fan·quảng cáo</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Mở/đóng bình chọn · bật/tắt·chạy quảng cáo·chia doanh thu (%)</a:t>
                      </a:r>
                    </a:p>
                  </a:txBody>
                  <a:tcPr marL="82296" marR="82296" marT="27432" marB="27432" anchor="ctr">
                    <a:solidFill>
                      <a:srgbClr val="FFFFFF"/>
                    </a:solidFill>
                  </a:tcPr>
                </a:tc>
              </a:tr>
              <a:tr h="475488">
                <a:tc>
                  <a:txBody>
                    <a:bodyPr/>
                    <a:lstStyle/>
                    <a:p>
                      <a:pPr>
                        <a:lnSpc>
                          <a:spcPct val="105000"/>
                        </a:lnSpc>
                      </a:pPr>
                      <a:r>
                        <a:rPr sz="1100" b="1">
                          <a:solidFill>
                            <a:srgbClr val="1B1A17"/>
                          </a:solidFill>
                          <a:latin typeface="Be Vietnam Pro"/>
                        </a:rPr>
                        <a:t>Dịch vụ hội viên /my</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Vòng đời cá nhân — đăng ký·thành tích·hồ sơ·nộp phí·theo dõi·hồ sơ tài trợ</a:t>
                      </a:r>
                    </a:p>
                  </a:txBody>
                  <a:tcPr marL="82296" marR="82296" marT="27432" marB="27432" anchor="ctr">
                    <a:solidFill>
                      <a:srgbClr val="FFFFFF"/>
                    </a:solidFill>
                  </a:tcPr>
                </a:tc>
              </a:tr>
            </a:tbl>
          </a:graphicData>
        </a:graphic>
      </p:graphicFrame>
      <p:sp>
        <p:nvSpPr>
          <p:cNvPr id="7" name="TextBox 6"/>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8" name="TextBox 7"/>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07</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Ranh giới dữ liệu &amp; bảo mật</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Áp dụng phân cấp Công khai/Nhạy cảm/Mật (tham chiếu N²SF Hàn Quốc)</a:t>
            </a:r>
          </a:p>
        </p:txBody>
      </p:sp>
      <p:graphicFrame>
        <p:nvGraphicFramePr>
          <p:cNvPr id="6" name="Table 5"/>
          <p:cNvGraphicFramePr>
            <a:graphicFrameLocks noGrp="1"/>
          </p:cNvGraphicFramePr>
          <p:nvPr/>
        </p:nvGraphicFramePr>
        <p:xfrm>
          <a:off x="777240" y="1965960"/>
          <a:ext cx="10637214" cy="2011680"/>
        </p:xfrm>
        <a:graphic>
          <a:graphicData uri="http://schemas.openxmlformats.org/drawingml/2006/table">
            <a:tbl>
              <a:tblPr firstRow="1" bandRow="1">
                <a:tableStyleId>{5C22544A-7EE6-4342-B048-85BDC9FD1C3A}</a:tableStyleId>
              </a:tblPr>
              <a:tblGrid>
                <a:gridCol w="1701954"/>
                <a:gridCol w="5744096"/>
                <a:gridCol w="3191164"/>
              </a:tblGrid>
              <a:tr h="365760">
                <a:tc>
                  <a:txBody>
                    <a:bodyPr/>
                    <a:lstStyle/>
                    <a:p>
                      <a:r>
                        <a:rPr sz="1100" b="1">
                          <a:solidFill>
                            <a:srgbClr val="4C4842"/>
                          </a:solidFill>
                          <a:latin typeface="Be Vietnam Pro"/>
                        </a:rPr>
                        <a:t>Cấp</a:t>
                      </a:r>
                    </a:p>
                  </a:txBody>
                  <a:tcPr marL="82296" marR="82296" marT="27432" marB="27432" anchor="ctr">
                    <a:solidFill>
                      <a:srgbClr val="EEE8DD"/>
                    </a:solidFill>
                  </a:tcPr>
                </a:tc>
                <a:tc>
                  <a:txBody>
                    <a:bodyPr/>
                    <a:lstStyle/>
                    <a:p>
                      <a:r>
                        <a:rPr sz="1100" b="1">
                          <a:solidFill>
                            <a:srgbClr val="4C4842"/>
                          </a:solidFill>
                          <a:latin typeface="Be Vietnam Pro"/>
                        </a:rPr>
                        <a:t>Dữ liệu</a:t>
                      </a:r>
                    </a:p>
                  </a:txBody>
                  <a:tcPr marL="82296" marR="82296" marT="27432" marB="27432" anchor="ctr">
                    <a:solidFill>
                      <a:srgbClr val="EEE8DD"/>
                    </a:solidFill>
                  </a:tcPr>
                </a:tc>
                <a:tc>
                  <a:txBody>
                    <a:bodyPr/>
                    <a:lstStyle/>
                    <a:p>
                      <a:r>
                        <a:rPr sz="1100" b="1">
                          <a:solidFill>
                            <a:srgbClr val="4C4842"/>
                          </a:solidFill>
                          <a:latin typeface="Be Vietnam Pro"/>
                        </a:rPr>
                        <a:t>Truy cập</a:t>
                      </a:r>
                    </a:p>
                  </a:txBody>
                  <a:tcPr marL="82296" marR="82296" marT="27432" marB="27432" anchor="ctr">
                    <a:solidFill>
                      <a:srgbClr val="EEE8DD"/>
                    </a:solidFill>
                  </a:tcPr>
                </a:tc>
              </a:tr>
              <a:tr h="548640">
                <a:tc>
                  <a:txBody>
                    <a:bodyPr/>
                    <a:lstStyle/>
                    <a:p>
                      <a:pPr>
                        <a:lnSpc>
                          <a:spcPct val="105000"/>
                        </a:lnSpc>
                      </a:pPr>
                      <a:r>
                        <a:rPr sz="1100" b="1">
                          <a:solidFill>
                            <a:srgbClr val="1B1A17"/>
                          </a:solidFill>
                          <a:latin typeface="Be Vietnam Pro"/>
                        </a:rPr>
                        <a:t>O Công khai</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Kết quả·năm sinh·giải đã duyệt·công khai·thống kê</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Web đối ngoại (vai trò riêng)</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S Nhạy cảm</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Điện thoại·hồ sơ·phê duyệt·thu phí·tài trợ·công văn</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Vai trò nghiệp vụ + chính chủ</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C Mật</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Băm CCCD·sức khỏe·kỷ luật/doping·người tố giác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Kiểm soát bổ sung (sau)</a:t>
                      </a:r>
                    </a:p>
                  </a:txBody>
                  <a:tcPr marL="82296" marR="82296" marT="27432" marB="27432" anchor="ctr">
                    <a:solidFill>
                      <a:srgbClr val="FFFFFF"/>
                    </a:solidFill>
                  </a:tcPr>
                </a:tc>
              </a:tr>
            </a:tbl>
          </a:graphicData>
        </a:graphic>
      </p:graphicFrame>
      <p:sp>
        <p:nvSpPr>
          <p:cNvPr id="7" name="Rectangle 6"/>
          <p:cNvSpPr/>
          <p:nvPr/>
        </p:nvSpPr>
        <p:spPr>
          <a:xfrm>
            <a:off x="777240" y="4087368"/>
            <a:ext cx="10637215" cy="731520"/>
          </a:xfrm>
          <a:prstGeom prst="rect">
            <a:avLst/>
          </a:prstGeom>
          <a:solidFill>
            <a:srgbClr val="F4D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4087368"/>
            <a:ext cx="45720" cy="73152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4206240"/>
            <a:ext cx="10234879" cy="219456"/>
          </a:xfrm>
          <a:prstGeom prst="rect">
            <a:avLst/>
          </a:prstGeom>
          <a:noFill/>
        </p:spPr>
        <p:txBody>
          <a:bodyPr wrap="square" anchor="t" lIns="0" rIns="0" tIns="0" bIns="0">
            <a:spAutoFit/>
          </a:bodyPr>
          <a:lstStyle/>
          <a:p>
            <a:pPr algn="l">
              <a:lnSpc>
                <a:spcPct val="125000"/>
              </a:lnSpc>
            </a:pPr>
            <a:r>
              <a:rPr sz="900" b="1">
                <a:solidFill>
                  <a:srgbClr val="B5341F"/>
                </a:solidFill>
                <a:latin typeface="Consolas"/>
              </a:rPr>
              <a:t>Cách cưỡng chế</a:t>
            </a:r>
          </a:p>
        </p:txBody>
      </p:sp>
      <p:sp>
        <p:nvSpPr>
          <p:cNvPr id="10" name="TextBox 9"/>
          <p:cNvSpPr txBox="1"/>
          <p:nvPr/>
        </p:nvSpPr>
        <p:spPr>
          <a:xfrm>
            <a:off x="978408" y="4453128"/>
            <a:ext cx="10234879" cy="25603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Web đối ngoại chỉ đọc view pub bằng vai trò DB riêng. Quyền kiểm tra ở từng màn·action·API. Kiểm tra tự động bắt vi phạm ngay khi build. CCCD chỉ băm, dưới 18 tuổi không công khai.</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08</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Cơ cấu môn thể thao</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Đủ 43 môn · cấu trúc 1.471 chi hội tỉnh/thành · nhận danh sách thì chỉ thay dữ liệu</a:t>
            </a:r>
          </a:p>
        </p:txBody>
      </p:sp>
      <p:graphicFrame>
        <p:nvGraphicFramePr>
          <p:cNvPr id="6" name="Table 5"/>
          <p:cNvGraphicFramePr>
            <a:graphicFrameLocks noGrp="1"/>
          </p:cNvGraphicFramePr>
          <p:nvPr/>
        </p:nvGraphicFramePr>
        <p:xfrm>
          <a:off x="777240" y="1965960"/>
          <a:ext cx="10637214" cy="3108960"/>
        </p:xfrm>
        <a:graphic>
          <a:graphicData uri="http://schemas.openxmlformats.org/drawingml/2006/table">
            <a:tbl>
              <a:tblPr firstRow="1" bandRow="1">
                <a:tableStyleId>{5C22544A-7EE6-4342-B048-85BDC9FD1C3A}</a:tableStyleId>
              </a:tblPr>
              <a:tblGrid>
                <a:gridCol w="2552931"/>
                <a:gridCol w="8084283"/>
              </a:tblGrid>
              <a:tr h="365760">
                <a:tc>
                  <a:txBody>
                    <a:bodyPr/>
                    <a:lstStyle/>
                    <a:p>
                      <a:r>
                        <a:rPr sz="1100" b="1">
                          <a:solidFill>
                            <a:srgbClr val="4C4842"/>
                          </a:solidFill>
                          <a:latin typeface="Be Vietnam Pro"/>
                        </a:rPr>
                        <a:t>Nhóm</a:t>
                      </a:r>
                    </a:p>
                  </a:txBody>
                  <a:tcPr marL="82296" marR="82296" marT="27432" marB="27432" anchor="ctr">
                    <a:solidFill>
                      <a:srgbClr val="EEE8DD"/>
                    </a:solidFill>
                  </a:tcPr>
                </a:tc>
                <a:tc>
                  <a:txBody>
                    <a:bodyPr/>
                    <a:lstStyle/>
                    <a:p>
                      <a:r>
                        <a:rPr sz="1100" b="1">
                          <a:solidFill>
                            <a:srgbClr val="4C4842"/>
                          </a:solidFill>
                          <a:latin typeface="Be Vietnam Pro"/>
                        </a:rPr>
                        <a:t>Môn</a:t>
                      </a:r>
                    </a:p>
                  </a:txBody>
                  <a:tcPr marL="82296" marR="82296" marT="27432" marB="27432" anchor="ctr">
                    <a:solidFill>
                      <a:srgbClr val="EEE8DD"/>
                    </a:solidFill>
                  </a:tcPr>
                </a:tc>
              </a:tr>
              <a:tr h="548640">
                <a:tc>
                  <a:txBody>
                    <a:bodyPr/>
                    <a:lstStyle/>
                    <a:p>
                      <a:pPr>
                        <a:lnSpc>
                          <a:spcPct val="105000"/>
                        </a:lnSpc>
                      </a:pPr>
                      <a:r>
                        <a:rPr sz="1100" b="1">
                          <a:solidFill>
                            <a:srgbClr val="1B1A17"/>
                          </a:solidFill>
                          <a:latin typeface="Be Vietnam Pro"/>
                        </a:rPr>
                        <a:t>Nhóm 1 (trọng điểm)</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Bóng đá·bóng chuyền·điền kinh·bơi·cầu lông·taekwondo·vovinam·bóng rổ·thể thao điện tử</a:t>
                      </a:r>
                    </a:p>
                  </a:txBody>
                  <a:tcPr marL="82296" marR="82296" marT="27432" marB="27432" anchor="ctr">
                    <a:solidFill>
                      <a:srgbClr val="FFFFFF"/>
                    </a:solidFill>
                  </a:tcPr>
                </a:tc>
              </a:tr>
              <a:tr h="548640">
                <a:tc>
                  <a:txBody>
                    <a:bodyPr/>
                    <a:lstStyle/>
                    <a:p>
                      <a:pPr>
                        <a:lnSpc>
                          <a:spcPct val="105000"/>
                        </a:lnSpc>
                      </a:pPr>
                      <a:r>
                        <a:rPr sz="1100" b="0">
                          <a:solidFill>
                            <a:srgbClr val="4C4842"/>
                          </a:solidFill>
                          <a:latin typeface="Be Vietnam Pro"/>
                        </a:rPr>
                        <a:t>Nhóm 2 (Olympic)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Bóng bàn·quần vợt·boxing·judo·vật·cử tạ·bắn cung·bắn súng·đấu kiếm·xe đạp·đua thuyền·TDDC·bóng ném·bóng chày…</a:t>
                      </a:r>
                    </a:p>
                  </a:txBody>
                  <a:tcPr marL="82296" marR="82296" marT="27432" marB="27432" anchor="ctr">
                    <a:solidFill>
                      <a:srgbClr val="FFFFFF"/>
                    </a:solidFill>
                  </a:tcPr>
                </a:tc>
              </a:tr>
              <a:tr h="548640">
                <a:tc>
                  <a:txBody>
                    <a:bodyPr/>
                    <a:lstStyle/>
                    <a:p>
                      <a:pPr>
                        <a:lnSpc>
                          <a:spcPct val="105000"/>
                        </a:lnSpc>
                      </a:pPr>
                      <a:r>
                        <a:rPr sz="1100" b="0">
                          <a:solidFill>
                            <a:srgbClr val="4C4842"/>
                          </a:solidFill>
                          <a:latin typeface="Be Vietnam Pro"/>
                        </a:rPr>
                        <a:t>Nhóm 3 (khu vực·võ)</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Pencak Silat·cầu mây·wushu·karate·muay·jujitsu·cờ vua·cờ tướng·bi-a·bowling·golf…</a:t>
                      </a:r>
                    </a:p>
                  </a:txBody>
                  <a:tcPr marL="82296" marR="82296" marT="27432" marB="27432" anchor="ctr">
                    <a:solidFill>
                      <a:srgbClr val="FFFFFF"/>
                    </a:solidFill>
                  </a:tcPr>
                </a:tc>
              </a:tr>
              <a:tr h="548640">
                <a:tc>
                  <a:txBody>
                    <a:bodyPr/>
                    <a:lstStyle/>
                    <a:p>
                      <a:pPr>
                        <a:lnSpc>
                          <a:spcPct val="105000"/>
                        </a:lnSpc>
                      </a:pPr>
                      <a:r>
                        <a:rPr sz="1100" b="1">
                          <a:solidFill>
                            <a:srgbClr val="1B1A17"/>
                          </a:solidFill>
                          <a:latin typeface="Be Vietnam Pro"/>
                        </a:rPr>
                        <a:t>Nhóm 4 (truyền thống VN)</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Đá cầu·võ cổ truyền — thư mục khác biệt của VSP (Naver·Hàn không có)</a:t>
                      </a:r>
                    </a:p>
                  </a:txBody>
                  <a:tcPr marL="82296" marR="82296" marT="27432" marB="27432" anchor="ctr">
                    <a:solidFill>
                      <a:srgbClr val="FFFFFF"/>
                    </a:solidFill>
                  </a:tcPr>
                </a:tc>
              </a:tr>
              <a:tr h="548640">
                <a:tc>
                  <a:txBody>
                    <a:bodyPr/>
                    <a:lstStyle/>
                    <a:p>
                      <a:pPr>
                        <a:lnSpc>
                          <a:spcPct val="105000"/>
                        </a:lnSpc>
                      </a:pPr>
                      <a:r>
                        <a:rPr sz="1100" b="0">
                          <a:solidFill>
                            <a:srgbClr val="4C4842"/>
                          </a:solidFill>
                          <a:latin typeface="Be Vietnam Pro"/>
                        </a:rPr>
                        <a:t>Trục riêng</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Thể thao người khuyết tật — cùng nền tảng (nhóm riêng) hay tách (quyết tại họp)</a:t>
                      </a:r>
                    </a:p>
                  </a:txBody>
                  <a:tcPr marL="82296" marR="82296" marT="27432" marB="27432" anchor="ctr">
                    <a:solidFill>
                      <a:srgbClr val="FFFFFF"/>
                    </a:solidFill>
                  </a:tcPr>
                </a:tc>
              </a:tr>
            </a:tbl>
          </a:graphicData>
        </a:graphic>
      </p:graphicFrame>
      <p:sp>
        <p:nvSpPr>
          <p:cNvPr id="7" name="TextBox 6"/>
          <p:cNvSpPr txBox="1"/>
          <p:nvPr/>
        </p:nvSpPr>
        <p:spPr>
          <a:xfrm>
            <a:off x="777240" y="5184648"/>
            <a:ext cx="10637215" cy="457200"/>
          </a:xfrm>
          <a:prstGeom prst="rect">
            <a:avLst/>
          </a:prstGeom>
          <a:noFill/>
        </p:spPr>
        <p:txBody>
          <a:bodyPr wrap="square" anchor="t" lIns="0" rIns="0" tIns="0" bIns="0">
            <a:spAutoFit/>
          </a:bodyPr>
          <a:lstStyle/>
          <a:p>
            <a:pPr algn="l">
              <a:lnSpc>
                <a:spcPct val="120000"/>
              </a:lnSpc>
            </a:pPr>
            <a:r>
              <a:rPr sz="1000" b="0">
                <a:solidFill>
                  <a:srgbClr val="847C70"/>
                </a:solidFill>
                <a:latin typeface="Be Vietnam Pro"/>
              </a:rPr>
              <a:t>Danh mục đủ 43 môn + 34 tỉnh/thành (cải cách 2025) × môn = cấu trúc 1.471 chi hội (mã tạm, thay khi có mã chính thức). Căn cứ: SEA Games 31 = 40 môn.</a:t>
            </a:r>
          </a:p>
        </p:txBody>
      </p:sp>
      <p:sp>
        <p:nvSpPr>
          <p:cNvPr id="8" name="TextBox 7"/>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9" name="TextBox 8"/>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06</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Đăng ký tài liệu bằng AI → Phê duyệt điện tử</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Trục nghiệp vụ số 1 — "tải tài liệu lên là biểu mẫu được điền"</a:t>
            </a:r>
          </a:p>
        </p:txBody>
      </p:sp>
      <p:sp>
        <p:nvSpPr>
          <p:cNvPr id="6" name="Rectangle 5"/>
          <p:cNvSpPr/>
          <p:nvPr/>
        </p:nvSpPr>
        <p:spPr>
          <a:xfrm>
            <a:off x="777240" y="1965960"/>
            <a:ext cx="2453563" cy="123444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075688"/>
            <a:ext cx="2197531" cy="219456"/>
          </a:xfrm>
          <a:prstGeom prst="rect">
            <a:avLst/>
          </a:prstGeom>
          <a:noFill/>
        </p:spPr>
        <p:txBody>
          <a:bodyPr wrap="square" anchor="t" lIns="0" rIns="0" tIns="0" bIns="0">
            <a:spAutoFit/>
          </a:bodyPr>
          <a:lstStyle/>
          <a:p>
            <a:pPr algn="l">
              <a:lnSpc>
                <a:spcPct val="125000"/>
              </a:lnSpc>
            </a:pPr>
            <a:r>
              <a:rPr sz="1000" b="0">
                <a:solidFill>
                  <a:srgbClr val="B5341F"/>
                </a:solidFill>
                <a:latin typeface="Consolas"/>
              </a:rPr>
              <a:t>01</a:t>
            </a:r>
          </a:p>
        </p:txBody>
      </p:sp>
      <p:sp>
        <p:nvSpPr>
          <p:cNvPr id="8" name="TextBox 7"/>
          <p:cNvSpPr txBox="1"/>
          <p:nvPr/>
        </p:nvSpPr>
        <p:spPr>
          <a:xfrm>
            <a:off x="905256" y="2313432"/>
            <a:ext cx="2197531" cy="365760"/>
          </a:xfrm>
          <a:prstGeom prst="rect">
            <a:avLst/>
          </a:prstGeom>
          <a:noFill/>
        </p:spPr>
        <p:txBody>
          <a:bodyPr wrap="square" anchor="t" lIns="0" rIns="0" tIns="0" bIns="0">
            <a:spAutoFit/>
          </a:bodyPr>
          <a:lstStyle/>
          <a:p>
            <a:pPr algn="l">
              <a:lnSpc>
                <a:spcPct val="105000"/>
              </a:lnSpc>
            </a:pPr>
            <a:r>
              <a:rPr sz="1300" b="1">
                <a:solidFill>
                  <a:srgbClr val="1B1A17"/>
                </a:solidFill>
                <a:latin typeface="Be Vietnam Pro"/>
              </a:rPr>
              <a:t>Tải tài liệu</a:t>
            </a:r>
          </a:p>
        </p:txBody>
      </p:sp>
      <p:sp>
        <p:nvSpPr>
          <p:cNvPr id="9" name="TextBox 8"/>
          <p:cNvSpPr txBox="1"/>
          <p:nvPr/>
        </p:nvSpPr>
        <p:spPr>
          <a:xfrm>
            <a:off x="905256" y="2752344"/>
            <a:ext cx="2197531" cy="32004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scan·PDF·văn bản</a:t>
            </a:r>
          </a:p>
        </p:txBody>
      </p:sp>
      <p:sp>
        <p:nvSpPr>
          <p:cNvPr id="10" name="TextBox 9"/>
          <p:cNvSpPr txBox="1"/>
          <p:nvPr/>
        </p:nvSpPr>
        <p:spPr>
          <a:xfrm>
            <a:off x="3249091" y="2377440"/>
            <a:ext cx="256032" cy="365760"/>
          </a:xfrm>
          <a:prstGeom prst="rect">
            <a:avLst/>
          </a:prstGeom>
          <a:noFill/>
        </p:spPr>
        <p:txBody>
          <a:bodyPr wrap="square" anchor="t" lIns="0" rIns="0" tIns="0" bIns="0">
            <a:spAutoFit/>
          </a:bodyPr>
          <a:lstStyle/>
          <a:p>
            <a:pPr algn="ctr">
              <a:lnSpc>
                <a:spcPct val="125000"/>
              </a:lnSpc>
            </a:pPr>
            <a:r>
              <a:rPr sz="1800" b="1">
                <a:solidFill>
                  <a:srgbClr val="847C70"/>
                </a:solidFill>
                <a:latin typeface="Consolas"/>
              </a:rPr>
              <a:t>→</a:t>
            </a:r>
          </a:p>
        </p:txBody>
      </p:sp>
      <p:sp>
        <p:nvSpPr>
          <p:cNvPr id="11" name="Rectangle 10"/>
          <p:cNvSpPr/>
          <p:nvPr/>
        </p:nvSpPr>
        <p:spPr>
          <a:xfrm>
            <a:off x="3505123" y="1965960"/>
            <a:ext cx="2453563" cy="123444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3139" y="2075688"/>
            <a:ext cx="2197531" cy="219456"/>
          </a:xfrm>
          <a:prstGeom prst="rect">
            <a:avLst/>
          </a:prstGeom>
          <a:noFill/>
        </p:spPr>
        <p:txBody>
          <a:bodyPr wrap="square" anchor="t" lIns="0" rIns="0" tIns="0" bIns="0">
            <a:spAutoFit/>
          </a:bodyPr>
          <a:lstStyle/>
          <a:p>
            <a:pPr algn="l">
              <a:lnSpc>
                <a:spcPct val="125000"/>
              </a:lnSpc>
            </a:pPr>
            <a:r>
              <a:rPr sz="1000" b="0">
                <a:solidFill>
                  <a:srgbClr val="B5341F"/>
                </a:solidFill>
                <a:latin typeface="Consolas"/>
              </a:rPr>
              <a:t>02</a:t>
            </a:r>
          </a:p>
        </p:txBody>
      </p:sp>
      <p:sp>
        <p:nvSpPr>
          <p:cNvPr id="13" name="TextBox 12"/>
          <p:cNvSpPr txBox="1"/>
          <p:nvPr/>
        </p:nvSpPr>
        <p:spPr>
          <a:xfrm>
            <a:off x="3633139" y="2313432"/>
            <a:ext cx="2197531" cy="365760"/>
          </a:xfrm>
          <a:prstGeom prst="rect">
            <a:avLst/>
          </a:prstGeom>
          <a:noFill/>
        </p:spPr>
        <p:txBody>
          <a:bodyPr wrap="square" anchor="t" lIns="0" rIns="0" tIns="0" bIns="0">
            <a:spAutoFit/>
          </a:bodyPr>
          <a:lstStyle/>
          <a:p>
            <a:pPr algn="l">
              <a:lnSpc>
                <a:spcPct val="105000"/>
              </a:lnSpc>
            </a:pPr>
            <a:r>
              <a:rPr sz="1300" b="1">
                <a:solidFill>
                  <a:srgbClr val="1B1A17"/>
                </a:solidFill>
                <a:latin typeface="Be Vietnam Pro"/>
              </a:rPr>
              <a:t>AI trích xuất</a:t>
            </a:r>
          </a:p>
        </p:txBody>
      </p:sp>
      <p:sp>
        <p:nvSpPr>
          <p:cNvPr id="14" name="TextBox 13"/>
          <p:cNvSpPr txBox="1"/>
          <p:nvPr/>
        </p:nvSpPr>
        <p:spPr>
          <a:xfrm>
            <a:off x="3633139" y="2752344"/>
            <a:ext cx="2197531" cy="32004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bản nháp · độ tin cậy từng mục</a:t>
            </a:r>
          </a:p>
        </p:txBody>
      </p:sp>
      <p:sp>
        <p:nvSpPr>
          <p:cNvPr id="15" name="TextBox 14"/>
          <p:cNvSpPr txBox="1"/>
          <p:nvPr/>
        </p:nvSpPr>
        <p:spPr>
          <a:xfrm>
            <a:off x="5976975" y="2377440"/>
            <a:ext cx="256032" cy="365760"/>
          </a:xfrm>
          <a:prstGeom prst="rect">
            <a:avLst/>
          </a:prstGeom>
          <a:noFill/>
        </p:spPr>
        <p:txBody>
          <a:bodyPr wrap="square" anchor="t" lIns="0" rIns="0" tIns="0" bIns="0">
            <a:spAutoFit/>
          </a:bodyPr>
          <a:lstStyle/>
          <a:p>
            <a:pPr algn="ctr">
              <a:lnSpc>
                <a:spcPct val="125000"/>
              </a:lnSpc>
            </a:pPr>
            <a:r>
              <a:rPr sz="1800" b="1">
                <a:solidFill>
                  <a:srgbClr val="847C70"/>
                </a:solidFill>
                <a:latin typeface="Consolas"/>
              </a:rPr>
              <a:t>→</a:t>
            </a:r>
          </a:p>
        </p:txBody>
      </p:sp>
      <p:sp>
        <p:nvSpPr>
          <p:cNvPr id="16" name="Rectangle 15"/>
          <p:cNvSpPr/>
          <p:nvPr/>
        </p:nvSpPr>
        <p:spPr>
          <a:xfrm>
            <a:off x="6233007" y="1965960"/>
            <a:ext cx="2453563" cy="123444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2075688"/>
            <a:ext cx="2197531" cy="219456"/>
          </a:xfrm>
          <a:prstGeom prst="rect">
            <a:avLst/>
          </a:prstGeom>
          <a:noFill/>
        </p:spPr>
        <p:txBody>
          <a:bodyPr wrap="square" anchor="t" lIns="0" rIns="0" tIns="0" bIns="0">
            <a:spAutoFit/>
          </a:bodyPr>
          <a:lstStyle/>
          <a:p>
            <a:pPr algn="l">
              <a:lnSpc>
                <a:spcPct val="125000"/>
              </a:lnSpc>
            </a:pPr>
            <a:r>
              <a:rPr sz="1000" b="0">
                <a:solidFill>
                  <a:srgbClr val="B5341F"/>
                </a:solidFill>
                <a:latin typeface="Consolas"/>
              </a:rPr>
              <a:t>03</a:t>
            </a:r>
          </a:p>
        </p:txBody>
      </p:sp>
      <p:sp>
        <p:nvSpPr>
          <p:cNvPr id="18" name="TextBox 17"/>
          <p:cNvSpPr txBox="1"/>
          <p:nvPr/>
        </p:nvSpPr>
        <p:spPr>
          <a:xfrm>
            <a:off x="6361023" y="2313432"/>
            <a:ext cx="2197531" cy="365760"/>
          </a:xfrm>
          <a:prstGeom prst="rect">
            <a:avLst/>
          </a:prstGeom>
          <a:noFill/>
        </p:spPr>
        <p:txBody>
          <a:bodyPr wrap="square" anchor="t" lIns="0" rIns="0" tIns="0" bIns="0">
            <a:spAutoFit/>
          </a:bodyPr>
          <a:lstStyle/>
          <a:p>
            <a:pPr algn="l">
              <a:lnSpc>
                <a:spcPct val="105000"/>
              </a:lnSpc>
            </a:pPr>
            <a:r>
              <a:rPr sz="1300" b="1">
                <a:solidFill>
                  <a:srgbClr val="1B1A17"/>
                </a:solidFill>
                <a:latin typeface="Be Vietnam Pro"/>
              </a:rPr>
              <a:t>Người xác nhận</a:t>
            </a:r>
          </a:p>
        </p:txBody>
      </p:sp>
      <p:sp>
        <p:nvSpPr>
          <p:cNvPr id="19" name="TextBox 18"/>
          <p:cNvSpPr txBox="1"/>
          <p:nvPr/>
        </p:nvSpPr>
        <p:spPr>
          <a:xfrm>
            <a:off x="6361023" y="2752344"/>
            <a:ext cx="2197531" cy="32004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chỉ soát mục tin cậy thấp</a:t>
            </a:r>
          </a:p>
        </p:txBody>
      </p:sp>
      <p:sp>
        <p:nvSpPr>
          <p:cNvPr id="20" name="TextBox 19"/>
          <p:cNvSpPr txBox="1"/>
          <p:nvPr/>
        </p:nvSpPr>
        <p:spPr>
          <a:xfrm>
            <a:off x="8704859" y="2377440"/>
            <a:ext cx="256032" cy="365760"/>
          </a:xfrm>
          <a:prstGeom prst="rect">
            <a:avLst/>
          </a:prstGeom>
          <a:noFill/>
        </p:spPr>
        <p:txBody>
          <a:bodyPr wrap="square" anchor="t" lIns="0" rIns="0" tIns="0" bIns="0">
            <a:spAutoFit/>
          </a:bodyPr>
          <a:lstStyle/>
          <a:p>
            <a:pPr algn="ctr">
              <a:lnSpc>
                <a:spcPct val="125000"/>
              </a:lnSpc>
            </a:pPr>
            <a:r>
              <a:rPr sz="1800" b="1">
                <a:solidFill>
                  <a:srgbClr val="847C70"/>
                </a:solidFill>
                <a:latin typeface="Consolas"/>
              </a:rPr>
              <a:t>→</a:t>
            </a:r>
          </a:p>
        </p:txBody>
      </p:sp>
      <p:sp>
        <p:nvSpPr>
          <p:cNvPr id="21" name="Rectangle 20"/>
          <p:cNvSpPr/>
          <p:nvPr/>
        </p:nvSpPr>
        <p:spPr>
          <a:xfrm>
            <a:off x="8960891" y="1965960"/>
            <a:ext cx="2453563" cy="1234440"/>
          </a:xfrm>
          <a:prstGeom prst="rect">
            <a:avLst/>
          </a:prstGeom>
          <a:solidFill>
            <a:srgbClr val="EEE8DD"/>
          </a:solidFill>
          <a:ln w="12700">
            <a:solidFill>
              <a:srgbClr val="D9D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8907" y="2075688"/>
            <a:ext cx="2197531" cy="219456"/>
          </a:xfrm>
          <a:prstGeom prst="rect">
            <a:avLst/>
          </a:prstGeom>
          <a:noFill/>
        </p:spPr>
        <p:txBody>
          <a:bodyPr wrap="square" anchor="t" lIns="0" rIns="0" tIns="0" bIns="0">
            <a:spAutoFit/>
          </a:bodyPr>
          <a:lstStyle/>
          <a:p>
            <a:pPr algn="l">
              <a:lnSpc>
                <a:spcPct val="125000"/>
              </a:lnSpc>
            </a:pPr>
            <a:r>
              <a:rPr sz="1000" b="0">
                <a:solidFill>
                  <a:srgbClr val="B5341F"/>
                </a:solidFill>
                <a:latin typeface="Consolas"/>
              </a:rPr>
              <a:t>04</a:t>
            </a:r>
          </a:p>
        </p:txBody>
      </p:sp>
      <p:sp>
        <p:nvSpPr>
          <p:cNvPr id="23" name="TextBox 22"/>
          <p:cNvSpPr txBox="1"/>
          <p:nvPr/>
        </p:nvSpPr>
        <p:spPr>
          <a:xfrm>
            <a:off x="9088907" y="2313432"/>
            <a:ext cx="2197531" cy="365760"/>
          </a:xfrm>
          <a:prstGeom prst="rect">
            <a:avLst/>
          </a:prstGeom>
          <a:noFill/>
        </p:spPr>
        <p:txBody>
          <a:bodyPr wrap="square" anchor="t" lIns="0" rIns="0" tIns="0" bIns="0">
            <a:spAutoFit/>
          </a:bodyPr>
          <a:lstStyle/>
          <a:p>
            <a:pPr algn="l">
              <a:lnSpc>
                <a:spcPct val="105000"/>
              </a:lnSpc>
            </a:pPr>
            <a:r>
              <a:rPr sz="1300" b="1">
                <a:solidFill>
                  <a:srgbClr val="1B1A17"/>
                </a:solidFill>
                <a:latin typeface="Be Vietnam Pro"/>
              </a:rPr>
              <a:t>Phê duyệt điện tử</a:t>
            </a:r>
          </a:p>
        </p:txBody>
      </p:sp>
      <p:sp>
        <p:nvSpPr>
          <p:cNvPr id="24" name="TextBox 23"/>
          <p:cNvSpPr txBox="1"/>
          <p:nvPr/>
        </p:nvSpPr>
        <p:spPr>
          <a:xfrm>
            <a:off x="9088907" y="2752344"/>
            <a:ext cx="2197531" cy="320040"/>
          </a:xfrm>
          <a:prstGeom prst="rect">
            <a:avLst/>
          </a:prstGeom>
          <a:noFill/>
        </p:spPr>
        <p:txBody>
          <a:bodyPr wrap="square" anchor="t" lIns="0" rIns="0" tIns="0" bIns="0">
            <a:spAutoFit/>
          </a:bodyPr>
          <a:lstStyle/>
          <a:p>
            <a:pPr algn="l">
              <a:lnSpc>
                <a:spcPct val="110000"/>
              </a:lnSpc>
            </a:pPr>
            <a:r>
              <a:rPr sz="1050" b="0">
                <a:solidFill>
                  <a:srgbClr val="4C4842"/>
                </a:solidFill>
                <a:latin typeface="Be Vietnam Pro"/>
              </a:rPr>
              <a:t>xác nhận thì nộp·bắt đầu duyệt</a:t>
            </a:r>
          </a:p>
        </p:txBody>
      </p:sp>
      <p:graphicFrame>
        <p:nvGraphicFramePr>
          <p:cNvPr id="25" name="Table 24"/>
          <p:cNvGraphicFramePr>
            <a:graphicFrameLocks noGrp="1"/>
          </p:cNvGraphicFramePr>
          <p:nvPr/>
        </p:nvGraphicFramePr>
        <p:xfrm>
          <a:off x="777240" y="3429000"/>
          <a:ext cx="10637214" cy="2194560"/>
        </p:xfrm>
        <a:graphic>
          <a:graphicData uri="http://schemas.openxmlformats.org/drawingml/2006/table">
            <a:tbl>
              <a:tblPr firstRow="1" bandRow="1">
                <a:tableStyleId>{5C22544A-7EE6-4342-B048-85BDC9FD1C3A}</a:tableStyleId>
              </a:tblPr>
              <a:tblGrid>
                <a:gridCol w="3191164"/>
                <a:gridCol w="7446050"/>
              </a:tblGrid>
              <a:tr h="365760">
                <a:tc>
                  <a:txBody>
                    <a:bodyPr/>
                    <a:lstStyle/>
                    <a:p>
                      <a:r>
                        <a:rPr sz="1100" b="1">
                          <a:solidFill>
                            <a:srgbClr val="4C4842"/>
                          </a:solidFill>
                          <a:latin typeface="Be Vietnam Pro"/>
                        </a:rPr>
                        <a:t>Nguyên tắc</a:t>
                      </a:r>
                    </a:p>
                  </a:txBody>
                  <a:tcPr marL="82296" marR="82296" marT="27432" marB="27432" anchor="ctr">
                    <a:solidFill>
                      <a:srgbClr val="EEE8DD"/>
                    </a:solidFill>
                  </a:tcPr>
                </a:tc>
                <a:tc>
                  <a:txBody>
                    <a:bodyPr/>
                    <a:lstStyle/>
                    <a:p>
                      <a:r>
                        <a:rPr sz="1100" b="1">
                          <a:solidFill>
                            <a:srgbClr val="4C4842"/>
                          </a:solidFill>
                          <a:latin typeface="Be Vietnam Pro"/>
                        </a:rPr>
                        <a:t>Lý do</a:t>
                      </a:r>
                    </a:p>
                  </a:txBody>
                  <a:tcPr marL="82296" marR="82296" marT="27432" marB="27432" anchor="ctr">
                    <a:solidFill>
                      <a:srgbClr val="EEE8DD"/>
                    </a:solidFill>
                  </a:tcPr>
                </a:tc>
              </a:tr>
              <a:tr h="457200">
                <a:tc>
                  <a:txBody>
                    <a:bodyPr/>
                    <a:lstStyle/>
                    <a:p>
                      <a:pPr>
                        <a:lnSpc>
                          <a:spcPct val="105000"/>
                        </a:lnSpc>
                      </a:pPr>
                      <a:r>
                        <a:rPr sz="1100" b="1">
                          <a:solidFill>
                            <a:srgbClr val="1B1A17"/>
                          </a:solidFill>
                          <a:latin typeface="Be Vietnam Pro"/>
                        </a:rPr>
                        <a:t>AI chỉ làm bản nháp</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Phải có người xác nhận mới bắt đầu duyệt — không tự duyệt (phòng kiểm toán)</a:t>
                      </a:r>
                    </a:p>
                  </a:txBody>
                  <a:tcPr marL="82296" marR="82296" marT="27432" marB="27432" anchor="ctr">
                    <a:solidFill>
                      <a:srgbClr val="FFFFFF"/>
                    </a:solidFill>
                  </a:tcPr>
                </a:tc>
              </a:tr>
              <a:tr h="457200">
                <a:tc>
                  <a:txBody>
                    <a:bodyPr/>
                    <a:lstStyle/>
                    <a:p>
                      <a:pPr>
                        <a:lnSpc>
                          <a:spcPct val="105000"/>
                        </a:lnSpc>
                      </a:pPr>
                      <a:r>
                        <a:rPr sz="1100" b="1">
                          <a:solidFill>
                            <a:srgbClr val="1B1A17"/>
                          </a:solidFill>
                          <a:latin typeface="Be Vietnam Pro"/>
                        </a:rPr>
                        <a:t>Không bịa</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Chỉ chuyển giá trị có căn cứ; không thấy thì để trống cho người điền</a:t>
                      </a:r>
                    </a:p>
                  </a:txBody>
                  <a:tcPr marL="82296" marR="82296" marT="27432" marB="27432" anchor="ctr">
                    <a:solidFill>
                      <a:srgbClr val="FFFFFF"/>
                    </a:solidFill>
                  </a:tcPr>
                </a:tc>
              </a:tr>
              <a:tr h="457200">
                <a:tc>
                  <a:txBody>
                    <a:bodyPr/>
                    <a:lstStyle/>
                    <a:p>
                      <a:pPr>
                        <a:lnSpc>
                          <a:spcPct val="105000"/>
                        </a:lnSpc>
                      </a:pPr>
                      <a:r>
                        <a:rPr sz="1100" b="1">
                          <a:solidFill>
                            <a:srgbClr val="1B1A17"/>
                          </a:solidFill>
                          <a:latin typeface="Be Vietnam Pro"/>
                        </a:rPr>
                        <a:t>Không trói vào biểu mẫu</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Biểu mẫu nào đến, chỉ cần đăng ký ở trình soạn là điền được</a:t>
                      </a:r>
                    </a:p>
                  </a:txBody>
                  <a:tcPr marL="82296" marR="82296" marT="27432" marB="27432" anchor="ctr">
                    <a:solidFill>
                      <a:srgbClr val="FFFFFF"/>
                    </a:solidFill>
                  </a:tcPr>
                </a:tc>
              </a:tr>
              <a:tr h="457200">
                <a:tc>
                  <a:txBody>
                    <a:bodyPr/>
                    <a:lstStyle/>
                    <a:p>
                      <a:pPr>
                        <a:lnSpc>
                          <a:spcPct val="105000"/>
                        </a:lnSpc>
                      </a:pPr>
                      <a:r>
                        <a:rPr sz="1100" b="1">
                          <a:solidFill>
                            <a:srgbClr val="1B1A17"/>
                          </a:solidFill>
                          <a:latin typeface="Be Vietnam Pro"/>
                        </a:rPr>
                        <a:t>Thay nhà cung cấp được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Bộ trích xuất là adapter — đổi bằng một khóa LLM, không có thì dùng bộ mặc định</a:t>
                      </a:r>
                    </a:p>
                  </a:txBody>
                  <a:tcPr marL="82296" marR="82296" marT="27432" marB="27432" anchor="ctr">
                    <a:solidFill>
                      <a:srgbClr val="FFFFFF"/>
                    </a:solidFill>
                  </a:tcPr>
                </a:tc>
              </a:tr>
            </a:tbl>
          </a:graphicData>
        </a:graphic>
      </p:graphicFrame>
      <p:sp>
        <p:nvSpPr>
          <p:cNvPr id="26" name="Rectangle 25"/>
          <p:cNvSpPr/>
          <p:nvPr/>
        </p:nvSpPr>
        <p:spPr>
          <a:xfrm>
            <a:off x="777240" y="5623560"/>
            <a:ext cx="10637215" cy="777240"/>
          </a:xfrm>
          <a:prstGeom prst="rect">
            <a:avLst/>
          </a:prstGeom>
          <a:solidFill>
            <a:srgbClr val="D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623560"/>
            <a:ext cx="45720" cy="777240"/>
          </a:xfrm>
          <a:prstGeom prst="rect">
            <a:avLst/>
          </a:prstGeom>
          <a:solidFill>
            <a:srgbClr val="1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5742432"/>
            <a:ext cx="10234879" cy="219456"/>
          </a:xfrm>
          <a:prstGeom prst="rect">
            <a:avLst/>
          </a:prstGeom>
          <a:noFill/>
        </p:spPr>
        <p:txBody>
          <a:bodyPr wrap="square" anchor="t" lIns="0" rIns="0" tIns="0" bIns="0">
            <a:spAutoFit/>
          </a:bodyPr>
          <a:lstStyle/>
          <a:p>
            <a:pPr algn="l">
              <a:lnSpc>
                <a:spcPct val="125000"/>
              </a:lnSpc>
            </a:pPr>
            <a:r>
              <a:rPr sz="900" b="1">
                <a:solidFill>
                  <a:srgbClr val="1E6E5C"/>
                </a:solidFill>
                <a:latin typeface="Consolas"/>
              </a:rPr>
              <a:t>Linh hoạt</a:t>
            </a:r>
          </a:p>
        </p:txBody>
      </p:sp>
      <p:sp>
        <p:nvSpPr>
          <p:cNvPr id="29" name="TextBox 28"/>
          <p:cNvSpPr txBox="1"/>
          <p:nvPr/>
        </p:nvSpPr>
        <p:spPr>
          <a:xfrm>
            <a:off x="978408" y="5989320"/>
            <a:ext cx="10234879" cy="30175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Nếu hệ thống báo cáo·phê duyệt thay đổi tại họp, biểu mẫu·luồng duyệt·phân quyền phản ánh ngay bằng cấu hình (không sửa mã).</a:t>
            </a:r>
          </a:p>
        </p:txBody>
      </p:sp>
      <p:sp>
        <p:nvSpPr>
          <p:cNvPr id="30" name="TextBox 29"/>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31" name="TextBox 30"/>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09</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Cách triển khai</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Hoàn thiện trước — điều chỉnh tại họp, chỉ phần phụ thuộc quyết định để lại</a:t>
            </a:r>
          </a:p>
        </p:txBody>
      </p:sp>
      <p:graphicFrame>
        <p:nvGraphicFramePr>
          <p:cNvPr id="6" name="Table 5"/>
          <p:cNvGraphicFramePr>
            <a:graphicFrameLocks noGrp="1"/>
          </p:cNvGraphicFramePr>
          <p:nvPr/>
        </p:nvGraphicFramePr>
        <p:xfrm>
          <a:off x="777240" y="1965960"/>
          <a:ext cx="10637213" cy="3108960"/>
        </p:xfrm>
        <a:graphic>
          <a:graphicData uri="http://schemas.openxmlformats.org/drawingml/2006/table">
            <a:tbl>
              <a:tblPr firstRow="1" bandRow="1">
                <a:tableStyleId>{5C22544A-7EE6-4342-B048-85BDC9FD1C3A}</a:tableStyleId>
              </a:tblPr>
              <a:tblGrid>
                <a:gridCol w="850977"/>
                <a:gridCol w="2765675"/>
                <a:gridCol w="4893118"/>
                <a:gridCol w="2127443"/>
              </a:tblGrid>
              <a:tr h="365760">
                <a:tc>
                  <a:txBody>
                    <a:bodyPr/>
                    <a:lstStyle/>
                    <a:p>
                      <a:r>
                        <a:rPr sz="1050" b="1">
                          <a:solidFill>
                            <a:srgbClr val="4C4842"/>
                          </a:solidFill>
                          <a:latin typeface="Be Vietnam Pro"/>
                        </a:rPr>
                        <a:t>GĐ</a:t>
                      </a:r>
                    </a:p>
                  </a:txBody>
                  <a:tcPr marL="82296" marR="82296" marT="27432" marB="27432" anchor="ctr">
                    <a:solidFill>
                      <a:srgbClr val="EEE8DD"/>
                    </a:solidFill>
                  </a:tcPr>
                </a:tc>
                <a:tc>
                  <a:txBody>
                    <a:bodyPr/>
                    <a:lstStyle/>
                    <a:p>
                      <a:r>
                        <a:rPr sz="1050" b="1">
                          <a:solidFill>
                            <a:srgbClr val="4C4842"/>
                          </a:solidFill>
                          <a:latin typeface="Be Vietnam Pro"/>
                        </a:rPr>
                        <a:t>Mục tiêu</a:t>
                      </a:r>
                    </a:p>
                  </a:txBody>
                  <a:tcPr marL="82296" marR="82296" marT="27432" marB="27432" anchor="ctr">
                    <a:solidFill>
                      <a:srgbClr val="EEE8DD"/>
                    </a:solidFill>
                  </a:tcPr>
                </a:tc>
                <a:tc>
                  <a:txBody>
                    <a:bodyPr/>
                    <a:lstStyle/>
                    <a:p>
                      <a:r>
                        <a:rPr sz="1050" b="1">
                          <a:solidFill>
                            <a:srgbClr val="4C4842"/>
                          </a:solidFill>
                          <a:latin typeface="Be Vietnam Pro"/>
                        </a:rPr>
                        <a:t>Tiêu chí hoàn thành</a:t>
                      </a:r>
                    </a:p>
                  </a:txBody>
                  <a:tcPr marL="82296" marR="82296" marT="27432" marB="27432" anchor="ctr">
                    <a:solidFill>
                      <a:srgbClr val="EEE8DD"/>
                    </a:solidFill>
                  </a:tcPr>
                </a:tc>
                <a:tc>
                  <a:txBody>
                    <a:bodyPr/>
                    <a:lstStyle/>
                    <a:p>
                      <a:r>
                        <a:rPr sz="1050" b="1">
                          <a:solidFill>
                            <a:srgbClr val="4C4842"/>
                          </a:solidFill>
                          <a:latin typeface="Be Vietnam Pro"/>
                        </a:rPr>
                        <a:t>Trạng thái</a:t>
                      </a:r>
                    </a:p>
                  </a:txBody>
                  <a:tcPr marL="82296" marR="82296" marT="27432" marB="27432" anchor="ctr">
                    <a:solidFill>
                      <a:srgbClr val="EEE8DD"/>
                    </a:solidFill>
                  </a:tcPr>
                </a:tc>
              </a:tr>
              <a:tr h="457200">
                <a:tc>
                  <a:txBody>
                    <a:bodyPr/>
                    <a:lstStyle/>
                    <a:p>
                      <a:pPr>
                        <a:lnSpc>
                          <a:spcPct val="105000"/>
                        </a:lnSpc>
                      </a:pPr>
                      <a:r>
                        <a:rPr sz="1050" b="1">
                          <a:solidFill>
                            <a:srgbClr val="1B1A17"/>
                          </a:solidFill>
                          <a:latin typeface="Be Vietnam Pro"/>
                        </a:rPr>
                        <a:t>P0</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Triển khai bản hoàn chỉnh</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Đủ chức năng·kiểm thử·build</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Xong</a:t>
                      </a:r>
                    </a:p>
                  </a:txBody>
                  <a:tcPr marL="82296" marR="82296" marT="27432" marB="27432" anchor="ctr">
                    <a:solidFill>
                      <a:srgbClr val="FFFFFF"/>
                    </a:solidFill>
                  </a:tcPr>
                </a:tc>
              </a:tr>
              <a:tr h="457200">
                <a:tc>
                  <a:txBody>
                    <a:bodyPr/>
                    <a:lstStyle/>
                    <a:p>
                      <a:pPr>
                        <a:lnSpc>
                          <a:spcPct val="105000"/>
                        </a:lnSpc>
                      </a:pPr>
                      <a:r>
                        <a:rPr sz="1050" b="1">
                          <a:solidFill>
                            <a:srgbClr val="1B1A17"/>
                          </a:solidFill>
                          <a:latin typeface="Be Vietnam Pro"/>
                        </a:rPr>
                        <a:t>P1</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Họp với Bộ</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Trả lời 4 nhánh + nhận biểu mẫu·danh sách</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Sẵn sàng</a:t>
                      </a:r>
                    </a:p>
                  </a:txBody>
                  <a:tcPr marL="82296" marR="82296" marT="27432" marB="27432" anchor="ctr">
                    <a:solidFill>
                      <a:srgbClr val="FFFFFF"/>
                    </a:solidFill>
                  </a:tcPr>
                </a:tc>
              </a:tr>
              <a:tr h="457200">
                <a:tc>
                  <a:txBody>
                    <a:bodyPr/>
                    <a:lstStyle/>
                    <a:p>
                      <a:pPr>
                        <a:lnSpc>
                          <a:spcPct val="105000"/>
                        </a:lnSpc>
                      </a:pPr>
                      <a:r>
                        <a:rPr sz="1050" b="0">
                          <a:solidFill>
                            <a:srgbClr val="4C4842"/>
                          </a:solidFill>
                          <a:latin typeface="Be Vietnam Pro"/>
                        </a:rPr>
                        <a:t>P2</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Chốt cấu trúc·đội IT</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Phản ánh yêu cầu (cấu hình) + áp thiết kế</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Chờ</a:t>
                      </a:r>
                    </a:p>
                  </a:txBody>
                  <a:tcPr marL="82296" marR="82296" marT="27432" marB="27432" anchor="ctr">
                    <a:solidFill>
                      <a:srgbClr val="FFFFFF"/>
                    </a:solidFill>
                  </a:tcPr>
                </a:tc>
              </a:tr>
              <a:tr h="457200">
                <a:tc>
                  <a:txBody>
                    <a:bodyPr/>
                    <a:lstStyle/>
                    <a:p>
                      <a:pPr>
                        <a:lnSpc>
                          <a:spcPct val="105000"/>
                        </a:lnSpc>
                      </a:pPr>
                      <a:r>
                        <a:rPr sz="1050" b="0">
                          <a:solidFill>
                            <a:srgbClr val="4C4842"/>
                          </a:solidFill>
                          <a:latin typeface="Be Vietnam Pro"/>
                        </a:rPr>
                        <a:t>P3</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Thí điểm</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Đăng ký→giải→kết quả→quyết toán (dữ liệu thật)</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Chờ</a:t>
                      </a:r>
                    </a:p>
                  </a:txBody>
                  <a:tcPr marL="82296" marR="82296" marT="27432" marB="27432" anchor="ctr">
                    <a:solidFill>
                      <a:srgbClr val="FFFFFF"/>
                    </a:solidFill>
                  </a:tcPr>
                </a:tc>
              </a:tr>
              <a:tr h="457200">
                <a:tc>
                  <a:txBody>
                    <a:bodyPr/>
                    <a:lstStyle/>
                    <a:p>
                      <a:pPr>
                        <a:lnSpc>
                          <a:spcPct val="105000"/>
                        </a:lnSpc>
                      </a:pPr>
                      <a:r>
                        <a:rPr sz="1050" b="0">
                          <a:solidFill>
                            <a:srgbClr val="4C4842"/>
                          </a:solidFill>
                          <a:latin typeface="Be Vietnam Pro"/>
                        </a:rPr>
                        <a:t>P4</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Mở rộng toàn quốc</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Đưa từng môn lên tuần tự</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Chờ</a:t>
                      </a:r>
                    </a:p>
                  </a:txBody>
                  <a:tcPr marL="82296" marR="82296" marT="27432" marB="27432" anchor="ctr">
                    <a:solidFill>
                      <a:srgbClr val="FFFFFF"/>
                    </a:solidFill>
                  </a:tcPr>
                </a:tc>
              </a:tr>
              <a:tr h="457200">
                <a:tc>
                  <a:txBody>
                    <a:bodyPr/>
                    <a:lstStyle/>
                    <a:p>
                      <a:pPr>
                        <a:lnSpc>
                          <a:spcPct val="105000"/>
                        </a:lnSpc>
                      </a:pPr>
                      <a:r>
                        <a:rPr sz="1050" b="0">
                          <a:solidFill>
                            <a:srgbClr val="4C4842"/>
                          </a:solidFill>
                          <a:latin typeface="Be Vietnam Pro"/>
                        </a:rPr>
                        <a:t>P5</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Công khai·tài trợ·QC</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Truyền thông·BXH·tài trợ·bật quảng cáo</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Đã làm (chờ bật)</a:t>
                      </a:r>
                    </a:p>
                  </a:txBody>
                  <a:tcPr marL="82296" marR="82296" marT="27432" marB="27432" anchor="ctr">
                    <a:solidFill>
                      <a:srgbClr val="FFFFFF"/>
                    </a:solidFill>
                  </a:tcPr>
                </a:tc>
              </a:tr>
            </a:tbl>
          </a:graphicData>
        </a:graphic>
      </p:graphicFrame>
      <p:sp>
        <p:nvSpPr>
          <p:cNvPr id="7" name="Rectangle 6"/>
          <p:cNvSpPr/>
          <p:nvPr/>
        </p:nvSpPr>
        <p:spPr>
          <a:xfrm>
            <a:off x="777240" y="5184648"/>
            <a:ext cx="10637215" cy="1051560"/>
          </a:xfrm>
          <a:prstGeom prst="rect">
            <a:avLst/>
          </a:prstGeom>
          <a:solidFill>
            <a:srgbClr val="F4D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5184648"/>
            <a:ext cx="45720" cy="105156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5303520"/>
            <a:ext cx="10234879" cy="219456"/>
          </a:xfrm>
          <a:prstGeom prst="rect">
            <a:avLst/>
          </a:prstGeom>
          <a:noFill/>
        </p:spPr>
        <p:txBody>
          <a:bodyPr wrap="square" anchor="t" lIns="0" rIns="0" tIns="0" bIns="0">
            <a:spAutoFit/>
          </a:bodyPr>
          <a:lstStyle/>
          <a:p>
            <a:pPr algn="l">
              <a:lnSpc>
                <a:spcPct val="125000"/>
              </a:lnSpc>
            </a:pPr>
            <a:r>
              <a:rPr sz="900" b="1">
                <a:solidFill>
                  <a:srgbClr val="B5341F"/>
                </a:solidFill>
                <a:latin typeface="Consolas"/>
              </a:rPr>
              <a:t>4 nhánh thiết kế (P1)</a:t>
            </a:r>
          </a:p>
        </p:txBody>
      </p:sp>
      <p:sp>
        <p:nvSpPr>
          <p:cNvPr id="10" name="TextBox 9"/>
          <p:cNvSpPr txBox="1"/>
          <p:nvPr/>
        </p:nvSpPr>
        <p:spPr>
          <a:xfrm>
            <a:off x="978408" y="5550408"/>
            <a:ext cx="10234879" cy="57607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① Kết nối văn bản điện tử quốc gia ② Có hệ thống tài trợ quốc gia? ③ Đường ngân sách TT ④ Đưa TT khuyết tật vào?</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10</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Cách vận hành</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Hạ tầng · đội ngũ · onboarding · thông báo</a:t>
            </a:r>
          </a:p>
        </p:txBody>
      </p:sp>
      <p:graphicFrame>
        <p:nvGraphicFramePr>
          <p:cNvPr id="6" name="Table 5"/>
          <p:cNvGraphicFramePr>
            <a:graphicFrameLocks noGrp="1"/>
          </p:cNvGraphicFramePr>
          <p:nvPr/>
        </p:nvGraphicFramePr>
        <p:xfrm>
          <a:off x="777240" y="1965960"/>
          <a:ext cx="10637215" cy="2651760"/>
        </p:xfrm>
        <a:graphic>
          <a:graphicData uri="http://schemas.openxmlformats.org/drawingml/2006/table">
            <a:tbl>
              <a:tblPr firstRow="1" bandRow="1">
                <a:tableStyleId>{5C22544A-7EE6-4342-B048-85BDC9FD1C3A}</a:tableStyleId>
              </a:tblPr>
              <a:tblGrid>
                <a:gridCol w="2127443"/>
                <a:gridCol w="8509772"/>
              </a:tblGrid>
              <a:tr h="365760">
                <a:tc>
                  <a:txBody>
                    <a:bodyPr/>
                    <a:lstStyle/>
                    <a:p>
                      <a:r>
                        <a:rPr sz="1050" b="1">
                          <a:solidFill>
                            <a:srgbClr val="4C4842"/>
                          </a:solidFill>
                          <a:latin typeface="Be Vietnam Pro"/>
                        </a:rPr>
                        <a:t>Hạng mục</a:t>
                      </a:r>
                    </a:p>
                  </a:txBody>
                  <a:tcPr marL="82296" marR="82296" marT="27432" marB="27432" anchor="ctr">
                    <a:solidFill>
                      <a:srgbClr val="EEE8DD"/>
                    </a:solidFill>
                  </a:tcPr>
                </a:tc>
                <a:tc>
                  <a:txBody>
                    <a:bodyPr/>
                    <a:lstStyle/>
                    <a:p>
                      <a:r>
                        <a:rPr sz="1050" b="1">
                          <a:solidFill>
                            <a:srgbClr val="4C4842"/>
                          </a:solidFill>
                          <a:latin typeface="Be Vietnam Pro"/>
                        </a:rPr>
                        <a:t>Nội dung</a:t>
                      </a:r>
                    </a:p>
                  </a:txBody>
                  <a:tcPr marL="82296" marR="82296" marT="27432" marB="27432" anchor="ctr">
                    <a:solidFill>
                      <a:srgbClr val="EEE8DD"/>
                    </a:solidFill>
                  </a:tcPr>
                </a:tc>
              </a:tr>
              <a:tr h="457200">
                <a:tc>
                  <a:txBody>
                    <a:bodyPr/>
                    <a:lstStyle/>
                    <a:p>
                      <a:pPr>
                        <a:lnSpc>
                          <a:spcPct val="105000"/>
                        </a:lnSpc>
                      </a:pPr>
                      <a:r>
                        <a:rPr sz="1050" b="1">
                          <a:solidFill>
                            <a:srgbClr val="1B1A17"/>
                          </a:solidFill>
                          <a:latin typeface="Be Vietnam Pro"/>
                        </a:rPr>
                        <a:t>Hạ tầng</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Dev PGlite → PostgreSQL (đổi một dòng). Máy chủ trong nước (luật). Checklist triển khai (tài liệu 19)</a:t>
                      </a:r>
                    </a:p>
                  </a:txBody>
                  <a:tcPr marL="82296" marR="82296" marT="27432" marB="27432" anchor="ctr">
                    <a:solidFill>
                      <a:srgbClr val="FFFFFF"/>
                    </a:solidFill>
                  </a:tcPr>
                </a:tc>
              </a:tr>
              <a:tr h="457200">
                <a:tc>
                  <a:txBody>
                    <a:bodyPr/>
                    <a:lstStyle/>
                    <a:p>
                      <a:pPr>
                        <a:lnSpc>
                          <a:spcPct val="105000"/>
                        </a:lnSpc>
                      </a:pPr>
                      <a:r>
                        <a:rPr sz="1050" b="1">
                          <a:solidFill>
                            <a:srgbClr val="1B1A17"/>
                          </a:solidFill>
                          <a:latin typeface="Be Vietnam Pro"/>
                        </a:rPr>
                        <a:t>Đội ngũ (P2)</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1 lead·2–3 backend·2 frontend·1 designer·1–2 phụ trách bản địa·1 QA·1 bảo mật</a:t>
                      </a:r>
                    </a:p>
                  </a:txBody>
                  <a:tcPr marL="82296" marR="82296" marT="27432" marB="27432" anchor="ctr">
                    <a:solidFill>
                      <a:srgbClr val="FFFFFF"/>
                    </a:solidFill>
                  </a:tcPr>
                </a:tc>
              </a:tr>
              <a:tr h="457200">
                <a:tc>
                  <a:txBody>
                    <a:bodyPr/>
                    <a:lstStyle/>
                    <a:p>
                      <a:pPr>
                        <a:lnSpc>
                          <a:spcPct val="105000"/>
                        </a:lnSpc>
                      </a:pPr>
                      <a:r>
                        <a:rPr sz="1050" b="1">
                          <a:solidFill>
                            <a:srgbClr val="1B1A17"/>
                          </a:solidFill>
                          <a:latin typeface="Be Vietnam Pro"/>
                        </a:rPr>
                        <a:t>Onboarding</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Chuẩn từ trên xuống → liên đoàn chỉ lo dữ liệu gốc·đào tạo. Tải Excel hàng loạt + kiểm tra</a:t>
                      </a:r>
                    </a:p>
                  </a:txBody>
                  <a:tcPr marL="82296" marR="82296" marT="27432" marB="27432" anchor="ctr">
                    <a:solidFill>
                      <a:srgbClr val="FFFFFF"/>
                    </a:solidFill>
                  </a:tcPr>
                </a:tc>
              </a:tr>
              <a:tr h="457200">
                <a:tc>
                  <a:txBody>
                    <a:bodyPr/>
                    <a:lstStyle/>
                    <a:p>
                      <a:pPr>
                        <a:lnSpc>
                          <a:spcPct val="105000"/>
                        </a:lnSpc>
                      </a:pPr>
                      <a:r>
                        <a:rPr sz="1050" b="1">
                          <a:solidFill>
                            <a:srgbClr val="1B1A17"/>
                          </a:solidFill>
                          <a:latin typeface="Be Vietnam Pro"/>
                        </a:rPr>
                        <a:t>Di trú dữ liệu</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Dữ liệu gốc→tổ chức→người→đăng ký. Trùng lặp phát hiện bằng băm CCCD</a:t>
                      </a:r>
                    </a:p>
                  </a:txBody>
                  <a:tcPr marL="82296" marR="82296" marT="27432" marB="27432" anchor="ctr">
                    <a:solidFill>
                      <a:srgbClr val="FFFFFF"/>
                    </a:solidFill>
                  </a:tcPr>
                </a:tc>
              </a:tr>
              <a:tr h="457200">
                <a:tc>
                  <a:txBody>
                    <a:bodyPr/>
                    <a:lstStyle/>
                    <a:p>
                      <a:pPr>
                        <a:lnSpc>
                          <a:spcPct val="105000"/>
                        </a:lnSpc>
                      </a:pPr>
                      <a:r>
                        <a:rPr sz="1050" b="1">
                          <a:solidFill>
                            <a:srgbClr val="1B1A17"/>
                          </a:solidFill>
                          <a:latin typeface="Be Vietnam Pro"/>
                        </a:rPr>
                        <a:t>Thông báo</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Zalo ZNS (chuẩn VN). Chỉ cần nối adapter là chạy</a:t>
                      </a:r>
                    </a:p>
                  </a:txBody>
                  <a:tcPr marL="82296" marR="82296" marT="27432" marB="27432" anchor="ctr">
                    <a:solidFill>
                      <a:srgbClr val="FFFFFF"/>
                    </a:solidFill>
                  </a:tcPr>
                </a:tc>
              </a:tr>
            </a:tbl>
          </a:graphicData>
        </a:graphic>
      </p:graphicFrame>
      <p:sp>
        <p:nvSpPr>
          <p:cNvPr id="7" name="Rectangle 6"/>
          <p:cNvSpPr/>
          <p:nvPr/>
        </p:nvSpPr>
        <p:spPr>
          <a:xfrm>
            <a:off x="777240" y="4727448"/>
            <a:ext cx="10637215" cy="1051560"/>
          </a:xfrm>
          <a:prstGeom prst="rect">
            <a:avLst/>
          </a:prstGeom>
          <a:solidFill>
            <a:srgbClr val="D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4727448"/>
            <a:ext cx="45720" cy="1051560"/>
          </a:xfrm>
          <a:prstGeom prst="rect">
            <a:avLst/>
          </a:prstGeom>
          <a:solidFill>
            <a:srgbClr val="1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4846320"/>
            <a:ext cx="10234879" cy="219456"/>
          </a:xfrm>
          <a:prstGeom prst="rect">
            <a:avLst/>
          </a:prstGeom>
          <a:noFill/>
        </p:spPr>
        <p:txBody>
          <a:bodyPr wrap="square" anchor="t" lIns="0" rIns="0" tIns="0" bIns="0">
            <a:spAutoFit/>
          </a:bodyPr>
          <a:lstStyle/>
          <a:p>
            <a:pPr algn="l">
              <a:lnSpc>
                <a:spcPct val="125000"/>
              </a:lnSpc>
            </a:pPr>
            <a:r>
              <a:rPr sz="900" b="1">
                <a:solidFill>
                  <a:srgbClr val="1E6E5C"/>
                </a:solidFill>
                <a:latin typeface="Consolas"/>
              </a:rPr>
              <a:t>Khác biệt</a:t>
            </a:r>
          </a:p>
        </p:txBody>
      </p:sp>
      <p:sp>
        <p:nvSpPr>
          <p:cNvPr id="10" name="TextBox 9"/>
          <p:cNvSpPr txBox="1"/>
          <p:nvPr/>
        </p:nvSpPr>
        <p:spPr>
          <a:xfrm>
            <a:off x="978408" y="5093208"/>
            <a:ext cx="10234879" cy="57607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Ngay cả trang VOC còn thiếu ổn định — vận hành ổn định + máy chủ trong nước tự nó là điểm khác biệt tạo niềm tin.</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11</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Doanh thu · bền vững</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Hệ thống chính thức (nội bộ) không quảng cáo · nền tảng không giữ tiền</a:t>
            </a:r>
          </a:p>
        </p:txBody>
      </p:sp>
      <p:graphicFrame>
        <p:nvGraphicFramePr>
          <p:cNvPr id="6" name="Table 5"/>
          <p:cNvGraphicFramePr>
            <a:graphicFrameLocks noGrp="1"/>
          </p:cNvGraphicFramePr>
          <p:nvPr/>
        </p:nvGraphicFramePr>
        <p:xfrm>
          <a:off x="777240" y="1965960"/>
          <a:ext cx="10637214" cy="2011680"/>
        </p:xfrm>
        <a:graphic>
          <a:graphicData uri="http://schemas.openxmlformats.org/drawingml/2006/table">
            <a:tbl>
              <a:tblPr firstRow="1" bandRow="1">
                <a:tableStyleId>{5C22544A-7EE6-4342-B048-85BDC9FD1C3A}</a:tableStyleId>
              </a:tblPr>
              <a:tblGrid>
                <a:gridCol w="2340187"/>
                <a:gridCol w="2127443"/>
                <a:gridCol w="1914698"/>
                <a:gridCol w="4254886"/>
              </a:tblGrid>
              <a:tr h="365760">
                <a:tc>
                  <a:txBody>
                    <a:bodyPr/>
                    <a:lstStyle/>
                    <a:p>
                      <a:r>
                        <a:rPr sz="1050" b="1">
                          <a:solidFill>
                            <a:srgbClr val="4C4842"/>
                          </a:solidFill>
                          <a:latin typeface="Be Vietnam Pro"/>
                        </a:rPr>
                        <a:t>Nguồn</a:t>
                      </a:r>
                    </a:p>
                  </a:txBody>
                  <a:tcPr marL="82296" marR="82296" marT="27432" marB="27432" anchor="ctr">
                    <a:solidFill>
                      <a:srgbClr val="EEE8DD"/>
                    </a:solidFill>
                  </a:tcPr>
                </a:tc>
                <a:tc>
                  <a:txBody>
                    <a:bodyPr/>
                    <a:lstStyle/>
                    <a:p>
                      <a:r>
                        <a:rPr sz="1050" b="1">
                          <a:solidFill>
                            <a:srgbClr val="4C4842"/>
                          </a:solidFill>
                          <a:latin typeface="Be Vietnam Pro"/>
                        </a:rPr>
                        <a:t>Vị trí</a:t>
                      </a:r>
                    </a:p>
                  </a:txBody>
                  <a:tcPr marL="82296" marR="82296" marT="27432" marB="27432" anchor="ctr">
                    <a:solidFill>
                      <a:srgbClr val="EEE8DD"/>
                    </a:solidFill>
                  </a:tcPr>
                </a:tc>
                <a:tc>
                  <a:txBody>
                    <a:bodyPr/>
                    <a:lstStyle/>
                    <a:p>
                      <a:r>
                        <a:rPr sz="1050" b="1">
                          <a:solidFill>
                            <a:srgbClr val="4C4842"/>
                          </a:solidFill>
                          <a:latin typeface="Be Vietnam Pro"/>
                        </a:rPr>
                        <a:t>Trạng thái</a:t>
                      </a:r>
                    </a:p>
                  </a:txBody>
                  <a:tcPr marL="82296" marR="82296" marT="27432" marB="27432" anchor="ctr">
                    <a:solidFill>
                      <a:srgbClr val="EEE8DD"/>
                    </a:solidFill>
                  </a:tcPr>
                </a:tc>
                <a:tc>
                  <a:txBody>
                    <a:bodyPr/>
                    <a:lstStyle/>
                    <a:p>
                      <a:r>
                        <a:rPr sz="1050" b="1">
                          <a:solidFill>
                            <a:srgbClr val="4C4842"/>
                          </a:solidFill>
                          <a:latin typeface="Be Vietnam Pro"/>
                        </a:rPr>
                        <a:t>Lưu ý</a:t>
                      </a:r>
                    </a:p>
                  </a:txBody>
                  <a:tcPr marL="82296" marR="82296" marT="27432" marB="27432" anchor="ctr">
                    <a:solidFill>
                      <a:srgbClr val="EEE8DD"/>
                    </a:solidFill>
                  </a:tcPr>
                </a:tc>
              </a:tr>
              <a:tr h="548640">
                <a:tc>
                  <a:txBody>
                    <a:bodyPr/>
                    <a:lstStyle/>
                    <a:p>
                      <a:pPr>
                        <a:lnSpc>
                          <a:spcPct val="105000"/>
                        </a:lnSpc>
                      </a:pPr>
                      <a:r>
                        <a:rPr sz="1050" b="0">
                          <a:solidFill>
                            <a:srgbClr val="4C4842"/>
                          </a:solidFill>
                          <a:latin typeface="Be Vietnam Pro"/>
                        </a:rPr>
                        <a:t>Quảng cáo·native</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Chỉ web đối ngoại</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Đã có (chờ bật)</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Nội bộ không QC · DT chia cho liên đoàn</a:t>
                      </a:r>
                    </a:p>
                  </a:txBody>
                  <a:tcPr marL="82296" marR="82296" marT="27432" marB="27432" anchor="ctr">
                    <a:solidFill>
                      <a:srgbClr val="FFFFFF"/>
                    </a:solidFill>
                  </a:tcPr>
                </a:tc>
              </a:tr>
              <a:tr h="548640">
                <a:tc>
                  <a:txBody>
                    <a:bodyPr/>
                    <a:lstStyle/>
                    <a:p>
                      <a:pPr>
                        <a:lnSpc>
                          <a:spcPct val="105000"/>
                        </a:lnSpc>
                      </a:pPr>
                      <a:r>
                        <a:rPr sz="1050" b="0">
                          <a:solidFill>
                            <a:srgbClr val="4C4842"/>
                          </a:solidFill>
                          <a:latin typeface="Be Vietnam Pro"/>
                        </a:rPr>
                        <a:t>Trung gian tài trợ</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Đối ngoại+hội viên</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Đã có</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Chỉ kết nối · không qua tiền · loại trẻ VTN</a:t>
                      </a:r>
                    </a:p>
                  </a:txBody>
                  <a:tcPr marL="82296" marR="82296" marT="27432" marB="27432" anchor="ctr">
                    <a:solidFill>
                      <a:srgbClr val="FFFFFF"/>
                    </a:solidFill>
                  </a:tcPr>
                </a:tc>
              </a:tr>
              <a:tr h="548640">
                <a:tc>
                  <a:txBody>
                    <a:bodyPr/>
                    <a:lstStyle/>
                    <a:p>
                      <a:pPr>
                        <a:lnSpc>
                          <a:spcPct val="105000"/>
                        </a:lnSpc>
                      </a:pPr>
                      <a:r>
                        <a:rPr sz="1050" b="0">
                          <a:solidFill>
                            <a:srgbClr val="4C4842"/>
                          </a:solidFill>
                          <a:latin typeface="Be Vietnam Pro"/>
                        </a:rPr>
                        <a:t>Phí tham gia·dịch vụ</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Nội bộ</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Đã có</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Chỉ phí cổng TT, không giữ tiền</a:t>
                      </a:r>
                    </a:p>
                  </a:txBody>
                  <a:tcPr marL="82296" marR="82296" marT="27432" marB="27432" anchor="ctr">
                    <a:solidFill>
                      <a:srgbClr val="FFFFFF"/>
                    </a:solidFill>
                  </a:tcPr>
                </a:tc>
              </a:tr>
            </a:tbl>
          </a:graphicData>
        </a:graphic>
      </p:graphicFrame>
      <p:sp>
        <p:nvSpPr>
          <p:cNvPr id="7" name="Rectangle 6"/>
          <p:cNvSpPr/>
          <p:nvPr/>
        </p:nvSpPr>
        <p:spPr>
          <a:xfrm>
            <a:off x="777240" y="4087368"/>
            <a:ext cx="10637215" cy="1051560"/>
          </a:xfrm>
          <a:prstGeom prst="rect">
            <a:avLst/>
          </a:prstGeom>
          <a:solidFill>
            <a:srgbClr val="F0E7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4087368"/>
            <a:ext cx="45720" cy="1051560"/>
          </a:xfrm>
          <a:prstGeom prst="rect">
            <a:avLst/>
          </a:prstGeom>
          <a:solidFill>
            <a:srgbClr val="9A7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4206240"/>
            <a:ext cx="10234879" cy="219456"/>
          </a:xfrm>
          <a:prstGeom prst="rect">
            <a:avLst/>
          </a:prstGeom>
          <a:noFill/>
        </p:spPr>
        <p:txBody>
          <a:bodyPr wrap="square" anchor="t" lIns="0" rIns="0" tIns="0" bIns="0">
            <a:spAutoFit/>
          </a:bodyPr>
          <a:lstStyle/>
          <a:p>
            <a:pPr algn="l">
              <a:lnSpc>
                <a:spcPct val="125000"/>
              </a:lnSpc>
            </a:pPr>
            <a:r>
              <a:rPr sz="900" b="1">
                <a:solidFill>
                  <a:srgbClr val="9A7212"/>
                </a:solidFill>
                <a:latin typeface="Consolas"/>
              </a:rPr>
              <a:t>Không nêu đối ngoại</a:t>
            </a:r>
          </a:p>
        </p:txBody>
      </p:sp>
      <p:sp>
        <p:nvSpPr>
          <p:cNvPr id="10" name="TextBox 9"/>
          <p:cNvSpPr txBox="1"/>
          <p:nvPr/>
        </p:nvSpPr>
        <p:spPr>
          <a:xfrm>
            <a:off x="978408" y="4453128"/>
            <a:ext cx="10234879" cy="57607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Cá cược thể thao (mô hình KSPO Hàn) chỉ nghiên cứu nội bộ, không nêu trong tài liệu·màn hình·cuộc họp. Nêu sớm có thể gây rủi ro hợp tác nhà nước. Khi được chỉ định, thống nhất kinh phí duy trì với Bộ.</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12</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Pháp lý · bảo mật · điều kiện chỉ định chính thức</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Quy định cốt lõi đã phản ánh, thẩm định cần khởi động</a:t>
            </a:r>
          </a:p>
        </p:txBody>
      </p:sp>
      <p:graphicFrame>
        <p:nvGraphicFramePr>
          <p:cNvPr id="6" name="Table 5"/>
          <p:cNvGraphicFramePr>
            <a:graphicFrameLocks noGrp="1"/>
          </p:cNvGraphicFramePr>
          <p:nvPr/>
        </p:nvGraphicFramePr>
        <p:xfrm>
          <a:off x="777240" y="1965960"/>
          <a:ext cx="10637214" cy="2560320"/>
        </p:xfrm>
        <a:graphic>
          <a:graphicData uri="http://schemas.openxmlformats.org/drawingml/2006/table">
            <a:tbl>
              <a:tblPr firstRow="1" bandRow="1">
                <a:tableStyleId>{5C22544A-7EE6-4342-B048-85BDC9FD1C3A}</a:tableStyleId>
              </a:tblPr>
              <a:tblGrid>
                <a:gridCol w="7658794"/>
                <a:gridCol w="2978420"/>
              </a:tblGrid>
              <a:tr h="365760">
                <a:tc>
                  <a:txBody>
                    <a:bodyPr/>
                    <a:lstStyle/>
                    <a:p>
                      <a:r>
                        <a:rPr sz="1050" b="1">
                          <a:solidFill>
                            <a:srgbClr val="4C4842"/>
                          </a:solidFill>
                          <a:latin typeface="Be Vietnam Pro"/>
                        </a:rPr>
                        <a:t>Hạng mục</a:t>
                      </a:r>
                    </a:p>
                  </a:txBody>
                  <a:tcPr marL="82296" marR="82296" marT="27432" marB="27432" anchor="ctr">
                    <a:solidFill>
                      <a:srgbClr val="EEE8DD"/>
                    </a:solidFill>
                  </a:tcPr>
                </a:tc>
                <a:tc>
                  <a:txBody>
                    <a:bodyPr/>
                    <a:lstStyle/>
                    <a:p>
                      <a:r>
                        <a:rPr sz="1050" b="1">
                          <a:solidFill>
                            <a:srgbClr val="4C4842"/>
                          </a:solidFill>
                          <a:latin typeface="Be Vietnam Pro"/>
                        </a:rPr>
                        <a:t>Trạng thái</a:t>
                      </a:r>
                    </a:p>
                  </a:txBody>
                  <a:tcPr marL="82296" marR="82296" marT="27432" marB="27432" anchor="ctr">
                    <a:solidFill>
                      <a:srgbClr val="EEE8DD"/>
                    </a:solidFill>
                  </a:tcPr>
                </a:tc>
              </a:tr>
              <a:tr h="548640">
                <a:tc>
                  <a:txBody>
                    <a:bodyPr/>
                    <a:lstStyle/>
                    <a:p>
                      <a:pPr>
                        <a:lnSpc>
                          <a:spcPct val="105000"/>
                        </a:lnSpc>
                      </a:pPr>
                      <a:r>
                        <a:rPr sz="1050" b="0">
                          <a:solidFill>
                            <a:srgbClr val="4C4842"/>
                          </a:solidFill>
                          <a:latin typeface="Be Vietnam Pro"/>
                        </a:rPr>
                        <a:t>Dòng tiền (người nộp→cổng TT→liên đoàn) · NĐ 52/2024</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Đã phản ánh</a:t>
                      </a:r>
                    </a:p>
                  </a:txBody>
                  <a:tcPr marL="82296" marR="82296" marT="27432" marB="27432" anchor="ctr">
                    <a:solidFill>
                      <a:srgbClr val="FFFFFF"/>
                    </a:solidFill>
                  </a:tcPr>
                </a:tc>
              </a:tr>
              <a:tr h="548640">
                <a:tc>
                  <a:txBody>
                    <a:bodyPr/>
                    <a:lstStyle/>
                    <a:p>
                      <a:pPr>
                        <a:lnSpc>
                          <a:spcPct val="105000"/>
                        </a:lnSpc>
                      </a:pPr>
                      <a:r>
                        <a:rPr sz="1050" b="0">
                          <a:solidFill>
                            <a:srgbClr val="4C4842"/>
                          </a:solidFill>
                          <a:latin typeface="Be Vietnam Pro"/>
                        </a:rPr>
                        <a:t>Chỉ băm CCCD · chỉ công khai năm sinh · bảo vệ dưới 18 · 13/2023</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Đã có</a:t>
                      </a:r>
                    </a:p>
                  </a:txBody>
                  <a:tcPr marL="82296" marR="82296" marT="27432" marB="27432" anchor="ctr">
                    <a:solidFill>
                      <a:srgbClr val="FFFFFF"/>
                    </a:solidFill>
                  </a:tcPr>
                </a:tc>
              </a:tr>
              <a:tr h="548640">
                <a:tc>
                  <a:txBody>
                    <a:bodyPr/>
                    <a:lstStyle/>
                    <a:p>
                      <a:pPr>
                        <a:lnSpc>
                          <a:spcPct val="105000"/>
                        </a:lnSpc>
                      </a:pPr>
                      <a:r>
                        <a:rPr sz="1050" b="0">
                          <a:solidFill>
                            <a:srgbClr val="4C4842"/>
                          </a:solidFill>
                          <a:latin typeface="Be Vietnam Pro"/>
                        </a:rPr>
                        <a:t>Kiểm soát xem tệp · nhật ký kiểm toán · thời hạn 10 ngày</a:t>
                      </a:r>
                    </a:p>
                  </a:txBody>
                  <a:tcPr marL="82296" marR="82296" marT="27432" marB="27432" anchor="ctr">
                    <a:solidFill>
                      <a:srgbClr val="FFFFFF"/>
                    </a:solidFill>
                  </a:tcPr>
                </a:tc>
                <a:tc>
                  <a:txBody>
                    <a:bodyPr/>
                    <a:lstStyle/>
                    <a:p>
                      <a:pPr>
                        <a:lnSpc>
                          <a:spcPct val="105000"/>
                        </a:lnSpc>
                      </a:pPr>
                      <a:r>
                        <a:rPr sz="1050" b="1">
                          <a:solidFill>
                            <a:srgbClr val="1B1A17"/>
                          </a:solidFill>
                          <a:latin typeface="Be Vietnam Pro"/>
                        </a:rPr>
                        <a:t>Đã có</a:t>
                      </a:r>
                    </a:p>
                  </a:txBody>
                  <a:tcPr marL="82296" marR="82296" marT="27432" marB="27432" anchor="ctr">
                    <a:solidFill>
                      <a:srgbClr val="FFFFFF"/>
                    </a:solidFill>
                  </a:tcPr>
                </a:tc>
              </a:tr>
              <a:tr h="548640">
                <a:tc>
                  <a:txBody>
                    <a:bodyPr/>
                    <a:lstStyle/>
                    <a:p>
                      <a:pPr>
                        <a:lnSpc>
                          <a:spcPct val="105000"/>
                        </a:lnSpc>
                      </a:pPr>
                      <a:r>
                        <a:rPr sz="1050" b="0">
                          <a:solidFill>
                            <a:srgbClr val="4C4842"/>
                          </a:solidFill>
                          <a:latin typeface="Be Vietnam Pro"/>
                        </a:rPr>
                        <a:t>Lưu dữ liệu trong nước · đánh giá DLCN · thẩm định ATTT</a:t>
                      </a:r>
                    </a:p>
                  </a:txBody>
                  <a:tcPr marL="82296" marR="82296" marT="27432" marB="27432" anchor="ctr">
                    <a:solidFill>
                      <a:srgbClr val="FFFFFF"/>
                    </a:solidFill>
                  </a:tcPr>
                </a:tc>
                <a:tc>
                  <a:txBody>
                    <a:bodyPr/>
                    <a:lstStyle/>
                    <a:p>
                      <a:pPr>
                        <a:lnSpc>
                          <a:spcPct val="105000"/>
                        </a:lnSpc>
                      </a:pPr>
                      <a:r>
                        <a:rPr sz="1050" b="0">
                          <a:solidFill>
                            <a:srgbClr val="4C4842"/>
                          </a:solidFill>
                          <a:latin typeface="Be Vietnam Pro"/>
                        </a:rPr>
                        <a:t>Cần xác nhận·khởi động</a:t>
                      </a:r>
                    </a:p>
                  </a:txBody>
                  <a:tcPr marL="82296" marR="82296" marT="27432" marB="27432" anchor="ctr">
                    <a:solidFill>
                      <a:srgbClr val="FFFFFF"/>
                    </a:solidFill>
                  </a:tcPr>
                </a:tc>
              </a:tr>
            </a:tbl>
          </a:graphicData>
        </a:graphic>
      </p:graphicFrame>
      <p:sp>
        <p:nvSpPr>
          <p:cNvPr id="7" name="Rectangle 6"/>
          <p:cNvSpPr/>
          <p:nvPr/>
        </p:nvSpPr>
        <p:spPr>
          <a:xfrm>
            <a:off x="777240" y="4636008"/>
            <a:ext cx="10637215" cy="1051560"/>
          </a:xfrm>
          <a:prstGeom prst="rect">
            <a:avLst/>
          </a:prstGeom>
          <a:solidFill>
            <a:srgbClr val="F4D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4636008"/>
            <a:ext cx="45720" cy="105156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4754880"/>
            <a:ext cx="10234879" cy="219456"/>
          </a:xfrm>
          <a:prstGeom prst="rect">
            <a:avLst/>
          </a:prstGeom>
          <a:noFill/>
        </p:spPr>
        <p:txBody>
          <a:bodyPr wrap="square" anchor="t" lIns="0" rIns="0" tIns="0" bIns="0">
            <a:spAutoFit/>
          </a:bodyPr>
          <a:lstStyle/>
          <a:p>
            <a:pPr algn="l">
              <a:lnSpc>
                <a:spcPct val="125000"/>
              </a:lnSpc>
            </a:pPr>
            <a:r>
              <a:rPr sz="900" b="1">
                <a:solidFill>
                  <a:srgbClr val="B5341F"/>
                </a:solidFill>
                <a:latin typeface="Consolas"/>
              </a:rPr>
              <a:t>Điều kiện chỉ định chính thức</a:t>
            </a:r>
          </a:p>
        </p:txBody>
      </p:sp>
      <p:sp>
        <p:nvSpPr>
          <p:cNvPr id="10" name="TextBox 9"/>
          <p:cNvSpPr txBox="1"/>
          <p:nvPr/>
        </p:nvSpPr>
        <p:spPr>
          <a:xfrm>
            <a:off x="978408" y="5001768"/>
            <a:ext cx="10234879" cy="576072"/>
          </a:xfrm>
          <a:prstGeom prst="rect">
            <a:avLst/>
          </a:prstGeom>
          <a:noFill/>
        </p:spPr>
        <p:txBody>
          <a:bodyPr wrap="square" anchor="t" lIns="0" rIns="0" tIns="0" bIns="0">
            <a:spAutoFit/>
          </a:bodyPr>
          <a:lstStyle/>
          <a:p>
            <a:pPr algn="l">
              <a:lnSpc>
                <a:spcPct val="130000"/>
              </a:lnSpc>
            </a:pPr>
            <a:r>
              <a:rPr sz="1250" b="0">
                <a:solidFill>
                  <a:srgbClr val="1B1A17"/>
                </a:solidFill>
                <a:latin typeface="Be Vietnam Pro"/>
              </a:rPr>
              <a:t>① Căn cứ pháp lý (quyết định của Bộ) ② Chỉ định biểu mẫu chuẩn ③ Thẩm định ATTT ④ Thống nhất chủ sở hữu dữ liệu·đơn vị vận hành (văn bản) ⑤ Máy chủ trong nước ⑥ Kết nối hệ thống quốc gia</a:t>
            </a:r>
          </a:p>
        </p:txBody>
      </p:sp>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13</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Rủi ro &amp; ứng phó</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Nút thắt lớn nhất không phải lập trình mà là nhận biểu mẫu chính thức</a:t>
            </a:r>
          </a:p>
        </p:txBody>
      </p:sp>
      <p:graphicFrame>
        <p:nvGraphicFramePr>
          <p:cNvPr id="6" name="Table 5"/>
          <p:cNvGraphicFramePr>
            <a:graphicFrameLocks noGrp="1"/>
          </p:cNvGraphicFramePr>
          <p:nvPr/>
        </p:nvGraphicFramePr>
        <p:xfrm>
          <a:off x="777240" y="1965960"/>
          <a:ext cx="10637214" cy="3767328"/>
        </p:xfrm>
        <a:graphic>
          <a:graphicData uri="http://schemas.openxmlformats.org/drawingml/2006/table">
            <a:tbl>
              <a:tblPr firstRow="1" bandRow="1">
                <a:tableStyleId>{5C22544A-7EE6-4342-B048-85BDC9FD1C3A}</a:tableStyleId>
              </a:tblPr>
              <a:tblGrid>
                <a:gridCol w="4042141"/>
                <a:gridCol w="6595073"/>
              </a:tblGrid>
              <a:tr h="365760">
                <a:tc>
                  <a:txBody>
                    <a:bodyPr/>
                    <a:lstStyle/>
                    <a:p>
                      <a:r>
                        <a:rPr sz="1100" b="1">
                          <a:solidFill>
                            <a:srgbClr val="4C4842"/>
                          </a:solidFill>
                          <a:latin typeface="Be Vietnam Pro"/>
                        </a:rPr>
                        <a:t>Rủi ro</a:t>
                      </a:r>
                    </a:p>
                  </a:txBody>
                  <a:tcPr marL="82296" marR="82296" marT="27432" marB="27432" anchor="ctr">
                    <a:solidFill>
                      <a:srgbClr val="EEE8DD"/>
                    </a:solidFill>
                  </a:tcPr>
                </a:tc>
                <a:tc>
                  <a:txBody>
                    <a:bodyPr/>
                    <a:lstStyle/>
                    <a:p>
                      <a:r>
                        <a:rPr sz="1100" b="1">
                          <a:solidFill>
                            <a:srgbClr val="4C4842"/>
                          </a:solidFill>
                          <a:latin typeface="Be Vietnam Pro"/>
                        </a:rPr>
                        <a:t>Ứng phó</a:t>
                      </a:r>
                    </a:p>
                  </a:txBody>
                  <a:tcPr marL="82296" marR="82296" marT="27432" marB="27432" anchor="ctr">
                    <a:solidFill>
                      <a:srgbClr val="EEE8DD"/>
                    </a:solidFill>
                  </a:tcPr>
                </a:tc>
              </a:tr>
              <a:tr h="566928">
                <a:tc>
                  <a:txBody>
                    <a:bodyPr/>
                    <a:lstStyle/>
                    <a:p>
                      <a:pPr>
                        <a:lnSpc>
                          <a:spcPct val="105000"/>
                        </a:lnSpc>
                      </a:pPr>
                      <a:r>
                        <a:rPr sz="1100" b="1">
                          <a:solidFill>
                            <a:srgbClr val="1B1A17"/>
                          </a:solidFill>
                          <a:latin typeface="Be Vietnam Pro"/>
                        </a:rPr>
                        <a:t>Không nhận được biểu mẫu (nút thắt lớn nhất)</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Gửi kèm yêu cầu khi liên hệ họp · lấy ảnh chụp · dùng mẫu tạm rồi thay · AI giảm gánh nhập liệu</a:t>
                      </a:r>
                    </a:p>
                  </a:txBody>
                  <a:tcPr marL="82296" marR="82296" marT="27432" marB="27432" anchor="ctr">
                    <a:solidFill>
                      <a:srgbClr val="FFFFFF"/>
                    </a:solidFill>
                  </a:tcPr>
                </a:tc>
              </a:tr>
              <a:tr h="566928">
                <a:tc>
                  <a:txBody>
                    <a:bodyPr/>
                    <a:lstStyle/>
                    <a:p>
                      <a:pPr>
                        <a:lnSpc>
                          <a:spcPct val="105000"/>
                        </a:lnSpc>
                      </a:pPr>
                      <a:r>
                        <a:rPr sz="1100" b="0">
                          <a:solidFill>
                            <a:srgbClr val="4C4842"/>
                          </a:solidFill>
                          <a:latin typeface="Be Vietnam Pro"/>
                        </a:rPr>
                        <a:t>Trùng lặp với hệ thống quốc gia</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Tổ chức giải… kết nối cổng quốc gia, không làm trùng (xác nhận P1)</a:t>
                      </a:r>
                    </a:p>
                  </a:txBody>
                  <a:tcPr marL="82296" marR="82296" marT="27432" marB="27432" anchor="ctr">
                    <a:solidFill>
                      <a:srgbClr val="FFFFFF"/>
                    </a:solidFill>
                  </a:tcPr>
                </a:tc>
              </a:tr>
              <a:tr h="566928">
                <a:tc>
                  <a:txBody>
                    <a:bodyPr/>
                    <a:lstStyle/>
                    <a:p>
                      <a:pPr>
                        <a:lnSpc>
                          <a:spcPct val="105000"/>
                        </a:lnSpc>
                      </a:pPr>
                      <a:r>
                        <a:rPr sz="1100" b="0">
                          <a:solidFill>
                            <a:srgbClr val="4C4842"/>
                          </a:solidFill>
                          <a:latin typeface="Be Vietnam Pro"/>
                        </a:rPr>
                        <a:t>Phình phạm vi</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Thống nhất phạm vi đợt 1 bằng văn bản · chức năng phụ thuộc để sau họp</a:t>
                      </a:r>
                    </a:p>
                  </a:txBody>
                  <a:tcPr marL="82296" marR="82296" marT="27432" marB="27432" anchor="ctr">
                    <a:solidFill>
                      <a:srgbClr val="FFFFFF"/>
                    </a:solidFill>
                  </a:tcPr>
                </a:tc>
              </a:tr>
              <a:tr h="566928">
                <a:tc>
                  <a:txBody>
                    <a:bodyPr/>
                    <a:lstStyle/>
                    <a:p>
                      <a:pPr>
                        <a:lnSpc>
                          <a:spcPct val="105000"/>
                        </a:lnSpc>
                      </a:pPr>
                      <a:r>
                        <a:rPr sz="1100" b="0">
                          <a:solidFill>
                            <a:srgbClr val="4C4842"/>
                          </a:solidFill>
                          <a:latin typeface="Be Vietnam Pro"/>
                        </a:rPr>
                        <a:t>Tranh chấp sở hữu dữ liệu</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Chốt bằng văn bản tại cuộc họp</a:t>
                      </a:r>
                    </a:p>
                  </a:txBody>
                  <a:tcPr marL="82296" marR="82296" marT="27432" marB="27432" anchor="ctr">
                    <a:solidFill>
                      <a:srgbClr val="FFFFFF"/>
                    </a:solidFill>
                  </a:tcPr>
                </a:tc>
              </a:tr>
              <a:tr h="566928">
                <a:tc>
                  <a:txBody>
                    <a:bodyPr/>
                    <a:lstStyle/>
                    <a:p>
                      <a:pPr>
                        <a:lnSpc>
                          <a:spcPct val="105000"/>
                        </a:lnSpc>
                      </a:pPr>
                      <a:r>
                        <a:rPr sz="1100" b="0">
                          <a:solidFill>
                            <a:srgbClr val="4C4842"/>
                          </a:solidFill>
                          <a:latin typeface="Be Vietnam Pro"/>
                        </a:rPr>
                        <a:t>Sai thuật ngữ bản địa (công văn vô hiệu)</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Rà soát bởi người bản ngữ song song phát triển</a:t>
                      </a:r>
                    </a:p>
                  </a:txBody>
                  <a:tcPr marL="82296" marR="82296" marT="27432" marB="27432" anchor="ctr">
                    <a:solidFill>
                      <a:srgbClr val="FFFFFF"/>
                    </a:solidFill>
                  </a:tcPr>
                </a:tc>
              </a:tr>
              <a:tr h="566928">
                <a:tc>
                  <a:txBody>
                    <a:bodyPr/>
                    <a:lstStyle/>
                    <a:p>
                      <a:pPr>
                        <a:lnSpc>
                          <a:spcPct val="105000"/>
                        </a:lnSpc>
                      </a:pPr>
                      <a:r>
                        <a:rPr sz="1100" b="0">
                          <a:solidFill>
                            <a:srgbClr val="4C4842"/>
                          </a:solidFill>
                          <a:latin typeface="Be Vietnam Pro"/>
                        </a:rPr>
                        <a:t>Nhân sự nghỉ việc</a:t>
                      </a:r>
                    </a:p>
                  </a:txBody>
                  <a:tcPr marL="82296" marR="82296" marT="27432" marB="27432" anchor="ctr">
                    <a:solidFill>
                      <a:srgbClr val="FFFFFF"/>
                    </a:solidFill>
                  </a:tcPr>
                </a:tc>
                <a:tc>
                  <a:txBody>
                    <a:bodyPr/>
                    <a:lstStyle/>
                    <a:p>
                      <a:pPr>
                        <a:lnSpc>
                          <a:spcPct val="105000"/>
                        </a:lnSpc>
                      </a:pPr>
                      <a:r>
                        <a:rPr sz="1100" b="0">
                          <a:solidFill>
                            <a:srgbClr val="4C4842"/>
                          </a:solidFill>
                          <a:latin typeface="Be Vietnam Pro"/>
                        </a:rPr>
                        <a:t>Tài liệu hóa (01–19) + kiểm thử·CI chống hồi quy</a:t>
                      </a:r>
                    </a:p>
                  </a:txBody>
                  <a:tcPr marL="82296" marR="82296" marT="27432" marB="27432" anchor="ctr">
                    <a:solidFill>
                      <a:srgbClr val="FFFFFF"/>
                    </a:solidFill>
                  </a:tcPr>
                </a:tc>
              </a:tr>
            </a:tbl>
          </a:graphicData>
        </a:graphic>
      </p:graphicFrame>
      <p:sp>
        <p:nvSpPr>
          <p:cNvPr id="7" name="TextBox 6"/>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8" name="TextBox 7"/>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PL 1</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Giao diện thực tế — Web đối ngoại</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Tiếng Việt · desktop · dữ liệu demo (ảnh chụp thật)</a:t>
            </a:r>
          </a:p>
        </p:txBody>
      </p:sp>
      <p:sp>
        <p:nvSpPr>
          <p:cNvPr id="6" name="TextBox 5"/>
          <p:cNvSpPr txBox="1"/>
          <p:nvPr/>
        </p:nvSpPr>
        <p:spPr>
          <a:xfrm>
            <a:off x="777240" y="1874519"/>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Trang chủ — QC·thống kê·43 môn·BXH</a:t>
            </a:r>
          </a:p>
        </p:txBody>
      </p:sp>
      <p:pic>
        <p:nvPicPr>
          <p:cNvPr id="7" name="Picture 6" descr="01-home.png"/>
          <p:cNvPicPr>
            <a:picLocks noChangeAspect="1"/>
          </p:cNvPicPr>
          <p:nvPr/>
        </p:nvPicPr>
        <p:blipFill>
          <a:blip r:embed="rId2"/>
          <a:stretch>
            <a:fillRect/>
          </a:stretch>
        </p:blipFill>
        <p:spPr>
          <a:xfrm>
            <a:off x="2931274" y="2148839"/>
            <a:ext cx="909954" cy="1888236"/>
          </a:xfrm>
          <a:prstGeom prst="rect">
            <a:avLst/>
          </a:prstGeom>
          <a:ln w="9525">
            <a:solidFill>
              <a:srgbClr val="D9D1C2"/>
            </a:solidFill>
          </a:ln>
        </p:spPr>
      </p:pic>
      <p:sp>
        <p:nvSpPr>
          <p:cNvPr id="8" name="TextBox 7"/>
          <p:cNvSpPr txBox="1"/>
          <p:nvPr/>
        </p:nvSpPr>
        <p:spPr>
          <a:xfrm>
            <a:off x="6196431" y="1874519"/>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Trận đấu — nhãn trạng thái</a:t>
            </a:r>
          </a:p>
        </p:txBody>
      </p:sp>
      <p:pic>
        <p:nvPicPr>
          <p:cNvPr id="9" name="Picture 8" descr="02-scoreboard.png"/>
          <p:cNvPicPr>
            <a:picLocks noChangeAspect="1"/>
          </p:cNvPicPr>
          <p:nvPr/>
        </p:nvPicPr>
        <p:blipFill>
          <a:blip r:embed="rId3"/>
          <a:stretch>
            <a:fillRect/>
          </a:stretch>
        </p:blipFill>
        <p:spPr>
          <a:xfrm>
            <a:off x="7605293" y="2148839"/>
            <a:ext cx="2400300" cy="1888236"/>
          </a:xfrm>
          <a:prstGeom prst="rect">
            <a:avLst/>
          </a:prstGeom>
          <a:ln w="9525">
            <a:solidFill>
              <a:srgbClr val="D9D1C2"/>
            </a:solidFill>
          </a:ln>
        </p:spPr>
      </p:pic>
      <p:sp>
        <p:nvSpPr>
          <p:cNvPr id="10" name="TextBox 9"/>
          <p:cNvSpPr txBox="1"/>
          <p:nvPr/>
        </p:nvSpPr>
        <p:spPr>
          <a:xfrm>
            <a:off x="777240" y="4238243"/>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Chi tiết trận — tường thuật</a:t>
            </a:r>
          </a:p>
        </p:txBody>
      </p:sp>
      <p:pic>
        <p:nvPicPr>
          <p:cNvPr id="11" name="Picture 10" descr="04-match-relay.png"/>
          <p:cNvPicPr>
            <a:picLocks noChangeAspect="1"/>
          </p:cNvPicPr>
          <p:nvPr/>
        </p:nvPicPr>
        <p:blipFill>
          <a:blip r:embed="rId4"/>
          <a:stretch>
            <a:fillRect/>
          </a:stretch>
        </p:blipFill>
        <p:spPr>
          <a:xfrm>
            <a:off x="1875663" y="4512563"/>
            <a:ext cx="3021177" cy="1888236"/>
          </a:xfrm>
          <a:prstGeom prst="rect">
            <a:avLst/>
          </a:prstGeom>
          <a:ln w="9525">
            <a:solidFill>
              <a:srgbClr val="D9D1C2"/>
            </a:solidFill>
          </a:ln>
        </p:spPr>
      </p:pic>
      <p:sp>
        <p:nvSpPr>
          <p:cNvPr id="12" name="TextBox 11"/>
          <p:cNvSpPr txBox="1"/>
          <p:nvPr/>
        </p:nvSpPr>
        <p:spPr>
          <a:xfrm>
            <a:off x="6196431" y="4238243"/>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BXH — đội / vua phá lưới</a:t>
            </a:r>
          </a:p>
        </p:txBody>
      </p:sp>
      <p:pic>
        <p:nvPicPr>
          <p:cNvPr id="13" name="Picture 12" descr="05-rankings.png"/>
          <p:cNvPicPr>
            <a:picLocks noChangeAspect="1"/>
          </p:cNvPicPr>
          <p:nvPr/>
        </p:nvPicPr>
        <p:blipFill>
          <a:blip r:embed="rId5"/>
          <a:stretch>
            <a:fillRect/>
          </a:stretch>
        </p:blipFill>
        <p:spPr>
          <a:xfrm>
            <a:off x="7294854" y="4512563"/>
            <a:ext cx="3021177" cy="1888236"/>
          </a:xfrm>
          <a:prstGeom prst="rect">
            <a:avLst/>
          </a:prstGeom>
          <a:ln w="9525">
            <a:solidFill>
              <a:srgbClr val="D9D1C2"/>
            </a:solidFill>
          </a:ln>
        </p:spPr>
      </p:pic>
      <p:sp>
        <p:nvSpPr>
          <p:cNvPr id="14" name="TextBox 13"/>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5" name="TextBox 14"/>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PL 2</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Giao diện — Tài trợ·Tổ chức·Bảng điều khiển</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Tài trợ (ẩn liên hệ)</a:t>
            </a:r>
          </a:p>
        </p:txBody>
      </p:sp>
      <p:pic>
        <p:nvPicPr>
          <p:cNvPr id="6" name="Picture 5" descr="06-sponsorship.png"/>
          <p:cNvPicPr>
            <a:picLocks noChangeAspect="1"/>
          </p:cNvPicPr>
          <p:nvPr/>
        </p:nvPicPr>
        <p:blipFill>
          <a:blip r:embed="rId2"/>
          <a:stretch>
            <a:fillRect/>
          </a:stretch>
        </p:blipFill>
        <p:spPr>
          <a:xfrm>
            <a:off x="777240" y="3208686"/>
            <a:ext cx="3411626" cy="2132266"/>
          </a:xfrm>
          <a:prstGeom prst="rect">
            <a:avLst/>
          </a:prstGeom>
          <a:ln w="9525">
            <a:solidFill>
              <a:srgbClr val="D9D1C2"/>
            </a:solidFill>
          </a:ln>
        </p:spPr>
      </p:pic>
      <p:sp>
        <p:nvSpPr>
          <p:cNvPr id="7" name="TextBox 6"/>
          <p:cNvSpPr txBox="1"/>
          <p:nvPr/>
        </p:nvSpPr>
        <p:spPr>
          <a:xfrm>
            <a:off x="4390034"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Danh bạ tổ chức (số chi hội)</a:t>
            </a:r>
          </a:p>
        </p:txBody>
      </p:sp>
      <p:pic>
        <p:nvPicPr>
          <p:cNvPr id="8" name="Picture 7" descr="07-orgs.png"/>
          <p:cNvPicPr>
            <a:picLocks noChangeAspect="1"/>
          </p:cNvPicPr>
          <p:nvPr/>
        </p:nvPicPr>
        <p:blipFill>
          <a:blip r:embed="rId3"/>
          <a:stretch>
            <a:fillRect/>
          </a:stretch>
        </p:blipFill>
        <p:spPr>
          <a:xfrm>
            <a:off x="4390034" y="3208686"/>
            <a:ext cx="3411626" cy="2132266"/>
          </a:xfrm>
          <a:prstGeom prst="rect">
            <a:avLst/>
          </a:prstGeom>
          <a:ln w="9525">
            <a:solidFill>
              <a:srgbClr val="D9D1C2"/>
            </a:solidFill>
          </a:ln>
        </p:spPr>
      </p:pic>
      <p:sp>
        <p:nvSpPr>
          <p:cNvPr id="9" name="TextBox 8"/>
          <p:cNvSpPr txBox="1"/>
          <p:nvPr/>
        </p:nvSpPr>
        <p:spPr>
          <a:xfrm>
            <a:off x="8002828"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Bảng điều khiển nội bộ</a:t>
            </a:r>
          </a:p>
        </p:txBody>
      </p:sp>
      <p:pic>
        <p:nvPicPr>
          <p:cNvPr id="10" name="Picture 9" descr="08-admin-dashboard.png"/>
          <p:cNvPicPr>
            <a:picLocks noChangeAspect="1"/>
          </p:cNvPicPr>
          <p:nvPr/>
        </p:nvPicPr>
        <p:blipFill>
          <a:blip r:embed="rId4"/>
          <a:stretch>
            <a:fillRect/>
          </a:stretch>
        </p:blipFill>
        <p:spPr>
          <a:xfrm>
            <a:off x="8002828" y="2936242"/>
            <a:ext cx="3411626" cy="2677153"/>
          </a:xfrm>
          <a:prstGeom prst="rect">
            <a:avLst/>
          </a:prstGeom>
          <a:ln w="9525">
            <a:solidFill>
              <a:srgbClr val="D9D1C2"/>
            </a:solidFill>
          </a:ln>
        </p:spPr>
      </p:pic>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PL 3</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Giao diện — Đăng ký tài liệu bằng AI (cốt lõi)</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0637215" cy="365760"/>
          </a:xfrm>
          <a:prstGeom prst="rect">
            <a:avLst/>
          </a:prstGeom>
          <a:noFill/>
        </p:spPr>
        <p:txBody>
          <a:bodyPr wrap="square" anchor="t" lIns="0" rIns="0" tIns="0" bIns="0">
            <a:spAutoFit/>
          </a:bodyPr>
          <a:lstStyle/>
          <a:p>
            <a:pPr algn="l">
              <a:lnSpc>
                <a:spcPct val="125000"/>
              </a:lnSpc>
            </a:pPr>
            <a:r>
              <a:rPr sz="1300" b="0">
                <a:solidFill>
                  <a:srgbClr val="4C4842"/>
                </a:solidFill>
                <a:latin typeface="Be Vietnam Pro"/>
              </a:rPr>
              <a:t>Tài liệu → AI nháp → người xác nhận → phê duyệt điện tử</a:t>
            </a:r>
          </a:p>
        </p:txBody>
      </p:sp>
      <p:sp>
        <p:nvSpPr>
          <p:cNvPr id="6" name="TextBox 5"/>
          <p:cNvSpPr txBox="1"/>
          <p:nvPr/>
        </p:nvSpPr>
        <p:spPr>
          <a:xfrm>
            <a:off x="777240" y="1874519"/>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Chờ xác nhận — độ tin cậy 88%</a:t>
            </a:r>
          </a:p>
        </p:txBody>
      </p:sp>
      <p:pic>
        <p:nvPicPr>
          <p:cNvPr id="7" name="Picture 6" descr="09-admin-ingest.png"/>
          <p:cNvPicPr>
            <a:picLocks noChangeAspect="1"/>
          </p:cNvPicPr>
          <p:nvPr/>
        </p:nvPicPr>
        <p:blipFill>
          <a:blip r:embed="rId2"/>
          <a:stretch>
            <a:fillRect/>
          </a:stretch>
        </p:blipFill>
        <p:spPr>
          <a:xfrm>
            <a:off x="777240" y="2644187"/>
            <a:ext cx="5218023" cy="3261264"/>
          </a:xfrm>
          <a:prstGeom prst="rect">
            <a:avLst/>
          </a:prstGeom>
          <a:ln w="9525">
            <a:solidFill>
              <a:srgbClr val="D9D1C2"/>
            </a:solidFill>
          </a:ln>
        </p:spPr>
      </p:pic>
      <p:sp>
        <p:nvSpPr>
          <p:cNvPr id="8" name="TextBox 7"/>
          <p:cNvSpPr txBox="1"/>
          <p:nvPr/>
        </p:nvSpPr>
        <p:spPr>
          <a:xfrm>
            <a:off x="6196431" y="1874519"/>
            <a:ext cx="5218023"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Kiểm tra AI — độ tin cậy từng mục</a:t>
            </a:r>
          </a:p>
        </p:txBody>
      </p:sp>
      <p:pic>
        <p:nvPicPr>
          <p:cNvPr id="9" name="Picture 8" descr="10-admin-ingest-review.png"/>
          <p:cNvPicPr>
            <a:picLocks noChangeAspect="1"/>
          </p:cNvPicPr>
          <p:nvPr/>
        </p:nvPicPr>
        <p:blipFill>
          <a:blip r:embed="rId3"/>
          <a:stretch>
            <a:fillRect/>
          </a:stretch>
        </p:blipFill>
        <p:spPr>
          <a:xfrm>
            <a:off x="6196431" y="2644187"/>
            <a:ext cx="5218023" cy="3261264"/>
          </a:xfrm>
          <a:prstGeom prst="rect">
            <a:avLst/>
          </a:prstGeom>
          <a:ln w="9525">
            <a:solidFill>
              <a:srgbClr val="D9D1C2"/>
            </a:solidFill>
          </a:ln>
        </p:spPr>
      </p:pic>
      <p:sp>
        <p:nvSpPr>
          <p:cNvPr id="10" name="TextBox 9"/>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1" name="TextBox 10"/>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pPr>
            <a:r>
              <a:rPr sz="1200" b="0">
                <a:solidFill>
                  <a:srgbClr val="B5341F"/>
                </a:solidFill>
                <a:latin typeface="Consolas"/>
              </a:rPr>
              <a:t>PL 4</a:t>
            </a:r>
          </a:p>
        </p:txBody>
      </p:sp>
      <p:sp>
        <p:nvSpPr>
          <p:cNvPr id="3" name="TextBox 2"/>
          <p:cNvSpPr txBox="1"/>
          <p:nvPr/>
        </p:nvSpPr>
        <p:spPr>
          <a:xfrm>
            <a:off x="777240" y="731520"/>
            <a:ext cx="10637215" cy="640080"/>
          </a:xfrm>
          <a:prstGeom prst="rect">
            <a:avLst/>
          </a:prstGeom>
          <a:noFill/>
        </p:spPr>
        <p:txBody>
          <a:bodyPr wrap="square" anchor="t" lIns="0" rIns="0" tIns="0" bIns="0">
            <a:spAutoFit/>
          </a:bodyPr>
          <a:lstStyle/>
          <a:p>
            <a:pPr algn="l">
              <a:lnSpc>
                <a:spcPct val="125000"/>
              </a:lnSpc>
            </a:pPr>
            <a:r>
              <a:rPr sz="2700" b="1">
                <a:solidFill>
                  <a:srgbClr val="1B1A17"/>
                </a:solidFill>
                <a:latin typeface="Be Vietnam Pro"/>
              </a:rPr>
              <a:t>Giao diện — Nội dung·Bình chọn·Quảng cáo</a:t>
            </a:r>
          </a:p>
        </p:txBody>
      </p:sp>
      <p:sp>
        <p:nvSpPr>
          <p:cNvPr id="4" name="Rectangle 3"/>
          <p:cNvSpPr/>
          <p:nvPr/>
        </p:nvSpPr>
        <p:spPr>
          <a:xfrm>
            <a:off x="777240" y="1417320"/>
            <a:ext cx="10637215" cy="1905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Nội dung·duyệt bài·thẻ PV</a:t>
            </a:r>
          </a:p>
        </p:txBody>
      </p:sp>
      <p:pic>
        <p:nvPicPr>
          <p:cNvPr id="6" name="Picture 5" descr="11-admin-content.png"/>
          <p:cNvPicPr>
            <a:picLocks noChangeAspect="1"/>
          </p:cNvPicPr>
          <p:nvPr/>
        </p:nvPicPr>
        <p:blipFill>
          <a:blip r:embed="rId2"/>
          <a:stretch>
            <a:fillRect/>
          </a:stretch>
        </p:blipFill>
        <p:spPr>
          <a:xfrm>
            <a:off x="777240" y="3208686"/>
            <a:ext cx="3411626" cy="2132266"/>
          </a:xfrm>
          <a:prstGeom prst="rect">
            <a:avLst/>
          </a:prstGeom>
          <a:ln w="9525">
            <a:solidFill>
              <a:srgbClr val="D9D1C2"/>
            </a:solidFill>
          </a:ln>
        </p:spPr>
      </p:pic>
      <p:sp>
        <p:nvSpPr>
          <p:cNvPr id="7" name="TextBox 6"/>
          <p:cNvSpPr txBox="1"/>
          <p:nvPr/>
        </p:nvSpPr>
        <p:spPr>
          <a:xfrm>
            <a:off x="4390034"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Quản lý bình chọn (MVP)</a:t>
            </a:r>
          </a:p>
        </p:txBody>
      </p:sp>
      <p:pic>
        <p:nvPicPr>
          <p:cNvPr id="8" name="Picture 7" descr="12-admin-polls.png"/>
          <p:cNvPicPr>
            <a:picLocks noChangeAspect="1"/>
          </p:cNvPicPr>
          <p:nvPr/>
        </p:nvPicPr>
        <p:blipFill>
          <a:blip r:embed="rId3"/>
          <a:stretch>
            <a:fillRect/>
          </a:stretch>
        </p:blipFill>
        <p:spPr>
          <a:xfrm>
            <a:off x="4390034" y="3208686"/>
            <a:ext cx="3411626" cy="2132266"/>
          </a:xfrm>
          <a:prstGeom prst="rect">
            <a:avLst/>
          </a:prstGeom>
          <a:ln w="9525">
            <a:solidFill>
              <a:srgbClr val="D9D1C2"/>
            </a:solidFill>
          </a:ln>
        </p:spPr>
      </p:pic>
      <p:sp>
        <p:nvSpPr>
          <p:cNvPr id="9" name="TextBox 8"/>
          <p:cNvSpPr txBox="1"/>
          <p:nvPr/>
        </p:nvSpPr>
        <p:spPr>
          <a:xfrm>
            <a:off x="8002828" y="1874519"/>
            <a:ext cx="3411626" cy="274320"/>
          </a:xfrm>
          <a:prstGeom prst="rect">
            <a:avLst/>
          </a:prstGeom>
          <a:noFill/>
        </p:spPr>
        <p:txBody>
          <a:bodyPr wrap="square" anchor="t" lIns="0" rIns="0" tIns="0" bIns="0">
            <a:spAutoFit/>
          </a:bodyPr>
          <a:lstStyle/>
          <a:p>
            <a:pPr algn="ctr">
              <a:lnSpc>
                <a:spcPct val="100000"/>
              </a:lnSpc>
            </a:pPr>
            <a:r>
              <a:rPr sz="1050" b="1">
                <a:solidFill>
                  <a:srgbClr val="B5341F"/>
                </a:solidFill>
                <a:latin typeface="Be Vietnam Pro"/>
              </a:rPr>
              <a:t>Quảng cáo·chia doanh thu</a:t>
            </a:r>
          </a:p>
        </p:txBody>
      </p:sp>
      <p:pic>
        <p:nvPicPr>
          <p:cNvPr id="10" name="Picture 9" descr="13-admin-ads.png"/>
          <p:cNvPicPr>
            <a:picLocks noChangeAspect="1"/>
          </p:cNvPicPr>
          <p:nvPr/>
        </p:nvPicPr>
        <p:blipFill>
          <a:blip r:embed="rId4"/>
          <a:stretch>
            <a:fillRect/>
          </a:stretch>
        </p:blipFill>
        <p:spPr>
          <a:xfrm>
            <a:off x="8002828" y="3208686"/>
            <a:ext cx="3411626" cy="2132266"/>
          </a:xfrm>
          <a:prstGeom prst="rect">
            <a:avLst/>
          </a:prstGeom>
          <a:ln w="9525">
            <a:solidFill>
              <a:srgbClr val="D9D1C2"/>
            </a:solidFill>
          </a:ln>
        </p:spPr>
      </p:pic>
      <p:sp>
        <p:nvSpPr>
          <p:cNvPr id="11" name="TextBox 10"/>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12" name="TextBox 11"/>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A17"/>
        </a:solidFill>
        <a:effectLst/>
      </p:bgPr>
    </p:bg>
    <p:spTree>
      <p:nvGrpSpPr>
        <p:cNvPr id="1" name=""/>
        <p:cNvGrpSpPr/>
        <p:nvPr/>
      </p:nvGrpSpPr>
      <p:grpSpPr/>
      <p:sp>
        <p:nvSpPr>
          <p:cNvPr id="2" name="TextBox 1"/>
          <p:cNvSpPr txBox="1"/>
          <p:nvPr/>
        </p:nvSpPr>
        <p:spPr>
          <a:xfrm>
            <a:off x="777240" y="822960"/>
            <a:ext cx="10637215" cy="365760"/>
          </a:xfrm>
          <a:prstGeom prst="rect">
            <a:avLst/>
          </a:prstGeom>
          <a:noFill/>
        </p:spPr>
        <p:txBody>
          <a:bodyPr wrap="square" anchor="t" lIns="0" rIns="0" tIns="0" bIns="0">
            <a:spAutoFit/>
          </a:bodyPr>
          <a:lstStyle/>
          <a:p>
            <a:pPr algn="l">
              <a:lnSpc>
                <a:spcPct val="125000"/>
              </a:lnSpc>
            </a:pPr>
            <a:r>
              <a:rPr sz="1300" b="0">
                <a:solidFill>
                  <a:srgbClr val="CC9988"/>
                </a:solidFill>
                <a:latin typeface="Consolas"/>
              </a:rPr>
              <a:t>Bước tiếp theo</a:t>
            </a:r>
          </a:p>
        </p:txBody>
      </p:sp>
      <p:sp>
        <p:nvSpPr>
          <p:cNvPr id="3" name="TextBox 2"/>
          <p:cNvSpPr txBox="1"/>
          <p:nvPr/>
        </p:nvSpPr>
        <p:spPr>
          <a:xfrm>
            <a:off x="777240" y="1234440"/>
            <a:ext cx="10637215" cy="914400"/>
          </a:xfrm>
          <a:prstGeom prst="rect">
            <a:avLst/>
          </a:prstGeom>
          <a:noFill/>
        </p:spPr>
        <p:txBody>
          <a:bodyPr wrap="square" anchor="t" lIns="0" rIns="0" tIns="0" bIns="0">
            <a:spAutoFit/>
          </a:bodyPr>
          <a:lstStyle/>
          <a:p>
            <a:pPr algn="l">
              <a:lnSpc>
                <a:spcPct val="110000"/>
              </a:lnSpc>
            </a:pPr>
            <a:r>
              <a:rPr sz="3200" b="1">
                <a:solidFill>
                  <a:srgbClr val="FFFFFF"/>
                </a:solidFill>
                <a:latin typeface="Be Vietnam Pro"/>
              </a:rPr>
              <a:t>Đề nghị Bộ cung cấp (đợt 1)</a:t>
            </a:r>
          </a:p>
        </p:txBody>
      </p:sp>
      <p:sp>
        <p:nvSpPr>
          <p:cNvPr id="4" name="TextBox 3"/>
          <p:cNvSpPr txBox="1"/>
          <p:nvPr/>
        </p:nvSpPr>
        <p:spPr>
          <a:xfrm>
            <a:off x="777240" y="2468880"/>
            <a:ext cx="10058400" cy="2743200"/>
          </a:xfrm>
          <a:prstGeom prst="rect">
            <a:avLst/>
          </a:prstGeom>
          <a:noFill/>
        </p:spPr>
        <p:txBody>
          <a:bodyPr wrap="square" anchor="t" lIns="0" rIns="0" tIns="0" bIns="0">
            <a:spAutoFit/>
          </a:bodyPr>
          <a:lstStyle/>
          <a:p>
            <a:pPr algn="l">
              <a:lnSpc>
                <a:spcPct val="150000"/>
              </a:lnSpc>
              <a:spcAft>
                <a:spcPts val="1000"/>
              </a:spcAft>
            </a:pPr>
            <a:r>
              <a:rPr sz="1800" b="0">
                <a:solidFill>
                  <a:srgbClr val="EEE6E0"/>
                </a:solidFill>
                <a:latin typeface="Be Vietnam Pro"/>
              </a:rPr>
              <a:t>•  3 biểu mẫu — đăng ký VĐV · tổ chức giải · kế hoạch (bản gốc Word/Excel)</a:t>
            </a:r>
          </a:p>
          <a:p>
            <a:pPr algn="l">
              <a:lnSpc>
                <a:spcPct val="150000"/>
              </a:lnSpc>
              <a:spcAft>
                <a:spcPts val="1000"/>
              </a:spcAft>
            </a:pPr>
            <a:r>
              <a:rPr sz="1800" b="0">
                <a:solidFill>
                  <a:srgbClr val="EEE6E0"/>
                </a:solidFill>
                <a:latin typeface="Be Vietnam Pro"/>
              </a:rPr>
              <a:t>•  Bảng mã 34 tỉnh/thành (Nghị quyết 202/2025)</a:t>
            </a:r>
          </a:p>
          <a:p>
            <a:pPr algn="l">
              <a:lnSpc>
                <a:spcPct val="150000"/>
              </a:lnSpc>
              <a:spcAft>
                <a:spcPts val="1000"/>
              </a:spcAft>
            </a:pPr>
            <a:r>
              <a:rPr sz="1800" b="0">
                <a:solidFill>
                  <a:srgbClr val="EEE6E0"/>
                </a:solidFill>
                <a:latin typeface="Be Vietnam Pro"/>
              </a:rPr>
              <a:t>•  Danh sách chính thức các liên đoàn quốc gia (hội viên VOC)</a:t>
            </a:r>
          </a:p>
          <a:p>
            <a:pPr algn="l">
              <a:lnSpc>
                <a:spcPct val="150000"/>
              </a:lnSpc>
              <a:spcAft>
                <a:spcPts val="1000"/>
              </a:spcAft>
            </a:pPr>
            <a:r>
              <a:rPr sz="1800" b="0">
                <a:solidFill>
                  <a:srgbClr val="EEE6E0"/>
                </a:solidFill>
                <a:latin typeface="Be Vietnam Pro"/>
              </a:rPr>
              <a:t>•  Sơ đồ tổ chức · hệ thống báo cáo·phê duyệt</a:t>
            </a:r>
          </a:p>
        </p:txBody>
      </p:sp>
      <p:sp>
        <p:nvSpPr>
          <p:cNvPr id="5" name="Rectangle 4"/>
          <p:cNvSpPr/>
          <p:nvPr/>
        </p:nvSpPr>
        <p:spPr>
          <a:xfrm>
            <a:off x="777240" y="5486400"/>
            <a:ext cx="2926080" cy="25400"/>
          </a:xfrm>
          <a:prstGeom prst="rect">
            <a:avLst/>
          </a:prstGeom>
          <a:solidFill>
            <a:srgbClr val="B53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623560"/>
            <a:ext cx="10637215" cy="731520"/>
          </a:xfrm>
          <a:prstGeom prst="rect">
            <a:avLst/>
          </a:prstGeom>
          <a:noFill/>
        </p:spPr>
        <p:txBody>
          <a:bodyPr wrap="square" anchor="t" lIns="0" rIns="0" tIns="0" bIns="0">
            <a:spAutoFit/>
          </a:bodyPr>
          <a:lstStyle/>
          <a:p>
            <a:pPr algn="l">
              <a:lnSpc>
                <a:spcPct val="130000"/>
              </a:lnSpc>
            </a:pPr>
            <a:r>
              <a:rPr sz="1200" b="0">
                <a:solidFill>
                  <a:srgbClr val="AA9999"/>
                </a:solidFill>
                <a:latin typeface="Consolas"/>
              </a:rPr>
              <a:t>Bản hoàn chỉnh đã sẵn sàng — biểu mẫu đến là phản ánh trong 1–2 giờ/mẫu. Nút thắt là tiếp nhận, không phải lập trình</a:t>
            </a:r>
          </a:p>
        </p:txBody>
      </p:sp>
      <p:sp>
        <p:nvSpPr>
          <p:cNvPr id="7" name="TextBox 6"/>
          <p:cNvSpPr txBox="1"/>
          <p:nvPr/>
        </p:nvSpPr>
        <p:spPr>
          <a:xfrm>
            <a:off x="777240" y="6355080"/>
            <a:ext cx="10637215" cy="219456"/>
          </a:xfrm>
          <a:prstGeom prst="rect">
            <a:avLst/>
          </a:prstGeom>
          <a:noFill/>
        </p:spPr>
        <p:txBody>
          <a:bodyPr wrap="square" anchor="t" lIns="0" rIns="0" tIns="0" bIns="0">
            <a:spAutoFit/>
          </a:bodyPr>
          <a:lstStyle/>
          <a:p>
            <a:pPr algn="l">
              <a:lnSpc>
                <a:spcPct val="125000"/>
              </a:lnSpc>
            </a:pPr>
            <a:r>
              <a:rPr sz="900" b="0">
                <a:solidFill>
                  <a:srgbClr val="847C70"/>
                </a:solidFill>
                <a:latin typeface="Consolas"/>
              </a:rPr>
              <a:t>Vietnam Sports Platform · Đề án v1.1</a:t>
            </a:r>
          </a:p>
        </p:txBody>
      </p:sp>
      <p:sp>
        <p:nvSpPr>
          <p:cNvPr id="8" name="TextBox 7"/>
          <p:cNvSpPr txBox="1"/>
          <p:nvPr/>
        </p:nvSpPr>
        <p:spPr>
          <a:xfrm>
            <a:off x="10500055" y="6355080"/>
            <a:ext cx="914400" cy="219456"/>
          </a:xfrm>
          <a:prstGeom prst="rect">
            <a:avLst/>
          </a:prstGeom>
          <a:noFill/>
        </p:spPr>
        <p:txBody>
          <a:bodyPr wrap="square" anchor="t" lIns="0" rIns="0" tIns="0" bIns="0">
            <a:spAutoFit/>
          </a:bodyPr>
          <a:lstStyle/>
          <a:p>
            <a:pPr algn="r">
              <a:lnSpc>
                <a:spcPct val="125000"/>
              </a:lnSpc>
            </a:pPr>
            <a:r>
              <a:rPr sz="900" b="0">
                <a:solidFill>
                  <a:srgbClr val="847C70"/>
                </a:solidFill>
                <a:latin typeface="Consolas"/>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