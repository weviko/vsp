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C4D8"/>
                </a:solidFill>
                <a:latin typeface="Consolas"/>
              </a:rPr>
              <a:t>VIETNAM SPORTS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</a:rPr>
              <a:t>베트남 스포츠 통합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C6D4E0"/>
                </a:solidFill>
                <a:latin typeface="맑은 고딕"/>
              </a:rPr>
              <a:t>행정 전산망(내부)과 스마트폰 스포츠 웹(외부)을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C6D4E0"/>
                </a:solidFill>
                <a:latin typeface="맑은 고딕"/>
              </a:rPr>
              <a:t>하나의 데이터로 묶은 베트남 체육 공식 인프라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709160"/>
            <a:ext cx="2011680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FB0C0"/>
                </a:solidFill>
                <a:latin typeface="Consolas"/>
              </a:rPr>
              <a:t>사업계획서 v1.0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FB0C0"/>
                </a:solidFill>
                <a:latin typeface="Consolas"/>
              </a:rPr>
              <a:t>2026년 9월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한 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두 얼굴, 하나의 데이터 — 베트남 체육의 공식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6212E"/>
                </a:solidFill>
                <a:latin typeface="맑은 고딕"/>
              </a:rPr>
              <a:t>베트남 체육 행정(등록·결재·수납·보조금)과 대중 스포츠 미디어를, 하나의 데이터 위에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6212E"/>
                </a:solidFill>
                <a:latin typeface="맑은 고딕"/>
              </a:rPr>
              <a:t>내부 행정 전산망 + 외부 스마트폰 웹 두 얼굴로 올린다. 내부에 입력하면 외부에 자동 노출된다.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209544"/>
            <a:ext cx="222199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0 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685032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베트남 체육단체 통합 등록 시스템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06324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3209544"/>
            <a:ext cx="222199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9종목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3685032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1군 시연 반영 (전 종목 확장)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06324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209544"/>
            <a:ext cx="222199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2얼굴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685032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내부 행정 · 외부 웹 · 공통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06324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3209544"/>
            <a:ext cx="222199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통과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3685032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테스트·빌드 검증 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26280"/>
            <a:ext cx="10637215" cy="128016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526280"/>
            <a:ext cx="41148" cy="128016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467258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핵심 근거 (2026-09 실사)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928616"/>
            <a:ext cx="10198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베트남 체육국·최대 종목단체·국가올림픽위 사이트 모두 뉴스·정보 수준 — 통합 등록·전자결재·회원관리가 없다. 한국은 이 기능이 여러 기관에 흩어져 시스템화돼 있다. VSP는 그것을 하나로 모으고 베트남의 빈자리를 채운다.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배경과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한국은 흩어져 시스템화 · 베트남은 공백 — 후발주자 통합 설계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3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708"/>
                <a:gridCol w="2615708"/>
                <a:gridCol w="2615708"/>
                <a:gridCol w="2790089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베트남 (현재)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VSP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선수·지도자·심판 등록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g1 전자등록·승인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없음(카드신청 링크)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등록 + 2단계 결재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증명서·진위확인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g1 전자증명서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종목단체 관리·공시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경영공시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대회 운영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g1 대회정보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정보 게시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개최승인·대진·결과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보조금·기금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KSPO·e나라도움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체육 전용 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전주기(부정차단)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대중 미디어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(민간) 네이버 스포츠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분산·SNS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대외 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212080"/>
            <a:ext cx="10637215" cy="868680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41148" cy="8686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35838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5803D"/>
                </a:solidFill>
                <a:latin typeface="Consolas"/>
              </a:rPr>
              <a:t>지렛대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614416"/>
            <a:ext cx="101983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체육단체가 자체 구축할 여력이 없다 → 중앙이 표준을 지정하는 하향식 도입 = 전 종목 동시 온보딩 가능.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구조 — 두 얼굴, 하나의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내부에 입력하면 외부에 자동으로 나타난다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120640" cy="201168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5720" cy="201168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5C7A"/>
                </a:solidFill>
                <a:latin typeface="맑은 고딕"/>
              </a:rPr>
              <a:t>외부용 · 스마트폰 웹  (apps/portal)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42316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6212E"/>
                </a:solidFill>
                <a:latin typeface="맑은 고딕"/>
              </a:rPr>
              <a:t>네이버 스포츠형 · 로그인 없음 · 광고 가능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종목 탭 → 일정·순위·기록 · 오늘의 경기 · 선수검색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공개 데이터(pub)만 읽는다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5120640" cy="2011680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45720" cy="20116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803D"/>
                </a:solidFill>
                <a:latin typeface="맑은 고딕"/>
              </a:rPr>
              <a:t>내부용 · 행정 전산망  (apps/platform)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2316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6212E"/>
                </a:solidFill>
                <a:latin typeface="맑은 고딕"/>
              </a:rPr>
              <a:t>회원 서비스 /my — 선수·학부모, 자기 기록만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6212E"/>
                </a:solidFill>
                <a:latin typeface="맑은 고딕"/>
              </a:rPr>
              <a:t>업무 /admin — 협회·성시·체육회·문체부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로그인 필수 · 광고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14800"/>
            <a:ext cx="10637215" cy="1051560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31596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하나의 데이터  —  pub 공개계층(외부가 읽는 곳)  +  원본계층(내부)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6D4E0"/>
                </a:solidFill>
                <a:latin typeface="맑은 고딕"/>
              </a:rPr>
              <a:t>외부 웹은 pub 뷰만 읽는 전용 DB 역할로 접속 → 뚫려도 전화·신분증은 나가지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맑은 고딕"/>
              </a:rPr>
              <a:t>설계 제1원칙: 홍보를 위해 따로 글을 쓰지 않는다 — 내부 입력이 외부에 자동 반영된다.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외부용 — 스마트폰 웹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네이버 스포츠 동작 실사를 반영 (모바일 우선)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160"/>
                <a:gridCol w="8637054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구성 (네이버 실사 반영)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머리 3단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유틸리티(공시·증명확인) / 종목 탭(1단) / 기능 줄(일정·순위·선수·뉴스)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종목 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뉴스·영상·일정·순위·기록 → 리그·대회 필터 (네이버식)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오늘의 경기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경기 카드 상태별 버튼 — 예정=응원·진행=중계·종료=기록, 실시간 갱신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경기 상세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응원·라인업·중계·뉴스·영상·기록 + 종목별 기록표 + 팬 한 줄 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개인화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MY팀형 종목·팀 구독 → 구독자 수는 인기 지표(후원 중개 연결)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e스포츠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데이터는 한 종목, 화면은 타이틀-우선 + 커뮤니티·중계 강화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내부용 — 행정 전산망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대한체육회 g1 + 문체부 계열 (사무국 1~5명·모바일 전제)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992"/>
                <a:gridCol w="8455222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경기인 등록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선수·지도자·심판, 동적 서식 + 2단계 결재(법정 처리기한)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전자결재·공문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기안·합의·접수·문서대장 (온나라 계열)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전자수납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자금은 납부자→PG→협회 계좌 직접, 플랫폼 미경유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보조금 전주기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공모→교부→집행→정산→검사→공시 (부정차단 내장)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증명서·공시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발급·진위확인 · 회원종목단체 경영공시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회원 서비스 /my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내 생애주기 — 등록·성적·신청·납부, 전자지갑 확장 검토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데이터 경계와 보안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한국 N2SF 공개/민감/기밀 등급 적용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3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661"/>
                <a:gridCol w="5909563"/>
                <a:gridCol w="3272989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접근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O 공개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경기결과·출생연도·승인된 대회·공시·통계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외부 웹 (전용 DB 역할)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S 민감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전화·등록서류·결재·수납·보조금·공문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업무 역할 + 본인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C 기밀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신분증 해시·건강·징계/도핑·신고자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추가 통제(다음 단계)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3931920"/>
            <a:ext cx="10637215" cy="13716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41148" cy="13716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07822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강제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334256"/>
            <a:ext cx="10198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외부 웹은 pub 뷰만 읽는 읽기 전용 DB 역할로 접속한다. 권한은 화면·서버액션·API마다 확인하고(레이아웃만으로 막지 않음), 자동 검사(check:boundaries)로 경계 위반을 빌드에서 잡는다. CCCD는 해시만, 만 18세 미만은 공개 제외.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종목 구성 (폴더)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하나의 종목 = 하나의 국가 종목단체. 종목은 데이터라 명단 수령 시 교체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992"/>
                <a:gridCol w="8455222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군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종목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1군 (시연 반영)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축구·배구·육상·수영·배드민턴·태권도·보비남·농구·e스포츠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2군 (올림픽 정규)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탁구·테니스·복싱·유도·레슬링·역도·양궁·사격·펜싱·사이클·조정·체조·핸드볼·야구 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3군 (지역·무예)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펜칵실랏·세팍타크로·우슈·가라테·무에타이·주짓수·체스·샹치·당구·볼링·골프 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4군 (베트남 전통)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다카오·전통무술 — 네이버·한국에 없는 VSP 차별 폴더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별도 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장애인체육 — 같은 플랫폼 별도 종목군 vs 분리 (미팅 결정)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B8CA0"/>
                </a:solidFill>
                <a:latin typeface="맑은 고딕"/>
              </a:rPr>
              <a:t>근거: 베트남 주최 SEA Games 31 = 40종목 · 확인 단체 VFF·VFV·VAF·VBSF·VIRESA (VOC 정식명단 수령 확정)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진행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결정 무관은 지금, 결정 의존은 미팅 후 — 안 쓸 것은 미리 안 만든다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996"/>
                <a:gridCol w="2727491"/>
                <a:gridCol w="5000400"/>
                <a:gridCol w="1818327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완료 기준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기간(안)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P0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미팅 준비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베트남어 시연 + 서식 요청 발송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3~4주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P1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문체부 미팅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설계 분기 4개 답변 + 서식·명단 수령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1주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P2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구조 확정·IT팀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요구 반영(설정으로) + 디자인 적용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6~10주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P3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파일럿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등록→대회→결과→정산 실데이터 완주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8~12주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P4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전국 확산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종목별 순차 온보딩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6~12개월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P5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공개·후원중개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미디어·랭킹·스폰서십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P3 병행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394960"/>
            <a:ext cx="10637215" cy="77724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394960"/>
            <a:ext cx="41148" cy="77724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54126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P1 설계 분기 4개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797296"/>
            <a:ext cx="1019830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① 국가 전자문서시스템 연동 방식 ② 국가 보조금 시스템 유무 ③ 체육 예산 경로 ④ 장애인체육 편입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운영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호스팅 · 팀 · 온보딩 · 알림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160"/>
                <a:gridCol w="8637054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호스팅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개발 PGlite → 운영 PostgreSQL (한 줄 교체). 베트남 국내 호스팅 전제(법)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팀 (P2)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리드1·백엔드2~3·프론트2·디자이너1·현지담당1~2(개발자보다 먼저)·QA1·보안1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온보딩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하향식 표준 지정 → 협회는 기준데이터·교육만. 엑셀 일괄 업로드+검증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데이터 이관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기준데이터→조직→사람→등록 순. 중복은 CCCD 해시로 탐지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Zalo ZNS(베트남 표준). 어댑터만 연결하면 동작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394960"/>
            <a:ext cx="10637215" cy="777240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394960"/>
            <a:ext cx="41148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54126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5803D"/>
                </a:solidFill>
                <a:latin typeface="Consolas"/>
              </a:rPr>
              <a:t>차별점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797296"/>
            <a:ext cx="1019830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VOC 사이트조차 불안정한 현실 — 안정적 운영 + 국내 호스팅 자체가 신뢰의 차별점이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수익 · 지속가능성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공식 시스템(내부)에는 광고를 두지 않는다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37214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491"/>
                <a:gridCol w="2000160"/>
                <a:gridCol w="1454661"/>
                <a:gridCol w="4454902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원천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광고·네이티브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외부 웹만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P5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내부(공식)에는 광고 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후원 중개(스폰서십)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외부+회원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P5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선수 프로필·구독자 수 축적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참가비·수수료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내부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운영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PG 수수료만, 자금 미보유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3931920"/>
            <a:ext cx="10637215" cy="1234440"/>
          </a:xfrm>
          <a:prstGeom prst="rect">
            <a:avLst/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931920"/>
            <a:ext cx="41148" cy="1234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07822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2410C"/>
                </a:solidFill>
                <a:latin typeface="Consolas"/>
              </a:rPr>
              <a:t>대외 비공개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334256"/>
            <a:ext cx="101983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스포츠 토토(한국 KSPO 모델)는 내부 검토만 하고 대외 문서·화면·미팅에서 언급하지 않는다. 초기에 거론되면 정부 협력 자체가 위태로워진다. 정부 공식 지정 시 유지보수 재원 확보 방식을 부처와 합의한다.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법·보안·공식 지정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37360"/>
          <a:ext cx="1063721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7891"/>
                <a:gridCol w="2909323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자금 흐름(납부자→PG→협회) · 시행령 52/2024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반영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CCCD 해시만 · 생년만 공개 · 만18세 미만 보호 · 13/2023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첨부 열람 통제 · 감사로그 · 대회 10일 법정기한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데이터 국내보관 · 개인정보 영향평가 · 정보보안 심사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확인·착수 필요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4206240"/>
            <a:ext cx="10637215" cy="13716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206240"/>
            <a:ext cx="41148" cy="13716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435254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공식 시스템 지정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4608576"/>
            <a:ext cx="10198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① 법적 근거(부처 결정문에 사용 명시) ② 표준 서식 지정 ③ 정보보안 심사 ④ 데이터 소유권·운영주체 합의(가장 분쟁 잦음 — 문서로) ⑤ 국내 호스팅 ⑥ 기존 국가 시스템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리스크와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36"/>
                <a:gridCol w="6545978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공식 서식이 안 온다 (최대 병목)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미팅 연락에 요청 동봉 · 화면 사진이라도 확보 · 추정 서식 후 교체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국가 시스템과 중복 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대회개최 등은 국가 포털과 연동, 중복 금지 (P1 확인)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범위 확대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1차 범위 문서 합의 · 결정 의존 기능은 미팅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데이터 소유권 분쟁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미팅에서 문서로 못 박음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현지 용어 오류(공문 무효)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원어민 검수를 개발과 동시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인력 이탈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문서화(01~17) + 테스트로 회귀 방지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사업계획서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C4D8"/>
                </a:solidFill>
                <a:latin typeface="Consolas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문체부에 1차로 요청할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D8E2EC"/>
                </a:solidFill>
                <a:latin typeface="맑은 고딕"/>
              </a:rPr>
              <a:t>· 서식 3종 — 선수등록 · 대회개최 · 사업계획 (원본 Word/Excel)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D8E2EC"/>
                </a:solidFill>
                <a:latin typeface="맑은 고딕"/>
              </a:rPr>
              <a:t>· 34개 성/시 코드표 (결의 202/2025 기준)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D8E2EC"/>
                </a:solidFill>
                <a:latin typeface="맑은 고딕"/>
              </a:rPr>
              <a:t>· 국가 종목단체 정식 명단 (VOC 회원)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D8E2EC"/>
                </a:solidFill>
                <a:latin typeface="맑은 고딕"/>
              </a:rPr>
              <a:t>· 체육회 조직도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029200"/>
            <a:ext cx="2011680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FB0C0"/>
                </a:solidFill>
                <a:latin typeface="맑은 고딕"/>
              </a:rPr>
              <a:t>서식이 도착하면 서식 편집기로 건당 1~2시간에 반영 — 개발이 아니라 수령이 병목.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